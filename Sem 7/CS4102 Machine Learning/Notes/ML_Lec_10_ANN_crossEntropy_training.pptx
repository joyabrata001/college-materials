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104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50A26-27C1-4B5A-959F-41403DD3F8CA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F002F-85DE-4FD1-A4A8-1B7E19DA17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50A26-27C1-4B5A-959F-41403DD3F8CA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F002F-85DE-4FD1-A4A8-1B7E19DA17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50A26-27C1-4B5A-959F-41403DD3F8CA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F002F-85DE-4FD1-A4A8-1B7E19DA17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50A26-27C1-4B5A-959F-41403DD3F8CA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F002F-85DE-4FD1-A4A8-1B7E19DA17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50A26-27C1-4B5A-959F-41403DD3F8CA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F002F-85DE-4FD1-A4A8-1B7E19DA17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50A26-27C1-4B5A-959F-41403DD3F8CA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F002F-85DE-4FD1-A4A8-1B7E19DA17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50A26-27C1-4B5A-959F-41403DD3F8CA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F002F-85DE-4FD1-A4A8-1B7E19DA17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50A26-27C1-4B5A-959F-41403DD3F8CA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F002F-85DE-4FD1-A4A8-1B7E19DA17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50A26-27C1-4B5A-959F-41403DD3F8CA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F002F-85DE-4FD1-A4A8-1B7E19DA17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50A26-27C1-4B5A-959F-41403DD3F8CA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F002F-85DE-4FD1-A4A8-1B7E19DA17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50A26-27C1-4B5A-959F-41403DD3F8CA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F002F-85DE-4FD1-A4A8-1B7E19DA17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250A26-27C1-4B5A-959F-41403DD3F8CA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F002F-85DE-4FD1-A4A8-1B7E19DA171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35.png"/><Relationship Id="rId7" Type="http://schemas.openxmlformats.org/officeDocument/2006/relationships/image" Target="../media/image31.png"/><Relationship Id="rId12" Type="http://schemas.openxmlformats.org/officeDocument/2006/relationships/image" Target="../media/image4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41.png"/><Relationship Id="rId5" Type="http://schemas.openxmlformats.org/officeDocument/2006/relationships/image" Target="../media/image37.png"/><Relationship Id="rId10" Type="http://schemas.openxmlformats.org/officeDocument/2006/relationships/image" Target="../media/image40.png"/><Relationship Id="rId4" Type="http://schemas.openxmlformats.org/officeDocument/2006/relationships/image" Target="../media/image36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39718"/>
          </a:xfrm>
        </p:spPr>
        <p:txBody>
          <a:bodyPr>
            <a:normAutofit fontScale="90000"/>
          </a:bodyPr>
          <a:lstStyle/>
          <a:p>
            <a:r>
              <a:rPr lang="en-US" sz="2800" dirty="0" err="1"/>
              <a:t>Backpropagation</a:t>
            </a:r>
            <a:r>
              <a:rPr lang="en-US" sz="2800" dirty="0"/>
              <a:t> learning </a:t>
            </a:r>
            <a:r>
              <a:rPr lang="en-US" sz="2800" dirty="0">
                <a:solidFill>
                  <a:prstClr val="black"/>
                </a:solidFill>
              </a:rPr>
              <a:t>by Cross Entropy Loss Function</a:t>
            </a:r>
            <a:endParaRPr lang="en-US" sz="28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19749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We have discussed about </a:t>
            </a:r>
            <a:r>
              <a:rPr lang="en-US" dirty="0" err="1"/>
              <a:t>Backpropagation</a:t>
            </a:r>
            <a:r>
              <a:rPr lang="en-US" dirty="0"/>
              <a:t> learning in Multi Layer Feed Forward Neural Network. </a:t>
            </a:r>
          </a:p>
          <a:p>
            <a:r>
              <a:rPr lang="en-US" dirty="0"/>
              <a:t>The cost or error function to be minimized was sum of square error or quadratic error. </a:t>
            </a:r>
          </a:p>
          <a:p>
            <a:r>
              <a:rPr lang="en-US" dirty="0"/>
              <a:t>The weight </a:t>
            </a:r>
            <a:r>
              <a:rPr lang="en-US" dirty="0" err="1"/>
              <a:t>updation</a:t>
            </a:r>
            <a:r>
              <a:rPr lang="en-US" dirty="0"/>
              <a:t> rule that we have derived was based on the sigmoid activation function, which is                              </a:t>
            </a:r>
          </a:p>
          <a:p>
            <a:pPr>
              <a:buNone/>
            </a:pPr>
            <a:r>
              <a:rPr lang="en-US" dirty="0"/>
              <a:t>                                    ,         where 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For small or large values of sigmoid activation function,              </a:t>
            </a:r>
          </a:p>
          <a:p>
            <a:pPr>
              <a:buNone/>
            </a:pPr>
            <a:r>
              <a:rPr lang="en-US" dirty="0"/>
              <a:t>               , which gives very small gradient. Which means either the learning process is very slow or it stops when gradient vanishes. </a:t>
            </a:r>
          </a:p>
          <a:p>
            <a:r>
              <a:rPr lang="en-US" dirty="0"/>
              <a:t>This is one of the major problem of using sum of square error or quadratic error function. 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7" name="Picture 19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28662" y="3143248"/>
            <a:ext cx="2818810" cy="377940"/>
          </a:xfrm>
          <a:prstGeom prst="rect">
            <a:avLst/>
          </a:prstGeom>
          <a:noFill/>
        </p:spPr>
      </p:pic>
      <p:pic>
        <p:nvPicPr>
          <p:cNvPr id="8" name="Picture 15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786314" y="3126188"/>
            <a:ext cx="3071834" cy="366786"/>
          </a:xfrm>
          <a:prstGeom prst="rect">
            <a:avLst/>
          </a:prstGeom>
          <a:noFill/>
        </p:spPr>
      </p:pic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57224" y="4143380"/>
            <a:ext cx="785818" cy="35043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1156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solidFill>
                  <a:prstClr val="black"/>
                </a:solidFill>
              </a:rPr>
              <a:t>Cross Entropy Loss Function for binary class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126055"/>
          </a:xfrm>
        </p:spPr>
        <p:txBody>
          <a:bodyPr>
            <a:normAutofit/>
          </a:bodyPr>
          <a:lstStyle/>
          <a:p>
            <a:r>
              <a:rPr lang="en-US" dirty="0"/>
              <a:t>Let us consider </a:t>
            </a:r>
            <a:r>
              <a:rPr lang="en-US" dirty="0">
                <a:solidFill>
                  <a:prstClr val="black"/>
                </a:solidFill>
              </a:rPr>
              <a:t>Cross Entropy Loss for 2 class problem, i.e., y =1 and y=0.</a:t>
            </a:r>
          </a:p>
          <a:p>
            <a:r>
              <a:rPr lang="en-US" sz="2800" dirty="0">
                <a:solidFill>
                  <a:prstClr val="black"/>
                </a:solidFill>
              </a:rPr>
              <a:t>Let, for a training sample</a:t>
            </a:r>
          </a:p>
          <a:p>
            <a:pPr>
              <a:buNone/>
            </a:pPr>
            <a:r>
              <a:rPr lang="en-US" dirty="0">
                <a:solidFill>
                  <a:prstClr val="black"/>
                </a:solidFill>
              </a:rPr>
              <a:t>    X</a:t>
            </a:r>
            <a:r>
              <a:rPr lang="en-US" baseline="-25000" dirty="0">
                <a:solidFill>
                  <a:prstClr val="black"/>
                </a:solidFill>
              </a:rPr>
              <a:t>i</a:t>
            </a:r>
            <a:r>
              <a:rPr lang="en-US" dirty="0">
                <a:solidFill>
                  <a:prstClr val="black"/>
                </a:solidFill>
              </a:rPr>
              <a:t>, actual class is y=1</a:t>
            </a:r>
          </a:p>
          <a:p>
            <a:pPr>
              <a:buNone/>
            </a:pPr>
            <a:r>
              <a:rPr lang="en-US" dirty="0">
                <a:solidFill>
                  <a:prstClr val="black"/>
                </a:solidFill>
              </a:rPr>
              <a:t>   and the predicted value </a:t>
            </a:r>
          </a:p>
          <a:p>
            <a:pPr>
              <a:buNone/>
            </a:pPr>
            <a:r>
              <a:rPr lang="en-US" dirty="0">
                <a:solidFill>
                  <a:prstClr val="black"/>
                </a:solidFill>
              </a:rPr>
              <a:t>    is     , so     is the likelihood </a:t>
            </a:r>
          </a:p>
          <a:p>
            <a:pPr>
              <a:buNone/>
            </a:pPr>
            <a:r>
              <a:rPr lang="en-US" dirty="0">
                <a:solidFill>
                  <a:prstClr val="black"/>
                </a:solidFill>
              </a:rPr>
              <a:t>   that the actual class of X</a:t>
            </a:r>
            <a:r>
              <a:rPr lang="en-US" baseline="-25000" dirty="0">
                <a:solidFill>
                  <a:prstClr val="black"/>
                </a:solidFill>
              </a:rPr>
              <a:t>i</a:t>
            </a:r>
            <a:r>
              <a:rPr lang="en-US" dirty="0">
                <a:solidFill>
                  <a:prstClr val="black"/>
                </a:solidFill>
              </a:rPr>
              <a:t> is y=1.</a:t>
            </a:r>
          </a:p>
          <a:p>
            <a:r>
              <a:rPr lang="en-US" dirty="0">
                <a:solidFill>
                  <a:prstClr val="black"/>
                </a:solidFill>
              </a:rPr>
              <a:t>So 1-     is the likelihood that the actual class of X</a:t>
            </a:r>
            <a:r>
              <a:rPr lang="en-US" baseline="-25000" dirty="0">
                <a:solidFill>
                  <a:prstClr val="black"/>
                </a:solidFill>
              </a:rPr>
              <a:t>i</a:t>
            </a:r>
            <a:r>
              <a:rPr lang="en-US" dirty="0">
                <a:solidFill>
                  <a:prstClr val="black"/>
                </a:solidFill>
              </a:rPr>
              <a:t> is y=0.</a:t>
            </a:r>
          </a:p>
          <a:p>
            <a:pPr>
              <a:buNone/>
            </a:pPr>
            <a:endParaRPr lang="en-US" dirty="0">
              <a:solidFill>
                <a:prstClr val="black"/>
              </a:solidFill>
            </a:endParaRPr>
          </a:p>
          <a:p>
            <a:endParaRPr lang="en-US" dirty="0"/>
          </a:p>
        </p:txBody>
      </p:sp>
      <p:pic>
        <p:nvPicPr>
          <p:cNvPr id="4" name="Picture 3" descr="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066" y="2000240"/>
            <a:ext cx="3102349" cy="167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72198" y="1928802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358082" y="2428868"/>
            <a:ext cx="1262751" cy="274085"/>
          </a:xfrm>
          <a:prstGeom prst="rect">
            <a:avLst/>
          </a:prstGeom>
          <a:noFill/>
        </p:spPr>
      </p:pic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4337" name="Picture 1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285852" y="3851134"/>
            <a:ext cx="214314" cy="363684"/>
          </a:xfrm>
          <a:prstGeom prst="rect">
            <a:avLst/>
          </a:prstGeom>
          <a:noFill/>
        </p:spPr>
      </p:pic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5984" y="3843340"/>
            <a:ext cx="214314" cy="300040"/>
          </a:xfrm>
          <a:prstGeom prst="rect">
            <a:avLst/>
          </a:prstGeom>
          <a:noFill/>
        </p:spPr>
      </p:pic>
      <p:pic>
        <p:nvPicPr>
          <p:cNvPr id="11" name="Picture 1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857356" y="4994142"/>
            <a:ext cx="214314" cy="36368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1156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solidFill>
                  <a:prstClr val="black"/>
                </a:solidFill>
              </a:rPr>
              <a:t>Cross Entropy Loss Function for binary class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7232"/>
            <a:ext cx="8229600" cy="5268931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Combining these two, we get likelihood to be maximized is equal to</a:t>
            </a:r>
          </a:p>
          <a:p>
            <a:r>
              <a:rPr lang="en-US" sz="2800" dirty="0" err="1"/>
              <a:t>Loglikelihood</a:t>
            </a:r>
            <a:r>
              <a:rPr lang="en-US" sz="2800" dirty="0"/>
              <a:t> to be maximized to train the network is:</a:t>
            </a:r>
          </a:p>
          <a:p>
            <a:endParaRPr lang="en-US" sz="2800" dirty="0"/>
          </a:p>
          <a:p>
            <a:r>
              <a:rPr lang="en-US" sz="2800" dirty="0"/>
              <a:t>If X</a:t>
            </a:r>
            <a:r>
              <a:rPr lang="en-US" sz="2800" baseline="-25000" dirty="0"/>
              <a:t>i</a:t>
            </a:r>
            <a:r>
              <a:rPr lang="en-US" sz="2800" dirty="0"/>
              <a:t> is in class y=1, we have to maximize              and if X is in class y=0, we have to maximize   </a:t>
            </a:r>
          </a:p>
          <a:p>
            <a:r>
              <a:rPr lang="en-US" sz="2800" dirty="0"/>
              <a:t>From the likelihood we can define the cross entropy loss function to be minimized, as follows: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r>
              <a:rPr lang="en-US" sz="2400" dirty="0"/>
              <a:t>So we have taken the summation over all N training samples and take the average, which gives us the cross entropy loss function C which is to be minimized as we consider negative sign.</a:t>
            </a:r>
          </a:p>
          <a:p>
            <a:endParaRPr lang="en-US" dirty="0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5361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428860" y="1285860"/>
            <a:ext cx="1714512" cy="363684"/>
          </a:xfrm>
          <a:prstGeom prst="rect">
            <a:avLst/>
          </a:prstGeom>
          <a:noFill/>
        </p:spPr>
      </p:pic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28662" y="2143116"/>
            <a:ext cx="6715172" cy="336360"/>
          </a:xfrm>
          <a:prstGeom prst="rect">
            <a:avLst/>
          </a:prstGeom>
          <a:noFill/>
        </p:spPr>
      </p:pic>
      <p:sp>
        <p:nvSpPr>
          <p:cNvPr id="1536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357950" y="2571744"/>
            <a:ext cx="785818" cy="366715"/>
          </a:xfrm>
          <a:prstGeom prst="rect">
            <a:avLst/>
          </a:prstGeom>
          <a:noFill/>
        </p:spPr>
      </p:pic>
      <p:sp>
        <p:nvSpPr>
          <p:cNvPr id="15368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5367" name="Picture 7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00694" y="3000372"/>
            <a:ext cx="1571636" cy="260389"/>
          </a:xfrm>
          <a:prstGeom prst="rect">
            <a:avLst/>
          </a:prstGeom>
          <a:noFill/>
        </p:spPr>
      </p:pic>
      <p:sp>
        <p:nvSpPr>
          <p:cNvPr id="15370" name="Rectangle 1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5369" name="Picture 9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71538" y="4143380"/>
            <a:ext cx="3857652" cy="688505"/>
          </a:xfrm>
          <a:prstGeom prst="rect">
            <a:avLst/>
          </a:prstGeom>
          <a:noFill/>
        </p:spPr>
      </p:pic>
      <p:sp>
        <p:nvSpPr>
          <p:cNvPr id="14" name="TextBox 13"/>
          <p:cNvSpPr txBox="1"/>
          <p:nvPr/>
        </p:nvSpPr>
        <p:spPr>
          <a:xfrm>
            <a:off x="5072066" y="4143380"/>
            <a:ext cx="36433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sz="2000" dirty="0">
                <a:solidFill>
                  <a:srgbClr val="FF0000"/>
                </a:solidFill>
              </a:rPr>
              <a:t>This is called binary cross entropy as there are two classes. 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39718"/>
          </a:xfrm>
        </p:spPr>
        <p:txBody>
          <a:bodyPr>
            <a:normAutofit fontScale="90000"/>
          </a:bodyPr>
          <a:lstStyle/>
          <a:p>
            <a:r>
              <a:rPr lang="en-US" sz="2800" dirty="0" err="1">
                <a:solidFill>
                  <a:srgbClr val="FF0000"/>
                </a:solidFill>
              </a:rPr>
              <a:t>Backpropagation</a:t>
            </a:r>
            <a:r>
              <a:rPr lang="en-US" sz="2800" dirty="0">
                <a:solidFill>
                  <a:srgbClr val="FF0000"/>
                </a:solidFill>
              </a:rPr>
              <a:t> Learning using Cross Entropy Loss Function for binary class problem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7232"/>
            <a:ext cx="8229600" cy="5268931"/>
          </a:xfrm>
        </p:spPr>
        <p:txBody>
          <a:bodyPr/>
          <a:lstStyle/>
          <a:p>
            <a:r>
              <a:rPr lang="en-US" dirty="0"/>
              <a:t>We will minimize                                            using gradient descent approach, where, </a:t>
            </a:r>
          </a:p>
          <a:p>
            <a:endParaRPr lang="en-US" dirty="0"/>
          </a:p>
          <a:p>
            <a:r>
              <a:rPr lang="en-US" dirty="0"/>
              <a:t>The gradient is: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                            and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857620" y="928670"/>
            <a:ext cx="3857652" cy="688505"/>
          </a:xfrm>
          <a:prstGeom prst="rect">
            <a:avLst/>
          </a:prstGeom>
          <a:noFill/>
        </p:spPr>
      </p:pic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6385" name="Picture 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786182" y="2454219"/>
            <a:ext cx="1643074" cy="550913"/>
          </a:xfrm>
          <a:prstGeom prst="rect">
            <a:avLst/>
          </a:prstGeom>
          <a:noFill/>
        </p:spPr>
      </p:pic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00100" y="2000874"/>
            <a:ext cx="2571768" cy="320042"/>
          </a:xfrm>
          <a:prstGeom prst="rect">
            <a:avLst/>
          </a:prstGeom>
          <a:noFill/>
        </p:spPr>
      </p:pic>
      <p:sp>
        <p:nvSpPr>
          <p:cNvPr id="16390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392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6391" name="Picture 7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28662" y="3746953"/>
            <a:ext cx="2357454" cy="583751"/>
          </a:xfrm>
          <a:prstGeom prst="rect">
            <a:avLst/>
          </a:prstGeom>
          <a:noFill/>
        </p:spPr>
      </p:pic>
      <p:sp>
        <p:nvSpPr>
          <p:cNvPr id="16394" name="Rectangle 1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6393" name="Picture 9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357686" y="3739996"/>
            <a:ext cx="928694" cy="519270"/>
          </a:xfrm>
          <a:prstGeom prst="rect">
            <a:avLst/>
          </a:prstGeom>
          <a:noFill/>
        </p:spPr>
      </p:pic>
      <p:sp>
        <p:nvSpPr>
          <p:cNvPr id="16396" name="Rectangle 1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6395" name="Picture 11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28662" y="3030831"/>
            <a:ext cx="6643734" cy="622005"/>
          </a:xfrm>
          <a:prstGeom prst="rect">
            <a:avLst/>
          </a:prstGeom>
          <a:noFill/>
        </p:spPr>
      </p:pic>
      <p:sp>
        <p:nvSpPr>
          <p:cNvPr id="16398" name="Rectangle 1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6397" name="Picture 13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2909" y="4643446"/>
            <a:ext cx="5891679" cy="658814"/>
          </a:xfrm>
          <a:prstGeom prst="rect">
            <a:avLst/>
          </a:prstGeom>
          <a:noFill/>
        </p:spPr>
      </p:pic>
      <p:sp>
        <p:nvSpPr>
          <p:cNvPr id="16400" name="Rectangle 1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6399" name="Picture 15"/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428860" y="5286388"/>
            <a:ext cx="2143140" cy="717899"/>
          </a:xfrm>
          <a:prstGeom prst="rect">
            <a:avLst/>
          </a:prstGeom>
          <a:noFill/>
        </p:spPr>
      </p:pic>
      <p:sp>
        <p:nvSpPr>
          <p:cNvPr id="16402" name="Rectangle 1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6401" name="Picture 17"/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714876" y="5286388"/>
            <a:ext cx="1571636" cy="651654"/>
          </a:xfrm>
          <a:prstGeom prst="rect">
            <a:avLst/>
          </a:prstGeom>
          <a:noFill/>
        </p:spPr>
      </p:pic>
      <p:sp>
        <p:nvSpPr>
          <p:cNvPr id="16404" name="Rectangle 2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6403" name="Picture 19"/>
          <p:cNvPicPr>
            <a:picLocks noChangeAspect="1" noChangeArrowheads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14348" y="6006056"/>
            <a:ext cx="7358114" cy="70909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1156"/>
          </a:xfrm>
        </p:spPr>
        <p:txBody>
          <a:bodyPr>
            <a:normAutofit fontScale="90000"/>
          </a:bodyPr>
          <a:lstStyle/>
          <a:p>
            <a:r>
              <a:rPr lang="en-US" sz="2800" dirty="0" err="1">
                <a:solidFill>
                  <a:srgbClr val="FF0000"/>
                </a:solidFill>
              </a:rPr>
              <a:t>Backpropagation</a:t>
            </a:r>
            <a:r>
              <a:rPr lang="en-US" sz="2800" dirty="0">
                <a:solidFill>
                  <a:srgbClr val="FF0000"/>
                </a:solidFill>
              </a:rPr>
              <a:t> Learning using Cross Entropy Loss Function for binary class problem</a:t>
            </a:r>
            <a:endParaRPr lang="en-US" dirty="0"/>
          </a:p>
        </p:txBody>
      </p:sp>
      <p:pic>
        <p:nvPicPr>
          <p:cNvPr id="4" name="Picture 19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1472" y="892651"/>
            <a:ext cx="7786742" cy="750399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500034" y="1643050"/>
            <a:ext cx="7848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400" dirty="0"/>
              <a:t> Let us consider, stochastic gradient descend approach, then </a:t>
            </a:r>
            <a:endParaRPr lang="en-US" sz="2400" dirty="0"/>
          </a:p>
        </p:txBody>
      </p:sp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7409" name="Picture 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42976" y="2119510"/>
            <a:ext cx="2643206" cy="586103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428596" y="2786058"/>
            <a:ext cx="80010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dirty="0"/>
              <a:t> </a:t>
            </a:r>
            <a:r>
              <a:rPr lang="en-IN" sz="2400" dirty="0"/>
              <a:t>If X</a:t>
            </a:r>
            <a:r>
              <a:rPr lang="en-IN" sz="2400" baseline="-25000" dirty="0"/>
              <a:t>i</a:t>
            </a:r>
            <a:r>
              <a:rPr lang="en-IN" sz="2400" dirty="0"/>
              <a:t> is of class y=1, and misclassified as </a:t>
            </a:r>
            <a:r>
              <a:rPr lang="cy-GB" sz="2400" dirty="0"/>
              <a:t>ŷ = 0, then weight increases, and </a:t>
            </a:r>
          </a:p>
          <a:p>
            <a:pPr>
              <a:buFont typeface="Arial" pitchFamily="34" charset="0"/>
              <a:buChar char="•"/>
            </a:pPr>
            <a:r>
              <a:rPr lang="en-IN" sz="2400" dirty="0"/>
              <a:t> If X</a:t>
            </a:r>
            <a:r>
              <a:rPr lang="en-IN" sz="2400" baseline="-25000" dirty="0"/>
              <a:t>i</a:t>
            </a:r>
            <a:r>
              <a:rPr lang="en-IN" sz="2400" dirty="0"/>
              <a:t> is of class y=0, and misclassified as </a:t>
            </a:r>
            <a:r>
              <a:rPr lang="cy-GB" sz="2400" dirty="0"/>
              <a:t>ŷ = 1, then weight decreases.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428596" y="4143380"/>
            <a:ext cx="78581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dirty="0"/>
              <a:t> </a:t>
            </a:r>
            <a:r>
              <a:rPr lang="en-IN" sz="2400" dirty="0">
                <a:solidFill>
                  <a:srgbClr val="FF0000"/>
                </a:solidFill>
              </a:rPr>
              <a:t>But in case of sum of square or quadratic error function</a:t>
            </a:r>
            <a:r>
              <a:rPr lang="en-IN" sz="2400" dirty="0"/>
              <a:t>, the </a:t>
            </a:r>
          </a:p>
          <a:p>
            <a:r>
              <a:rPr lang="en-IN" sz="2400" dirty="0"/>
              <a:t>weight </a:t>
            </a:r>
            <a:r>
              <a:rPr lang="en-IN" sz="2400" dirty="0" err="1"/>
              <a:t>updation</a:t>
            </a:r>
            <a:r>
              <a:rPr lang="en-IN" sz="2400" dirty="0"/>
              <a:t> rule is:                                                  </a:t>
            </a:r>
          </a:p>
          <a:p>
            <a:pPr>
              <a:buFont typeface="Arial" pitchFamily="34" charset="0"/>
              <a:buChar char="•"/>
            </a:pPr>
            <a:r>
              <a:rPr lang="en-IN" sz="2400" dirty="0"/>
              <a:t> Here, if activation function value, i.e., </a:t>
            </a:r>
            <a:r>
              <a:rPr lang="cy-GB" sz="2400" dirty="0"/>
              <a:t>ŷ</a:t>
            </a:r>
            <a:r>
              <a:rPr lang="cy-GB" sz="2400" baseline="-25000" dirty="0"/>
              <a:t>i</a:t>
            </a:r>
            <a:r>
              <a:rPr lang="en-IN" sz="2400" dirty="0"/>
              <a:t> is very small or very large, then the gradient almost vanishes, which provides slow learning to the network.</a:t>
            </a:r>
            <a:endParaRPr lang="en-US" sz="2400" dirty="0"/>
          </a:p>
        </p:txBody>
      </p:sp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643306" y="4643446"/>
            <a:ext cx="3124200" cy="28218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39718"/>
          </a:xfrm>
        </p:spPr>
        <p:txBody>
          <a:bodyPr>
            <a:normAutofit fontScale="90000"/>
          </a:bodyPr>
          <a:lstStyle/>
          <a:p>
            <a:r>
              <a:rPr lang="en-US" sz="2800" dirty="0" err="1">
                <a:solidFill>
                  <a:srgbClr val="FF0000"/>
                </a:solidFill>
              </a:rPr>
              <a:t>Backpropagation</a:t>
            </a:r>
            <a:r>
              <a:rPr lang="en-US" sz="2800" dirty="0">
                <a:solidFill>
                  <a:srgbClr val="FF0000"/>
                </a:solidFill>
              </a:rPr>
              <a:t> Learning using Cross Entropy Loss Function for binary class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71472" y="1500174"/>
            <a:ext cx="771530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dirty="0"/>
              <a:t> </a:t>
            </a:r>
            <a:r>
              <a:rPr lang="en-IN" sz="2400" dirty="0"/>
              <a:t>If activation function value, i.e., the predicted value </a:t>
            </a:r>
            <a:r>
              <a:rPr lang="cy-GB" sz="2400" dirty="0"/>
              <a:t>ŷ</a:t>
            </a:r>
            <a:r>
              <a:rPr lang="cy-GB" sz="2400" baseline="-25000" dirty="0"/>
              <a:t>i</a:t>
            </a:r>
            <a:r>
              <a:rPr lang="en-IN" sz="2400" dirty="0"/>
              <a:t> is very large when y=0 then the difference (</a:t>
            </a:r>
            <a:r>
              <a:rPr lang="cy-GB" sz="2400" dirty="0"/>
              <a:t>ŷ - y</a:t>
            </a:r>
            <a:r>
              <a:rPr lang="en-IN" sz="2400" dirty="0"/>
              <a:t>) is very large, and when </a:t>
            </a:r>
            <a:r>
              <a:rPr lang="cy-GB" sz="2400" dirty="0"/>
              <a:t>ŷ</a:t>
            </a:r>
            <a:r>
              <a:rPr lang="en-IN" sz="2400" dirty="0"/>
              <a:t> is very small for y=1 then the absolute difference (</a:t>
            </a:r>
            <a:r>
              <a:rPr lang="cy-GB" sz="2400" dirty="0"/>
              <a:t>ŷ - y</a:t>
            </a:r>
            <a:r>
              <a:rPr lang="en-IN" sz="2400" dirty="0"/>
              <a:t>) is also very large. </a:t>
            </a:r>
            <a:endParaRPr lang="en-US" sz="2400" dirty="0"/>
          </a:p>
          <a:p>
            <a:pPr>
              <a:buFont typeface="Arial" pitchFamily="34" charset="0"/>
              <a:buChar char="•"/>
            </a:pPr>
            <a:r>
              <a:rPr lang="en-IN" sz="2400" dirty="0"/>
              <a:t> Therefore, the learning rate is proportional to the absolute value of the difference of actual and predicted value. </a:t>
            </a:r>
          </a:p>
          <a:p>
            <a:pPr>
              <a:buFont typeface="Arial" pitchFamily="34" charset="0"/>
              <a:buChar char="•"/>
            </a:pPr>
            <a:r>
              <a:rPr lang="en-IN" sz="2400" dirty="0"/>
              <a:t> So, if the error is more then the rate of learning is more.</a:t>
            </a:r>
          </a:p>
          <a:p>
            <a:pPr>
              <a:buFont typeface="Arial" pitchFamily="34" charset="0"/>
              <a:buChar char="•"/>
            </a:pPr>
            <a:r>
              <a:rPr lang="en-IN" sz="2400" dirty="0"/>
              <a:t> </a:t>
            </a:r>
            <a:r>
              <a:rPr lang="en-IN" sz="2400" dirty="0">
                <a:solidFill>
                  <a:srgbClr val="FF0000"/>
                </a:solidFill>
              </a:rPr>
              <a:t>But in sum of square error</a:t>
            </a:r>
            <a:r>
              <a:rPr lang="en-IN" sz="2400" dirty="0"/>
              <a:t>, if error is more, i.e., </a:t>
            </a:r>
            <a:r>
              <a:rPr lang="cy-GB" sz="2400" dirty="0"/>
              <a:t>ŷ =0 for y=1; or ŷ=1 for y=0, then updation portion or step size of updation (contains ŷ (1- ŷ)) is very less (since, ŷ is the sigmoid function value). So the learning rate is very slow, even may be stopped when gradient vanishes.</a:t>
            </a:r>
          </a:p>
          <a:p>
            <a:pPr>
              <a:buFont typeface="Arial" pitchFamily="34" charset="0"/>
              <a:buChar char="•"/>
            </a:pPr>
            <a:r>
              <a:rPr lang="cy-GB" sz="2400" dirty="0"/>
              <a:t>Thus the cross entropy loss is advantegious over quadratic error.</a:t>
            </a:r>
            <a:endParaRPr lang="en-US" sz="2400" dirty="0"/>
          </a:p>
        </p:txBody>
      </p:sp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214942" y="785794"/>
            <a:ext cx="2643206" cy="586103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642910" y="857232"/>
            <a:ext cx="46027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dirty="0"/>
              <a:t> </a:t>
            </a:r>
            <a:r>
              <a:rPr lang="en-IN" sz="2400" dirty="0"/>
              <a:t>The cross entropy loss function is :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472" y="2786058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dirty="0" err="1">
                <a:solidFill>
                  <a:srgbClr val="FF0000"/>
                </a:solidFill>
              </a:rPr>
              <a:t>Backpropagation</a:t>
            </a:r>
            <a:r>
              <a:rPr lang="en-US" sz="3200" dirty="0">
                <a:solidFill>
                  <a:srgbClr val="FF0000"/>
                </a:solidFill>
              </a:rPr>
              <a:t> Learning using Cross Entropy Loss Function for Multiclass problem</a:t>
            </a: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8229600" cy="487362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Cross Entropy Loss Function for Multiclass problem</a:t>
            </a:r>
            <a:endParaRPr lang="en-US" sz="28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5800" y="914400"/>
            <a:ext cx="7143750" cy="381000"/>
          </a:xfrm>
          <a:prstGeom prst="rect">
            <a:avLst/>
          </a:prstGeom>
          <a:noFill/>
        </p:spPr>
      </p:pic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0" y="8445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0" y="1219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62000" y="2057400"/>
            <a:ext cx="7391400" cy="329422"/>
          </a:xfrm>
          <a:prstGeom prst="rect">
            <a:avLst/>
          </a:prstGeom>
          <a:noFill/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38199" y="2438400"/>
            <a:ext cx="4147457" cy="304800"/>
          </a:xfrm>
          <a:prstGeom prst="rect">
            <a:avLst/>
          </a:prstGeom>
          <a:noFill/>
        </p:spPr>
      </p:pic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6604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62000" y="2895600"/>
            <a:ext cx="4572000" cy="315310"/>
          </a:xfrm>
          <a:prstGeom prst="rect">
            <a:avLst/>
          </a:prstGeom>
          <a:noFill/>
        </p:spPr>
      </p:pic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0" y="635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64" name="Picture 16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486400" y="2895600"/>
            <a:ext cx="2948214" cy="254000"/>
          </a:xfrm>
          <a:prstGeom prst="rect">
            <a:avLst/>
          </a:prstGeom>
          <a:noFill/>
        </p:spPr>
      </p:pic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66" name="Picture 18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62000" y="3276600"/>
            <a:ext cx="4267200" cy="308738"/>
          </a:xfrm>
          <a:prstGeom prst="rect">
            <a:avLst/>
          </a:prstGeom>
          <a:noFill/>
        </p:spPr>
      </p:pic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0" y="635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85800" y="1447800"/>
            <a:ext cx="6591300" cy="45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" name="Picture 21" descr="t1 (2)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57818" y="3500438"/>
            <a:ext cx="3362325" cy="262845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472" y="3714752"/>
            <a:ext cx="464346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dirty="0"/>
              <a:t> In multiclass problem where we are using cross entropy, we assume that the outputs of the output layer neurons are obtained in a probabilistic manner.</a:t>
            </a:r>
          </a:p>
          <a:p>
            <a:pPr>
              <a:buFont typeface="Arial" pitchFamily="34" charset="0"/>
              <a:buChar char="•"/>
            </a:pPr>
            <a:r>
              <a:rPr lang="en-IN" dirty="0"/>
              <a:t> That is the outputs are </a:t>
            </a:r>
            <a:r>
              <a:rPr lang="en-IN" dirty="0" err="1"/>
              <a:t>softmax</a:t>
            </a:r>
            <a:r>
              <a:rPr lang="en-IN" dirty="0"/>
              <a:t> output, which we can obtain by using the </a:t>
            </a:r>
            <a:r>
              <a:rPr lang="en-IN" dirty="0" err="1"/>
              <a:t>softmax</a:t>
            </a:r>
            <a:r>
              <a:rPr lang="en-IN" dirty="0"/>
              <a:t> classifier at the output layer.</a:t>
            </a:r>
          </a:p>
          <a:p>
            <a:pPr>
              <a:buFont typeface="Arial" pitchFamily="34" charset="0"/>
              <a:buChar char="•"/>
            </a:pPr>
            <a:r>
              <a:rPr lang="en-IN" dirty="0"/>
              <a:t>It gives the normalized probability that input vector X belongs to class </a:t>
            </a:r>
            <a:r>
              <a:rPr lang="en-IN" dirty="0" err="1"/>
              <a:t>t</a:t>
            </a:r>
            <a:r>
              <a:rPr lang="en-IN" baseline="-25000" dirty="0" err="1"/>
              <a:t>j</a:t>
            </a:r>
            <a:r>
              <a:rPr lang="en-IN" dirty="0"/>
              <a:t>. 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Cross Entropy Loss Function for Multiclass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197493"/>
          </a:xfrm>
        </p:spPr>
        <p:txBody>
          <a:bodyPr>
            <a:normAutofit/>
          </a:bodyPr>
          <a:lstStyle/>
          <a:p>
            <a:r>
              <a:rPr lang="en-IN" sz="2800" dirty="0"/>
              <a:t>Let,       be the likelihood that the sample X belongs to class </a:t>
            </a:r>
            <a:r>
              <a:rPr lang="en-IN" sz="2800" dirty="0" err="1"/>
              <a:t>t</a:t>
            </a:r>
            <a:r>
              <a:rPr lang="en-IN" sz="2800" baseline="-25000" dirty="0" err="1"/>
              <a:t>j</a:t>
            </a:r>
            <a:endParaRPr lang="en-US" sz="2800" dirty="0"/>
          </a:p>
          <a:p>
            <a:r>
              <a:rPr lang="en-IN" sz="2800" dirty="0"/>
              <a:t>(1-     ) is the likelihood that X is in class (1 – </a:t>
            </a:r>
            <a:r>
              <a:rPr lang="en-IN" sz="2800" dirty="0" err="1"/>
              <a:t>t</a:t>
            </a:r>
            <a:r>
              <a:rPr lang="en-IN" sz="2800" baseline="-25000" dirty="0" err="1"/>
              <a:t>j</a:t>
            </a:r>
            <a:r>
              <a:rPr lang="en-IN" sz="2800" dirty="0"/>
              <a:t>)</a:t>
            </a:r>
          </a:p>
          <a:p>
            <a:r>
              <a:rPr lang="en-IN" sz="2800" dirty="0"/>
              <a:t>So, for j-</a:t>
            </a:r>
            <a:r>
              <a:rPr lang="en-IN" sz="2800" dirty="0" err="1"/>
              <a:t>th</a:t>
            </a:r>
            <a:r>
              <a:rPr lang="en-IN" sz="2800" dirty="0"/>
              <a:t> output node, the cross entropy loss is:</a:t>
            </a:r>
          </a:p>
          <a:p>
            <a:endParaRPr lang="en-IN" sz="2800" dirty="0"/>
          </a:p>
          <a:p>
            <a:r>
              <a:rPr lang="en-IN" sz="2800" dirty="0"/>
              <a:t>Considering all the output nodes, we get the overall cross entropy loss: </a:t>
            </a:r>
          </a:p>
          <a:p>
            <a:endParaRPr lang="en-IN" sz="2800" dirty="0"/>
          </a:p>
          <a:p>
            <a:r>
              <a:rPr lang="en-IN" sz="2800" dirty="0"/>
              <a:t>So, considering all the feature vectors, we get the final cross entropy loss function as: </a:t>
            </a:r>
          </a:p>
        </p:txBody>
      </p:sp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8433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500166" y="1082052"/>
            <a:ext cx="357190" cy="346684"/>
          </a:xfrm>
          <a:prstGeom prst="rect">
            <a:avLst/>
          </a:prstGeom>
          <a:noFill/>
        </p:spPr>
      </p:pic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357290" y="1939308"/>
            <a:ext cx="357190" cy="346684"/>
          </a:xfrm>
          <a:prstGeom prst="rect">
            <a:avLst/>
          </a:prstGeom>
          <a:noFill/>
        </p:spPr>
      </p:pic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28662" y="2878020"/>
            <a:ext cx="4143404" cy="403340"/>
          </a:xfrm>
          <a:prstGeom prst="rect">
            <a:avLst/>
          </a:prstGeom>
          <a:noFill/>
        </p:spPr>
      </p:pic>
      <p:sp>
        <p:nvSpPr>
          <p:cNvPr id="1843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714744" y="3857627"/>
            <a:ext cx="3357586" cy="740113"/>
          </a:xfrm>
          <a:prstGeom prst="rect">
            <a:avLst/>
          </a:prstGeom>
          <a:noFill/>
        </p:spPr>
      </p:pic>
      <p:sp>
        <p:nvSpPr>
          <p:cNvPr id="18440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8439" name="Picture 7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285852" y="5823457"/>
            <a:ext cx="5143536" cy="8916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>
                <a:solidFill>
                  <a:srgbClr val="FF0000"/>
                </a:solidFill>
              </a:rPr>
              <a:t>Backpropagation</a:t>
            </a:r>
            <a:r>
              <a:rPr lang="en-US" sz="3200" dirty="0">
                <a:solidFill>
                  <a:srgbClr val="FF0000"/>
                </a:solidFill>
              </a:rPr>
              <a:t>  Learning using Cross Entropy Loss Function for Multiclass problem</a:t>
            </a:r>
            <a:endParaRPr lang="en-US" sz="3200" dirty="0"/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71868" y="1214422"/>
            <a:ext cx="5143536" cy="891691"/>
          </a:xfrm>
          <a:prstGeom prst="rect">
            <a:avLst/>
          </a:prstGeom>
          <a:noFill/>
        </p:spPr>
      </p:pic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928794" y="2214554"/>
            <a:ext cx="1371600" cy="545977"/>
          </a:xfrm>
          <a:prstGeom prst="rect">
            <a:avLst/>
          </a:prstGeom>
          <a:noFill/>
        </p:spPr>
      </p:pic>
      <p:pic>
        <p:nvPicPr>
          <p:cNvPr id="6" name="Picture 10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286248" y="2143116"/>
            <a:ext cx="1643074" cy="642942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642910" y="1428736"/>
            <a:ext cx="359342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dirty="0"/>
              <a:t> </a:t>
            </a:r>
            <a:r>
              <a:rPr lang="en-IN" sz="2400" dirty="0"/>
              <a:t>We have to minimize </a:t>
            </a:r>
          </a:p>
          <a:p>
            <a:pPr>
              <a:buFont typeface="Arial" pitchFamily="34" charset="0"/>
              <a:buChar char="•"/>
            </a:pPr>
            <a:endParaRPr lang="en-IN" sz="2400" dirty="0"/>
          </a:p>
          <a:p>
            <a:r>
              <a:rPr lang="en-IN" sz="2400" dirty="0"/>
              <a:t>where,                             and </a:t>
            </a:r>
            <a:endParaRPr lang="en-US" sz="2400" dirty="0"/>
          </a:p>
        </p:txBody>
      </p:sp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2529" name="Picture 1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57224" y="3071809"/>
            <a:ext cx="3143272" cy="840643"/>
          </a:xfrm>
          <a:prstGeom prst="rect">
            <a:avLst/>
          </a:prstGeom>
          <a:noFill/>
        </p:spPr>
      </p:pic>
      <p:pic>
        <p:nvPicPr>
          <p:cNvPr id="10" name="Picture 9" descr="t1 (2)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4483" y="2643182"/>
            <a:ext cx="3015660" cy="2714643"/>
          </a:xfrm>
          <a:prstGeom prst="rect">
            <a:avLst/>
          </a:prstGeom>
        </p:spPr>
      </p:pic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286776" y="3500438"/>
            <a:ext cx="215900" cy="209550"/>
          </a:xfrm>
          <a:prstGeom prst="rect">
            <a:avLst/>
          </a:prstGeom>
          <a:noFill/>
        </p:spPr>
      </p:pic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2533" name="Picture 5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929586" y="3286124"/>
            <a:ext cx="203200" cy="209550"/>
          </a:xfrm>
          <a:prstGeom prst="rect">
            <a:avLst/>
          </a:prstGeom>
          <a:noFill/>
        </p:spPr>
      </p:pic>
      <p:sp>
        <p:nvSpPr>
          <p:cNvPr id="22535" name="Rectangle 7"/>
          <p:cNvSpPr>
            <a:spLocks noChangeArrowheads="1"/>
          </p:cNvSpPr>
          <p:nvPr/>
        </p:nvSpPr>
        <p:spPr bwMode="auto">
          <a:xfrm>
            <a:off x="0" y="6667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537" name="Rectangle 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2536" name="Picture 8"/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286646" y="3429000"/>
            <a:ext cx="285750" cy="209550"/>
          </a:xfrm>
          <a:prstGeom prst="rect">
            <a:avLst/>
          </a:prstGeom>
          <a:noFill/>
        </p:spPr>
      </p:pic>
      <p:sp>
        <p:nvSpPr>
          <p:cNvPr id="22538" name="Rectangle 10"/>
          <p:cNvSpPr>
            <a:spLocks noChangeArrowheads="1"/>
          </p:cNvSpPr>
          <p:nvPr/>
        </p:nvSpPr>
        <p:spPr bwMode="auto">
          <a:xfrm>
            <a:off x="0" y="6667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540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2539" name="Picture 11"/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715140" y="3286124"/>
            <a:ext cx="349250" cy="196850"/>
          </a:xfrm>
          <a:prstGeom prst="rect">
            <a:avLst/>
          </a:prstGeom>
          <a:noFill/>
        </p:spPr>
      </p:pic>
      <p:sp>
        <p:nvSpPr>
          <p:cNvPr id="22542" name="Rectangle 1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2541" name="Picture 13"/>
          <p:cNvPicPr>
            <a:picLocks noChangeAspect="1" noChangeArrowheads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57224" y="4071941"/>
            <a:ext cx="3857652" cy="594831"/>
          </a:xfrm>
          <a:prstGeom prst="rect">
            <a:avLst/>
          </a:prstGeom>
          <a:noFill/>
        </p:spPr>
      </p:pic>
      <p:sp>
        <p:nvSpPr>
          <p:cNvPr id="22544" name="Rectangle 1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2543" name="Picture 15"/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57224" y="4786322"/>
            <a:ext cx="2214578" cy="575790"/>
          </a:xfrm>
          <a:prstGeom prst="rect">
            <a:avLst/>
          </a:prstGeom>
          <a:noFill/>
        </p:spPr>
      </p:pic>
      <p:sp>
        <p:nvSpPr>
          <p:cNvPr id="22546" name="Rectangle 1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2545" name="Picture 17"/>
          <p:cNvPicPr>
            <a:picLocks noChangeAspect="1" noChangeArrowheads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143240" y="4786322"/>
            <a:ext cx="2267078" cy="627064"/>
          </a:xfrm>
          <a:prstGeom prst="rect">
            <a:avLst/>
          </a:prstGeom>
          <a:noFill/>
        </p:spPr>
      </p:pic>
      <p:sp>
        <p:nvSpPr>
          <p:cNvPr id="27" name="TextBox 26"/>
          <p:cNvSpPr txBox="1"/>
          <p:nvPr/>
        </p:nvSpPr>
        <p:spPr>
          <a:xfrm>
            <a:off x="500034" y="5643578"/>
            <a:ext cx="3290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dirty="0"/>
              <a:t> So, the weight </a:t>
            </a:r>
            <a:r>
              <a:rPr lang="en-IN" dirty="0" err="1"/>
              <a:t>updation</a:t>
            </a:r>
            <a:r>
              <a:rPr lang="en-IN" dirty="0"/>
              <a:t> rule is: </a:t>
            </a:r>
            <a:endParaRPr lang="en-US" dirty="0"/>
          </a:p>
        </p:txBody>
      </p:sp>
      <p:sp>
        <p:nvSpPr>
          <p:cNvPr id="22548" name="Rectangle 2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2547" name="Picture 19"/>
          <p:cNvPicPr>
            <a:picLocks noChangeAspect="1" noChangeArrowheads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929058" y="5551729"/>
            <a:ext cx="3929090" cy="66335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>
                <a:solidFill>
                  <a:srgbClr val="FF0000"/>
                </a:solidFill>
              </a:rPr>
              <a:t>Backpropagation</a:t>
            </a:r>
            <a:r>
              <a:rPr lang="en-US" sz="3200" dirty="0">
                <a:solidFill>
                  <a:srgbClr val="FF0000"/>
                </a:solidFill>
              </a:rPr>
              <a:t>  Learning using Cross Entropy Loss Function for Multiclass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sz="2800" dirty="0"/>
              <a:t>Here, the weight </a:t>
            </a:r>
            <a:r>
              <a:rPr lang="en-IN" sz="2800" dirty="0" err="1"/>
              <a:t>updation</a:t>
            </a:r>
            <a:r>
              <a:rPr lang="en-IN" sz="2800" dirty="0"/>
              <a:t> rule is:</a:t>
            </a:r>
          </a:p>
          <a:p>
            <a:endParaRPr lang="en-IN" sz="2800" dirty="0"/>
          </a:p>
          <a:p>
            <a:r>
              <a:rPr lang="en-IN" sz="2800" dirty="0"/>
              <a:t>If               is more, i.e., if error is more then the </a:t>
            </a:r>
            <a:r>
              <a:rPr lang="en-IN" sz="2800" dirty="0" err="1"/>
              <a:t>updation</a:t>
            </a:r>
            <a:r>
              <a:rPr lang="en-IN" sz="2800" dirty="0"/>
              <a:t> part or step size of </a:t>
            </a:r>
            <a:r>
              <a:rPr lang="en-IN" sz="2800" dirty="0" err="1"/>
              <a:t>updation</a:t>
            </a:r>
            <a:r>
              <a:rPr lang="en-IN" sz="2800" dirty="0"/>
              <a:t> is more. </a:t>
            </a:r>
          </a:p>
          <a:p>
            <a:r>
              <a:rPr lang="en-IN" sz="2800" dirty="0"/>
              <a:t>So, the learning rate is proportional to the error. </a:t>
            </a:r>
          </a:p>
          <a:p>
            <a:r>
              <a:rPr lang="en-IN" sz="2800" dirty="0"/>
              <a:t>This is the advantage of cross entropy over quadratic error.</a:t>
            </a:r>
          </a:p>
          <a:p>
            <a:r>
              <a:rPr lang="en-IN" sz="2800" dirty="0"/>
              <a:t>But it should be remember that to use the cross entropy loss, the output of the neural network must be a </a:t>
            </a:r>
            <a:r>
              <a:rPr lang="en-IN" sz="2800" dirty="0" err="1"/>
              <a:t>softmax</a:t>
            </a:r>
            <a:r>
              <a:rPr lang="en-IN" sz="2800" dirty="0"/>
              <a:t> output, because it has to be a probabilistic measure.</a:t>
            </a:r>
          </a:p>
        </p:txBody>
      </p:sp>
      <p:pic>
        <p:nvPicPr>
          <p:cNvPr id="4" name="Picture 19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285852" y="2071678"/>
            <a:ext cx="3929090" cy="663353"/>
          </a:xfrm>
          <a:prstGeom prst="rect">
            <a:avLst/>
          </a:prstGeom>
          <a:noFill/>
        </p:spPr>
      </p:pic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3553" name="Picture 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42976" y="2714620"/>
            <a:ext cx="1000132" cy="32043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</TotalTime>
  <Words>959</Words>
  <Application>Microsoft Office PowerPoint</Application>
  <PresentationFormat>On-screen Show (4:3)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Backpropagation learning by Cross Entropy Loss Function</vt:lpstr>
      <vt:lpstr>Cross Entropy Loss Function for binary class problem</vt:lpstr>
      <vt:lpstr>Cross Entropy Loss Function for binary class problem</vt:lpstr>
      <vt:lpstr>Backpropagation Learning using Cross Entropy Loss Function for binary class problem</vt:lpstr>
      <vt:lpstr>Backpropagation Learning using Cross Entropy Loss Function for binary class problem</vt:lpstr>
      <vt:lpstr>Backpropagation Learning using Cross Entropy Loss Function for binary class problem</vt:lpstr>
      <vt:lpstr>Backpropagation Learning using Cross Entropy Loss Function for Multiclass problem</vt:lpstr>
      <vt:lpstr>Cross Entropy Loss Function for Multiclass problem</vt:lpstr>
      <vt:lpstr>Cross Entropy Loss Function for Multiclass problem</vt:lpstr>
      <vt:lpstr>Backpropagation  Learning using Cross Entropy Loss Function for Multiclass problem</vt:lpstr>
      <vt:lpstr>Backpropagation  Learning using Cross Entropy Loss Function for Multiclass problem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Asit Kumar Das</dc:creator>
  <cp:lastModifiedBy>Joyabrata Acharyya</cp:lastModifiedBy>
  <cp:revision>43</cp:revision>
  <dcterms:created xsi:type="dcterms:W3CDTF">2024-09-20T04:32:07Z</dcterms:created>
  <dcterms:modified xsi:type="dcterms:W3CDTF">2024-11-15T06:26:22Z</dcterms:modified>
</cp:coreProperties>
</file>