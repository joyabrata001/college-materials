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C9F19-986B-4177-B88D-6634F1AE0E4F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38216-73E3-48C3-B9E5-77CDEFEFD4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AlexNet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0034" y="928670"/>
            <a:ext cx="8229600" cy="578647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err="1"/>
              <a:t>AlexNet</a:t>
            </a:r>
            <a:r>
              <a:rPr lang="en-US" dirty="0"/>
              <a:t>, developed by Alex </a:t>
            </a:r>
            <a:r>
              <a:rPr lang="en-US" dirty="0" err="1"/>
              <a:t>Krizhevsky</a:t>
            </a:r>
            <a:r>
              <a:rPr lang="en-US" dirty="0"/>
              <a:t> and his colleagues in 2012, was a groundbreaking </a:t>
            </a:r>
            <a:r>
              <a:rPr lang="en-US" dirty="0" err="1"/>
              <a:t>convolutional</a:t>
            </a:r>
            <a:r>
              <a:rPr lang="en-US" dirty="0"/>
              <a:t> neural network (CNN) that significantly advanced the field of computer vision.</a:t>
            </a:r>
          </a:p>
          <a:p>
            <a:pPr algn="just"/>
            <a:r>
              <a:rPr lang="en-US" dirty="0" err="1"/>
              <a:t>AlexNet</a:t>
            </a:r>
            <a:r>
              <a:rPr lang="en-US" dirty="0"/>
              <a:t> achieved state-of-the-art performance in the 2012 </a:t>
            </a:r>
            <a:r>
              <a:rPr lang="en-US" dirty="0" err="1"/>
              <a:t>ImageNet</a:t>
            </a:r>
            <a:r>
              <a:rPr lang="en-US" dirty="0"/>
              <a:t> Large Scale Visual Recognition Challenge (ILSVRC), significantly outperforming the competition. </a:t>
            </a:r>
          </a:p>
          <a:p>
            <a:pPr algn="just"/>
            <a:r>
              <a:rPr lang="en-US" dirty="0"/>
              <a:t>Its success demonstrated the power of deep learning in image classification tasks and spurred further research and development in </a:t>
            </a:r>
            <a:r>
              <a:rPr lang="en-US" dirty="0" err="1"/>
              <a:t>convolutional</a:t>
            </a:r>
            <a:r>
              <a:rPr lang="en-US" dirty="0"/>
              <a:t> neural networks.</a:t>
            </a:r>
          </a:p>
          <a:p>
            <a:pPr algn="just"/>
            <a:r>
              <a:rPr lang="en-US" dirty="0"/>
              <a:t>Overall, </a:t>
            </a:r>
            <a:r>
              <a:rPr lang="en-US" dirty="0" err="1"/>
              <a:t>AlexNet's</a:t>
            </a:r>
            <a:r>
              <a:rPr lang="en-US" dirty="0"/>
              <a:t> architecture and techniques laid the groundwork for many subsequent deep learning models, paving the way for advances in various applications, including image and video recognition, object detection, and more.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AlexNet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14356"/>
            <a:ext cx="8655013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AlexNet</a:t>
            </a:r>
            <a:r>
              <a:rPr lang="en-IN" dirty="0"/>
              <a:t> </a:t>
            </a: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0072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1. Input Layer</a:t>
            </a:r>
            <a:r>
              <a:rPr lang="en-US" dirty="0"/>
              <a:t>:</a:t>
            </a:r>
          </a:p>
          <a:p>
            <a:r>
              <a:rPr lang="en-US" b="1" dirty="0"/>
              <a:t>Input Size</a:t>
            </a:r>
            <a:r>
              <a:rPr lang="en-US" dirty="0"/>
              <a:t>: 227x227 pixels (originally designed to accept 224x224, but the extra padding was added for compatibility). Each image has three color channels (RGB).</a:t>
            </a:r>
          </a:p>
          <a:p>
            <a:pPr>
              <a:buNone/>
            </a:pPr>
            <a:r>
              <a:rPr lang="en-US" b="1" dirty="0"/>
              <a:t>2. </a:t>
            </a:r>
            <a:r>
              <a:rPr lang="en-US" b="1" dirty="0" err="1"/>
              <a:t>Convolutional</a:t>
            </a:r>
            <a:r>
              <a:rPr lang="en-US" b="1" dirty="0"/>
              <a:t> Layers</a:t>
            </a:r>
            <a:r>
              <a:rPr lang="en-US" dirty="0"/>
              <a:t>:</a:t>
            </a:r>
          </a:p>
          <a:p>
            <a:r>
              <a:rPr lang="en-US" b="1" dirty="0" err="1"/>
              <a:t>Conv</a:t>
            </a:r>
            <a:r>
              <a:rPr lang="en-US" b="1" dirty="0"/>
              <a:t> Layer 1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Filters</a:t>
            </a:r>
            <a:r>
              <a:rPr lang="en-US" dirty="0"/>
              <a:t>: 96</a:t>
            </a:r>
          </a:p>
          <a:p>
            <a:pPr lvl="1"/>
            <a:r>
              <a:rPr lang="en-US" b="1" dirty="0"/>
              <a:t>Kernel Size</a:t>
            </a:r>
            <a:r>
              <a:rPr lang="en-US" dirty="0"/>
              <a:t>: 11x11</a:t>
            </a:r>
          </a:p>
          <a:p>
            <a:pPr lvl="1"/>
            <a:r>
              <a:rPr lang="en-US" b="1" dirty="0"/>
              <a:t>Stride</a:t>
            </a:r>
            <a:r>
              <a:rPr lang="en-US" dirty="0"/>
              <a:t>: 4</a:t>
            </a:r>
          </a:p>
          <a:p>
            <a:pPr lvl="1"/>
            <a:r>
              <a:rPr lang="en-US" b="1" dirty="0"/>
              <a:t>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r>
              <a:rPr lang="en-US" dirty="0"/>
              <a:t> (Rectified Linear Unit)</a:t>
            </a:r>
          </a:p>
          <a:p>
            <a:pPr lvl="1"/>
            <a:r>
              <a:rPr lang="en-US" b="1" dirty="0"/>
              <a:t>Output Size</a:t>
            </a:r>
            <a:r>
              <a:rPr lang="en-US" dirty="0"/>
              <a:t>: 55x55x96 (after applying padding and the convolution operation)</a:t>
            </a:r>
          </a:p>
          <a:p>
            <a:r>
              <a:rPr lang="en-US" b="1" dirty="0"/>
              <a:t>Pooling Layer 1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        - Type</a:t>
            </a:r>
            <a:r>
              <a:rPr lang="en-US" dirty="0"/>
              <a:t>: Max Pooling</a:t>
            </a:r>
          </a:p>
          <a:p>
            <a:pPr>
              <a:buNone/>
            </a:pPr>
            <a:r>
              <a:rPr lang="en-US" b="1" dirty="0"/>
              <a:t>        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        - Stride</a:t>
            </a:r>
            <a:r>
              <a:rPr lang="en-US" dirty="0"/>
              <a:t>: 2</a:t>
            </a:r>
          </a:p>
          <a:p>
            <a:pPr>
              <a:buNone/>
            </a:pPr>
            <a:r>
              <a:rPr lang="en-US" b="1" dirty="0"/>
              <a:t>        - Output Size</a:t>
            </a:r>
            <a:r>
              <a:rPr lang="en-US" dirty="0"/>
              <a:t>: 27x27x96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AlexNet</a:t>
            </a:r>
            <a:r>
              <a:rPr lang="en-IN" dirty="0"/>
              <a:t> </a:t>
            </a: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/>
              <a:t>Conv</a:t>
            </a:r>
            <a:r>
              <a:rPr lang="en-US" b="1" dirty="0"/>
              <a:t> Layer 2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Filters</a:t>
            </a:r>
            <a:r>
              <a:rPr lang="en-US" dirty="0"/>
              <a:t>: 256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5x5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1</a:t>
            </a:r>
          </a:p>
          <a:p>
            <a:pPr>
              <a:buNone/>
            </a:pPr>
            <a:r>
              <a:rPr lang="en-US" b="1" dirty="0"/>
              <a:t>	- 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27x27x256 (after padding)</a:t>
            </a:r>
          </a:p>
          <a:p>
            <a:r>
              <a:rPr lang="en-US" b="1" dirty="0"/>
              <a:t>Pooling Layer 2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Type</a:t>
            </a:r>
            <a:r>
              <a:rPr lang="en-US" dirty="0"/>
              <a:t>: Max Pooling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2</a:t>
            </a:r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13x13x256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AlexNet</a:t>
            </a:r>
            <a:r>
              <a:rPr lang="en-IN" dirty="0"/>
              <a:t> </a:t>
            </a: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Conv</a:t>
            </a:r>
            <a:r>
              <a:rPr lang="en-US" b="1" dirty="0"/>
              <a:t> Layer 3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Filters</a:t>
            </a:r>
            <a:r>
              <a:rPr lang="en-US" dirty="0"/>
              <a:t>: 384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1</a:t>
            </a:r>
          </a:p>
          <a:p>
            <a:pPr>
              <a:buNone/>
            </a:pPr>
            <a:r>
              <a:rPr lang="en-US" b="1" dirty="0"/>
              <a:t>	- 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13x13x384</a:t>
            </a:r>
          </a:p>
          <a:p>
            <a:endParaRPr lang="en-US" b="1" dirty="0"/>
          </a:p>
          <a:p>
            <a:r>
              <a:rPr lang="en-US" b="1" dirty="0" err="1"/>
              <a:t>Conv</a:t>
            </a:r>
            <a:r>
              <a:rPr lang="en-US" b="1" dirty="0"/>
              <a:t> Layer 4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Filters</a:t>
            </a:r>
            <a:r>
              <a:rPr lang="en-US" dirty="0"/>
              <a:t>: 384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1</a:t>
            </a:r>
          </a:p>
          <a:p>
            <a:pPr>
              <a:buNone/>
            </a:pPr>
            <a:r>
              <a:rPr lang="en-US" b="1" dirty="0"/>
              <a:t>	- 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13x13x384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AlexNet</a:t>
            </a:r>
            <a:r>
              <a:rPr lang="en-IN" dirty="0"/>
              <a:t> </a:t>
            </a: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Conv</a:t>
            </a:r>
            <a:r>
              <a:rPr lang="en-US" b="1" dirty="0"/>
              <a:t> Layer 5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Filters</a:t>
            </a:r>
            <a:r>
              <a:rPr lang="en-US" dirty="0"/>
              <a:t>: 256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1</a:t>
            </a:r>
          </a:p>
          <a:p>
            <a:pPr>
              <a:buNone/>
            </a:pPr>
            <a:r>
              <a:rPr lang="en-US" b="1" dirty="0"/>
              <a:t>	- 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13x13x256</a:t>
            </a:r>
          </a:p>
          <a:p>
            <a:endParaRPr lang="en-US" b="1" dirty="0"/>
          </a:p>
          <a:p>
            <a:r>
              <a:rPr lang="en-US" b="1" dirty="0"/>
              <a:t>Pooling Layer 3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/>
              <a:t>	- Type</a:t>
            </a:r>
            <a:r>
              <a:rPr lang="en-US" dirty="0"/>
              <a:t>: Max Pooling</a:t>
            </a:r>
          </a:p>
          <a:p>
            <a:pPr>
              <a:buNone/>
            </a:pPr>
            <a:r>
              <a:rPr lang="en-US" b="1" dirty="0"/>
              <a:t>	- Kernel Size</a:t>
            </a:r>
            <a:r>
              <a:rPr lang="en-US" dirty="0"/>
              <a:t>: 3x3</a:t>
            </a:r>
          </a:p>
          <a:p>
            <a:pPr>
              <a:buNone/>
            </a:pPr>
            <a:r>
              <a:rPr lang="en-US" b="1" dirty="0"/>
              <a:t>	- Stride</a:t>
            </a:r>
            <a:r>
              <a:rPr lang="en-US" dirty="0"/>
              <a:t>: 2</a:t>
            </a:r>
          </a:p>
          <a:p>
            <a:pPr>
              <a:buNone/>
            </a:pPr>
            <a:r>
              <a:rPr lang="en-US" b="1" dirty="0"/>
              <a:t>	- Output Size</a:t>
            </a:r>
            <a:r>
              <a:rPr lang="en-US" dirty="0"/>
              <a:t>: 6x6x256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AlexNet</a:t>
            </a:r>
            <a:r>
              <a:rPr lang="en-IN" dirty="0"/>
              <a:t> </a:t>
            </a:r>
            <a:r>
              <a:rPr lang="en-US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3. Fully Connected Layers</a:t>
            </a:r>
            <a:r>
              <a:rPr lang="en-US" dirty="0"/>
              <a:t>:</a:t>
            </a:r>
          </a:p>
          <a:p>
            <a:r>
              <a:rPr lang="en-US" b="1" dirty="0"/>
              <a:t>FC Layer 1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Neurons</a:t>
            </a:r>
            <a:r>
              <a:rPr lang="en-US" dirty="0"/>
              <a:t>: 4096</a:t>
            </a:r>
          </a:p>
          <a:p>
            <a:pPr lvl="1"/>
            <a:r>
              <a:rPr lang="en-US" b="1" dirty="0"/>
              <a:t>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b="1" dirty="0"/>
              <a:t>Dropout</a:t>
            </a:r>
            <a:r>
              <a:rPr lang="en-US" dirty="0"/>
              <a:t>: 50% dropout rate during training for regularization</a:t>
            </a:r>
          </a:p>
          <a:p>
            <a:r>
              <a:rPr lang="en-US" b="1" dirty="0"/>
              <a:t>FC Layer 2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Neurons</a:t>
            </a:r>
            <a:r>
              <a:rPr lang="en-US" dirty="0"/>
              <a:t>: 4096</a:t>
            </a:r>
          </a:p>
          <a:p>
            <a:pPr lvl="1"/>
            <a:r>
              <a:rPr lang="en-US" b="1" dirty="0"/>
              <a:t>Activation</a:t>
            </a:r>
            <a:r>
              <a:rPr lang="en-US" dirty="0"/>
              <a:t>: </a:t>
            </a:r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b="1" dirty="0"/>
              <a:t>Dropout</a:t>
            </a:r>
            <a:r>
              <a:rPr lang="en-US" dirty="0"/>
              <a:t>: 50% dropout rate during training for regularization</a:t>
            </a:r>
          </a:p>
          <a:p>
            <a:r>
              <a:rPr lang="en-US" b="1" dirty="0"/>
              <a:t>FC Layer 3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Neurons</a:t>
            </a:r>
            <a:r>
              <a:rPr lang="en-US" dirty="0"/>
              <a:t>: 1000 (for 1000 classes in the </a:t>
            </a:r>
            <a:r>
              <a:rPr lang="en-US" dirty="0" err="1"/>
              <a:t>ImageNet</a:t>
            </a:r>
            <a:r>
              <a:rPr lang="en-US" dirty="0"/>
              <a:t> dataset)</a:t>
            </a:r>
          </a:p>
          <a:p>
            <a:pPr lvl="1"/>
            <a:r>
              <a:rPr lang="en-US" b="1" dirty="0"/>
              <a:t>Activation</a:t>
            </a:r>
            <a:r>
              <a:rPr lang="en-US" dirty="0"/>
              <a:t>: </a:t>
            </a:r>
            <a:r>
              <a:rPr lang="en-US" dirty="0" err="1"/>
              <a:t>Softmax</a:t>
            </a:r>
            <a:r>
              <a:rPr lang="en-US" dirty="0"/>
              <a:t> (to produce class probabilities)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478</Words>
  <Application>Microsoft Office PowerPoint</Application>
  <PresentationFormat>On-screen Show (4:3)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AlexNet</vt:lpstr>
      <vt:lpstr>AlexNet</vt:lpstr>
      <vt:lpstr>AlexNet Architecture</vt:lpstr>
      <vt:lpstr>AlexNet Architecture</vt:lpstr>
      <vt:lpstr>AlexNet Architecture</vt:lpstr>
      <vt:lpstr>AlexNet Architecture</vt:lpstr>
      <vt:lpstr>AlexNet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</dc:title>
  <dc:creator>Asit Kumar Das</dc:creator>
  <cp:lastModifiedBy>Joyabrata Acharyya</cp:lastModifiedBy>
  <cp:revision>10</cp:revision>
  <dcterms:created xsi:type="dcterms:W3CDTF">2024-09-29T18:15:49Z</dcterms:created>
  <dcterms:modified xsi:type="dcterms:W3CDTF">2024-11-15T06:30:25Z</dcterms:modified>
</cp:coreProperties>
</file>