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57" r:id="rId4"/>
    <p:sldId id="258" r:id="rId5"/>
    <p:sldId id="267" r:id="rId6"/>
    <p:sldId id="277" r:id="rId7"/>
    <p:sldId id="268" r:id="rId8"/>
    <p:sldId id="278" r:id="rId9"/>
    <p:sldId id="279" r:id="rId10"/>
    <p:sldId id="280" r:id="rId11"/>
    <p:sldId id="281" r:id="rId12"/>
    <p:sldId id="282" r:id="rId13"/>
    <p:sldId id="283" r:id="rId14"/>
    <p:sldId id="284" r:id="rId15"/>
    <p:sldId id="285" r:id="rId16"/>
    <p:sldId id="286" r:id="rId17"/>
    <p:sldId id="28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104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BD8E56-92CC-478C-930E-703738C43F6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976791-8B6D-4DEF-BE97-6AC2F43E7B0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BD8E56-92CC-478C-930E-703738C43F62}" type="datetimeFigureOut">
              <a:rPr lang="en-US" smtClean="0"/>
              <a:pPr/>
              <a:t>11/15/2024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76791-8B6D-4DEF-BE97-6AC2F43E7B0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11162"/>
          </a:xfrm>
        </p:spPr>
        <p:txBody>
          <a:bodyPr>
            <a:normAutofit fontScale="90000"/>
          </a:bodyPr>
          <a:lstStyle/>
          <a:p>
            <a:r>
              <a:rPr lang="en-US" b="1" dirty="0"/>
              <a:t>Gated Recurrent Unit Networks</a:t>
            </a:r>
            <a:endParaRPr lang="en-US" dirty="0"/>
          </a:p>
        </p:txBody>
      </p:sp>
      <p:sp>
        <p:nvSpPr>
          <p:cNvPr id="5" name="Content Placeholder 4"/>
          <p:cNvSpPr>
            <a:spLocks noGrp="1"/>
          </p:cNvSpPr>
          <p:nvPr>
            <p:ph idx="1"/>
          </p:nvPr>
        </p:nvSpPr>
        <p:spPr>
          <a:xfrm>
            <a:off x="457200" y="914400"/>
            <a:ext cx="8229600" cy="5211763"/>
          </a:xfrm>
        </p:spPr>
        <p:txBody>
          <a:bodyPr>
            <a:normAutofit fontScale="70000" lnSpcReduction="20000"/>
          </a:bodyPr>
          <a:lstStyle/>
          <a:p>
            <a:pPr fontAlgn="base"/>
            <a:r>
              <a:rPr lang="en-US" dirty="0"/>
              <a:t>Gated Recurrent Unit (GRU) is a type of recurrent neural network (RNN) that was introduced by Cho et al. in 2014 as a simpler alternative to Long Short-Term Memory (LSTM) networks. </a:t>
            </a:r>
          </a:p>
          <a:p>
            <a:pPr fontAlgn="base"/>
            <a:r>
              <a:rPr lang="en-US" dirty="0"/>
              <a:t>Like LSTM, GRU can process sequential data such as text, speech, and time-series data.</a:t>
            </a:r>
          </a:p>
          <a:p>
            <a:pPr fontAlgn="base"/>
            <a:r>
              <a:rPr lang="en-US" dirty="0"/>
              <a:t>The basic idea behind GRU is to use gating mechanisms to selectively </a:t>
            </a:r>
            <a:r>
              <a:rPr lang="en-US" dirty="0">
                <a:solidFill>
                  <a:srgbClr val="FF0000"/>
                </a:solidFill>
              </a:rPr>
              <a:t>update the hidden state of the network </a:t>
            </a:r>
            <a:r>
              <a:rPr lang="en-US" dirty="0"/>
              <a:t>at each time step. </a:t>
            </a:r>
          </a:p>
          <a:p>
            <a:pPr fontAlgn="base"/>
            <a:r>
              <a:rPr lang="en-US" dirty="0"/>
              <a:t>The gating mechanisms are used to control the flow of information in and out of the network. </a:t>
            </a:r>
          </a:p>
          <a:p>
            <a:pPr fontAlgn="base"/>
            <a:r>
              <a:rPr lang="en-US" dirty="0"/>
              <a:t>The GRU has two gating mechanisms, called the reset gate and the update gate.</a:t>
            </a:r>
          </a:p>
          <a:p>
            <a:pPr fontAlgn="base"/>
            <a:r>
              <a:rPr lang="en-US" dirty="0"/>
              <a:t>The reset gate determines how much of the previous hidden state should be forgotten, while the update gate determines how much of the new input should be used to update the hidden state. </a:t>
            </a:r>
          </a:p>
          <a:p>
            <a:pPr fontAlgn="base"/>
            <a:r>
              <a:rPr lang="en-US" dirty="0"/>
              <a:t>The output of the GRU is calculated based on the updated hidden state.</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GRU</a:t>
            </a:r>
            <a:endParaRPr lang="en-US" dirty="0"/>
          </a:p>
        </p:txBody>
      </p:sp>
      <p:sp>
        <p:nvSpPr>
          <p:cNvPr id="3" name="Content Placeholder 2"/>
          <p:cNvSpPr>
            <a:spLocks noGrp="1"/>
          </p:cNvSpPr>
          <p:nvPr>
            <p:ph idx="1"/>
          </p:nvPr>
        </p:nvSpPr>
        <p:spPr>
          <a:xfrm>
            <a:off x="457200" y="914400"/>
            <a:ext cx="8229600" cy="2667000"/>
          </a:xfrm>
        </p:spPr>
        <p:txBody>
          <a:bodyPr>
            <a:normAutofit fontScale="92500"/>
          </a:bodyPr>
          <a:lstStyle/>
          <a:p>
            <a:r>
              <a:rPr lang="en-US" sz="2400" dirty="0"/>
              <a:t>GRUs are very similar to Long Short Term Memory(LSTM). Just like LSTM, GRU uses gates to control the flow of information. They are relatively new as compared to LSTM. This is the reason they offer some improvement over LSTM and have simpler architecture.</a:t>
            </a:r>
          </a:p>
          <a:p>
            <a:r>
              <a:rPr lang="en-US" sz="2400" dirty="0"/>
              <a:t>Another Interesting thing about  GRU network is that, unlike LSTM, it does not have a separate cell state (C</a:t>
            </a:r>
            <a:r>
              <a:rPr lang="en-US" sz="2400" baseline="-25000" dirty="0"/>
              <a:t>t</a:t>
            </a:r>
            <a:r>
              <a:rPr lang="en-US" sz="2400" dirty="0"/>
              <a:t>). It only has a hidden state(H</a:t>
            </a:r>
            <a:r>
              <a:rPr lang="en-US" sz="2400" baseline="-25000" dirty="0"/>
              <a:t>t</a:t>
            </a:r>
            <a:r>
              <a:rPr lang="en-US" sz="2400" dirty="0"/>
              <a:t>). Due to the simpler architecture, GRUs are faster to train.</a:t>
            </a:r>
          </a:p>
          <a:p>
            <a:endParaRPr lang="en-US" sz="2400" dirty="0"/>
          </a:p>
        </p:txBody>
      </p:sp>
      <p:pic>
        <p:nvPicPr>
          <p:cNvPr id="32770" name="Picture 2"/>
          <p:cNvPicPr>
            <a:picLocks noChangeAspect="1" noChangeArrowheads="1"/>
          </p:cNvPicPr>
          <p:nvPr/>
        </p:nvPicPr>
        <p:blipFill>
          <a:blip r:embed="rId2"/>
          <a:srcRect/>
          <a:stretch>
            <a:fillRect/>
          </a:stretch>
        </p:blipFill>
        <p:spPr bwMode="auto">
          <a:xfrm>
            <a:off x="990600" y="4343400"/>
            <a:ext cx="6896100" cy="20193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b="1" dirty="0"/>
              <a:t>GRU</a:t>
            </a:r>
            <a:endParaRPr lang="en-US" dirty="0"/>
          </a:p>
        </p:txBody>
      </p:sp>
      <p:sp>
        <p:nvSpPr>
          <p:cNvPr id="3" name="Content Placeholder 2"/>
          <p:cNvSpPr>
            <a:spLocks noGrp="1"/>
          </p:cNvSpPr>
          <p:nvPr>
            <p:ph idx="1"/>
          </p:nvPr>
        </p:nvSpPr>
        <p:spPr>
          <a:xfrm>
            <a:off x="457200" y="838200"/>
            <a:ext cx="8229600" cy="5516563"/>
          </a:xfrm>
        </p:spPr>
        <p:txBody>
          <a:bodyPr>
            <a:normAutofit fontScale="85000" lnSpcReduction="20000"/>
          </a:bodyPr>
          <a:lstStyle/>
          <a:p>
            <a:r>
              <a:rPr lang="en-US" dirty="0"/>
              <a:t>Like LSTM, GRU is designed to model sequential data by allowing information to be selectively remembered or forgotten over time. </a:t>
            </a:r>
          </a:p>
          <a:p>
            <a:r>
              <a:rPr lang="en-US" dirty="0"/>
              <a:t>However, GRU has a simpler architecture than LSTM, with fewer parameters, which can make it easier to train and more computationally efficient.</a:t>
            </a:r>
          </a:p>
          <a:p>
            <a:r>
              <a:rPr lang="en-US" dirty="0"/>
              <a:t>The main difference between GRU and LSTM is the way they handle the memory cell state. </a:t>
            </a:r>
          </a:p>
          <a:p>
            <a:r>
              <a:rPr lang="en-US" dirty="0"/>
              <a:t>In LSTM, the memory cell state is maintained separately from the hidden state and is updated using three gates: the forget gate, input gate, and output gate. </a:t>
            </a:r>
          </a:p>
          <a:p>
            <a:r>
              <a:rPr lang="en-US" dirty="0"/>
              <a:t>In GRU, the memory cell state is replaced with a “</a:t>
            </a:r>
            <a:r>
              <a:rPr lang="en-US" dirty="0">
                <a:solidFill>
                  <a:srgbClr val="FF0000"/>
                </a:solidFill>
              </a:rPr>
              <a:t>candidate activation vector</a:t>
            </a:r>
            <a:r>
              <a:rPr lang="en-US" dirty="0"/>
              <a:t>,” which is updated using two gates: the reset gate and update gate.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GRU</a:t>
            </a:r>
            <a:endParaRPr lang="en-US" dirty="0"/>
          </a:p>
        </p:txBody>
      </p:sp>
      <p:sp>
        <p:nvSpPr>
          <p:cNvPr id="3" name="Content Placeholder 2"/>
          <p:cNvSpPr>
            <a:spLocks noGrp="1"/>
          </p:cNvSpPr>
          <p:nvPr>
            <p:ph idx="1"/>
          </p:nvPr>
        </p:nvSpPr>
        <p:spPr>
          <a:xfrm>
            <a:off x="381000" y="990601"/>
            <a:ext cx="8229600" cy="2667000"/>
          </a:xfrm>
        </p:spPr>
        <p:txBody>
          <a:bodyPr>
            <a:normAutofit/>
          </a:bodyPr>
          <a:lstStyle/>
          <a:p>
            <a:r>
              <a:rPr lang="en-US" sz="2200" dirty="0"/>
              <a:t>The reset gate determines how much of the previous hidden state to forget, while the update gate determines how much of the candidate activation vector to incorporate into the new hidden state.</a:t>
            </a:r>
          </a:p>
          <a:p>
            <a:r>
              <a:rPr lang="en-US" sz="2200" dirty="0"/>
              <a:t>Overall, GRU is a popular alternative to LSTM for modeling sequential data, especially in cases where computational resources are limited or where a simpler architecture is desired.</a:t>
            </a:r>
          </a:p>
          <a:p>
            <a:endParaRPr lang="en-US" dirty="0"/>
          </a:p>
        </p:txBody>
      </p:sp>
      <p:pic>
        <p:nvPicPr>
          <p:cNvPr id="3073" name="Picture 1"/>
          <p:cNvPicPr>
            <a:picLocks noChangeAspect="1" noChangeArrowheads="1"/>
          </p:cNvPicPr>
          <p:nvPr/>
        </p:nvPicPr>
        <p:blipFill>
          <a:blip r:embed="rId2"/>
          <a:srcRect/>
          <a:stretch>
            <a:fillRect/>
          </a:stretch>
        </p:blipFill>
        <p:spPr bwMode="auto">
          <a:xfrm>
            <a:off x="5562600" y="3886200"/>
            <a:ext cx="2781300" cy="1800225"/>
          </a:xfrm>
          <a:prstGeom prst="rect">
            <a:avLst/>
          </a:prstGeom>
          <a:noFill/>
          <a:ln w="9525">
            <a:noFill/>
            <a:miter lim="800000"/>
            <a:headEnd/>
            <a:tailEnd/>
          </a:ln>
          <a:effectLst/>
        </p:spPr>
      </p:pic>
      <p:sp>
        <p:nvSpPr>
          <p:cNvPr id="5" name="Rectangle 4"/>
          <p:cNvSpPr/>
          <p:nvPr/>
        </p:nvSpPr>
        <p:spPr>
          <a:xfrm>
            <a:off x="762000" y="3657600"/>
            <a:ext cx="4572000" cy="2585323"/>
          </a:xfrm>
          <a:prstGeom prst="rect">
            <a:avLst/>
          </a:prstGeom>
        </p:spPr>
        <p:txBody>
          <a:bodyPr>
            <a:spAutoFit/>
          </a:bodyPr>
          <a:lstStyle/>
          <a:p>
            <a:r>
              <a:rPr lang="en-US" dirty="0"/>
              <a:t>At each timestamp t, it takes an input </a:t>
            </a:r>
            <a:r>
              <a:rPr lang="en-US" dirty="0" err="1"/>
              <a:t>X</a:t>
            </a:r>
            <a:r>
              <a:rPr lang="en-US" baseline="-25000" dirty="0" err="1"/>
              <a:t>t</a:t>
            </a:r>
            <a:r>
              <a:rPr lang="en-US" dirty="0"/>
              <a:t> and the hidden state h</a:t>
            </a:r>
            <a:r>
              <a:rPr lang="en-US" baseline="-25000" dirty="0"/>
              <a:t>t-1</a:t>
            </a:r>
            <a:r>
              <a:rPr lang="en-US" dirty="0"/>
              <a:t> from the previous timestamp t-1. </a:t>
            </a:r>
          </a:p>
          <a:p>
            <a:r>
              <a:rPr lang="en-US" dirty="0"/>
              <a:t>Later it outputs a new hidden state h</a:t>
            </a:r>
            <a:r>
              <a:rPr lang="en-US" baseline="-25000" dirty="0"/>
              <a:t>t</a:t>
            </a:r>
            <a:r>
              <a:rPr lang="en-US" dirty="0"/>
              <a:t> which again passed to the next timestamp.</a:t>
            </a:r>
          </a:p>
          <a:p>
            <a:r>
              <a:rPr lang="en-US" dirty="0"/>
              <a:t>Now there are primarily two gates in a GRU as opposed to three gates in an LSTM cell. The first gate is the Reset gate and the other one is the update gate.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Reset Gate (Short term memory)</a:t>
            </a:r>
          </a:p>
        </p:txBody>
      </p:sp>
      <p:sp>
        <p:nvSpPr>
          <p:cNvPr id="3" name="Content Placeholder 2"/>
          <p:cNvSpPr>
            <a:spLocks noGrp="1"/>
          </p:cNvSpPr>
          <p:nvPr>
            <p:ph idx="1"/>
          </p:nvPr>
        </p:nvSpPr>
        <p:spPr>
          <a:xfrm>
            <a:off x="457200" y="1143000"/>
            <a:ext cx="8229600" cy="4983163"/>
          </a:xfrm>
        </p:spPr>
        <p:txBody>
          <a:bodyPr/>
          <a:lstStyle/>
          <a:p>
            <a:r>
              <a:rPr lang="en-US" dirty="0"/>
              <a:t>The Reset Gate is responsible for the short-term memory of the network i.e., the hidden state (h</a:t>
            </a:r>
            <a:r>
              <a:rPr lang="en-US" baseline="-25000" dirty="0"/>
              <a:t>t</a:t>
            </a:r>
            <a:r>
              <a:rPr lang="en-US" dirty="0"/>
              <a:t>). </a:t>
            </a:r>
          </a:p>
          <a:p>
            <a:endParaRPr lang="en-US" dirty="0"/>
          </a:p>
        </p:txBody>
      </p:sp>
      <p:pic>
        <p:nvPicPr>
          <p:cNvPr id="4" name="Picture 2"/>
          <p:cNvPicPr>
            <a:picLocks noChangeAspect="1" noChangeArrowheads="1"/>
          </p:cNvPicPr>
          <p:nvPr/>
        </p:nvPicPr>
        <p:blipFill>
          <a:blip r:embed="rId2"/>
          <a:srcRect/>
          <a:stretch>
            <a:fillRect/>
          </a:stretch>
        </p:blipFill>
        <p:spPr bwMode="auto">
          <a:xfrm>
            <a:off x="1676400" y="2743200"/>
            <a:ext cx="6400800" cy="3549876"/>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Reset Gate (Short term memory)</a:t>
            </a:r>
          </a:p>
        </p:txBody>
      </p:sp>
      <p:pic>
        <p:nvPicPr>
          <p:cNvPr id="1026" name="Picture 2"/>
          <p:cNvPicPr>
            <a:picLocks noChangeAspect="1" noChangeArrowheads="1"/>
          </p:cNvPicPr>
          <p:nvPr/>
        </p:nvPicPr>
        <p:blipFill>
          <a:blip r:embed="rId2"/>
          <a:srcRect/>
          <a:stretch>
            <a:fillRect/>
          </a:stretch>
        </p:blipFill>
        <p:spPr bwMode="auto">
          <a:xfrm>
            <a:off x="614362" y="1066800"/>
            <a:ext cx="7920038" cy="1758232"/>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533400" y="2971800"/>
            <a:ext cx="8153400" cy="3408389"/>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br>
              <a:rPr lang="en-US" dirty="0"/>
            </a:br>
            <a:r>
              <a:rPr lang="en-US" dirty="0"/>
              <a:t>Update Gate (Long Term memory)</a:t>
            </a:r>
            <a:br>
              <a:rPr lang="en-US" dirty="0"/>
            </a:br>
            <a:endParaRPr lang="en-US" dirty="0"/>
          </a:p>
        </p:txBody>
      </p:sp>
      <p:sp>
        <p:nvSpPr>
          <p:cNvPr id="3" name="Content Placeholder 2"/>
          <p:cNvSpPr>
            <a:spLocks noGrp="1"/>
          </p:cNvSpPr>
          <p:nvPr>
            <p:ph idx="1"/>
          </p:nvPr>
        </p:nvSpPr>
        <p:spPr>
          <a:xfrm>
            <a:off x="457200" y="1143001"/>
            <a:ext cx="8229600" cy="1295400"/>
          </a:xfrm>
        </p:spPr>
        <p:txBody>
          <a:bodyPr/>
          <a:lstStyle/>
          <a:p>
            <a:r>
              <a:rPr lang="en-US" dirty="0"/>
              <a:t>Similarly, we have an Update gate for long-term memory.</a:t>
            </a:r>
          </a:p>
        </p:txBody>
      </p:sp>
      <p:pic>
        <p:nvPicPr>
          <p:cNvPr id="4" name="Picture 2"/>
          <p:cNvPicPr>
            <a:picLocks noChangeAspect="1" noChangeArrowheads="1"/>
          </p:cNvPicPr>
          <p:nvPr/>
        </p:nvPicPr>
        <p:blipFill>
          <a:blip r:embed="rId2"/>
          <a:srcRect/>
          <a:stretch>
            <a:fillRect/>
          </a:stretch>
        </p:blipFill>
        <p:spPr bwMode="auto">
          <a:xfrm>
            <a:off x="1371600" y="2362200"/>
            <a:ext cx="6400800" cy="3549876"/>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Update Gate (Long Term memory)</a:t>
            </a:r>
          </a:p>
        </p:txBody>
      </p:sp>
      <p:pic>
        <p:nvPicPr>
          <p:cNvPr id="2050" name="Picture 2"/>
          <p:cNvPicPr>
            <a:picLocks noChangeAspect="1" noChangeArrowheads="1"/>
          </p:cNvPicPr>
          <p:nvPr/>
        </p:nvPicPr>
        <p:blipFill>
          <a:blip r:embed="rId2"/>
          <a:srcRect/>
          <a:stretch>
            <a:fillRect/>
          </a:stretch>
        </p:blipFill>
        <p:spPr bwMode="auto">
          <a:xfrm>
            <a:off x="381000" y="990600"/>
            <a:ext cx="8343900" cy="5105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Candidate Hidden State</a:t>
            </a:r>
          </a:p>
        </p:txBody>
      </p:sp>
      <p:pic>
        <p:nvPicPr>
          <p:cNvPr id="3074" name="Picture 2"/>
          <p:cNvPicPr>
            <a:picLocks noChangeAspect="1" noChangeArrowheads="1"/>
          </p:cNvPicPr>
          <p:nvPr/>
        </p:nvPicPr>
        <p:blipFill>
          <a:blip r:embed="rId2"/>
          <a:srcRect/>
          <a:stretch>
            <a:fillRect/>
          </a:stretch>
        </p:blipFill>
        <p:spPr bwMode="auto">
          <a:xfrm>
            <a:off x="1295400" y="914400"/>
            <a:ext cx="7162800" cy="3124200"/>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3505200" y="3962400"/>
            <a:ext cx="4419600" cy="245110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Final Hidden State</a:t>
            </a:r>
          </a:p>
        </p:txBody>
      </p:sp>
      <p:pic>
        <p:nvPicPr>
          <p:cNvPr id="4098" name="Picture 2"/>
          <p:cNvPicPr>
            <a:picLocks noChangeAspect="1" noChangeArrowheads="1"/>
          </p:cNvPicPr>
          <p:nvPr/>
        </p:nvPicPr>
        <p:blipFill>
          <a:blip r:embed="rId2"/>
          <a:srcRect/>
          <a:stretch>
            <a:fillRect/>
          </a:stretch>
        </p:blipFill>
        <p:spPr bwMode="auto">
          <a:xfrm>
            <a:off x="609600" y="990600"/>
            <a:ext cx="8029539" cy="3071813"/>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4191000" y="4038600"/>
            <a:ext cx="4419600" cy="245110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Functionality of GRU</a:t>
            </a:r>
            <a:endParaRPr lang="en-US" dirty="0"/>
          </a:p>
        </p:txBody>
      </p:sp>
      <p:sp>
        <p:nvSpPr>
          <p:cNvPr id="3" name="Content Placeholder 2"/>
          <p:cNvSpPr>
            <a:spLocks noGrp="1"/>
          </p:cNvSpPr>
          <p:nvPr>
            <p:ph idx="1"/>
          </p:nvPr>
        </p:nvSpPr>
        <p:spPr>
          <a:xfrm>
            <a:off x="457200" y="990600"/>
            <a:ext cx="8229600" cy="5135563"/>
          </a:xfrm>
        </p:spPr>
        <p:txBody>
          <a:bodyPr>
            <a:normAutofit fontScale="92500" lnSpcReduction="20000"/>
          </a:bodyPr>
          <a:lstStyle/>
          <a:p>
            <a:r>
              <a:rPr lang="en-US" dirty="0"/>
              <a:t>The GRU’s functionality is centered around effectively capturing short- and long-term dependencies in sequential data. Here’s a summary of each gate's functionality and its impact on the GRU’s behavior:</a:t>
            </a:r>
          </a:p>
          <a:p>
            <a:pPr marL="514350" indent="-514350">
              <a:buAutoNum type="arabicPeriod"/>
            </a:pPr>
            <a:r>
              <a:rPr lang="en-US" b="1" dirty="0"/>
              <a:t>Reset Gate:</a:t>
            </a:r>
            <a:r>
              <a:rPr lang="en-US" dirty="0"/>
              <a:t> </a:t>
            </a:r>
          </a:p>
          <a:p>
            <a:pPr marL="514350" indent="-514350"/>
            <a:r>
              <a:rPr lang="en-US" dirty="0"/>
              <a:t>The reset gate enables the model to forget irrelevant past information. </a:t>
            </a:r>
          </a:p>
          <a:p>
            <a:pPr marL="514350" indent="-514350"/>
            <a:r>
              <a:rPr lang="en-US" dirty="0"/>
              <a:t>This is particularly useful in cases where the recent information is more relevant than older context, such as in sentence parsing or real-time sensor data.</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Functionality of GRU</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IN" dirty="0"/>
              <a:t>2. </a:t>
            </a:r>
            <a:r>
              <a:rPr lang="en-US" b="1" dirty="0"/>
              <a:t>Update Gate:</a:t>
            </a:r>
            <a:r>
              <a:rPr lang="en-US" dirty="0"/>
              <a:t> </a:t>
            </a:r>
          </a:p>
          <a:p>
            <a:r>
              <a:rPr lang="en-US" dirty="0"/>
              <a:t>The update gate controls the balance between retaining old information and incorporating new information. </a:t>
            </a:r>
          </a:p>
          <a:p>
            <a:r>
              <a:rPr lang="en-US" dirty="0"/>
              <a:t>This allows the GRU to keep track of information over a long period if needed. </a:t>
            </a:r>
          </a:p>
          <a:p>
            <a:r>
              <a:rPr lang="en-US" dirty="0"/>
              <a:t>For instance, in a language model, it can remember the subject of a sentence over a long clause to make appropriate predictions at the end of the sentence.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Functionality of GRU</a:t>
            </a:r>
            <a:endParaRPr lang="en-US" dirty="0"/>
          </a:p>
        </p:txBody>
      </p:sp>
      <p:sp>
        <p:nvSpPr>
          <p:cNvPr id="3" name="Content Placeholder 2"/>
          <p:cNvSpPr>
            <a:spLocks noGrp="1"/>
          </p:cNvSpPr>
          <p:nvPr>
            <p:ph idx="1"/>
          </p:nvPr>
        </p:nvSpPr>
        <p:spPr/>
        <p:txBody>
          <a:bodyPr/>
          <a:lstStyle/>
          <a:p>
            <a:pPr>
              <a:buNone/>
            </a:pPr>
            <a:r>
              <a:rPr lang="en-US" b="1" dirty="0"/>
              <a:t>3. Single Hidden State</a:t>
            </a:r>
            <a:r>
              <a:rPr lang="en-US" dirty="0"/>
              <a:t>: </a:t>
            </a:r>
          </a:p>
          <a:p>
            <a:r>
              <a:rPr lang="en-US" dirty="0"/>
              <a:t>Unlike LSTM, which has both a cell state and a hidden state, GRU has only a single hidden state that serves as both memory and output.</a:t>
            </a:r>
          </a:p>
          <a:p>
            <a:r>
              <a:rPr lang="en-US" dirty="0"/>
              <a:t>This reduces the number of parameters and makes GRUs computationally efficient while maintaining the ability to handle long sequences effectively.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Key Advantages of GRU</a:t>
            </a:r>
          </a:p>
        </p:txBody>
      </p:sp>
      <p:sp>
        <p:nvSpPr>
          <p:cNvPr id="3" name="Content Placeholder 2"/>
          <p:cNvSpPr>
            <a:spLocks noGrp="1"/>
          </p:cNvSpPr>
          <p:nvPr>
            <p:ph idx="1"/>
          </p:nvPr>
        </p:nvSpPr>
        <p:spPr>
          <a:xfrm>
            <a:off x="457200" y="1066800"/>
            <a:ext cx="8229600" cy="5059363"/>
          </a:xfrm>
        </p:spPr>
        <p:txBody>
          <a:bodyPr>
            <a:normAutofit fontScale="77500" lnSpcReduction="20000"/>
          </a:bodyPr>
          <a:lstStyle/>
          <a:p>
            <a:r>
              <a:rPr lang="en-US" b="1" dirty="0"/>
              <a:t>Reduced Complexity</a:t>
            </a:r>
            <a:r>
              <a:rPr lang="en-US" dirty="0"/>
              <a:t>: GRUs are computationally simpler than LSTMs as they have fewer gates and lack a separate cell state. This makes them faster to train and more efficient for applications where computational resources are limited.</a:t>
            </a:r>
          </a:p>
          <a:p>
            <a:r>
              <a:rPr lang="en-US" b="1" dirty="0"/>
              <a:t>Similar Performance with Fewer Parameters</a:t>
            </a:r>
            <a:r>
              <a:rPr lang="en-US" dirty="0"/>
              <a:t>: Despite their simpler structure, GRUs perform comparably to LSTMs in many tasks, particularly those that do not require as much fine-grained memory management, such as machine translation, text generation, and speech recognition.</a:t>
            </a:r>
          </a:p>
          <a:p>
            <a:r>
              <a:rPr lang="en-US" b="1" dirty="0"/>
              <a:t>Effective Long-Term Memory Retention</a:t>
            </a:r>
            <a:r>
              <a:rPr lang="en-US" dirty="0"/>
              <a:t>: By using the update gate to retain important information over time, GRUs manage to retain long-term dependencies, solving the vanishing gradient problem common to traditional RNNs.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Comparison with LSTM</a:t>
            </a:r>
            <a:endParaRPr lang="en-US"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r>
              <a:rPr lang="en-US" dirty="0"/>
              <a:t>While GRUs and LSTMs share similarities, they have different strengths and are suited to different types of tasks:</a:t>
            </a:r>
          </a:p>
          <a:p>
            <a:r>
              <a:rPr lang="en-US" b="1" dirty="0"/>
              <a:t>Parameter Efficiency</a:t>
            </a:r>
            <a:r>
              <a:rPr lang="en-US" dirty="0"/>
              <a:t>: GRUs generally have fewer parameters than LSTMs, making them faster to train and less likely to </a:t>
            </a:r>
            <a:r>
              <a:rPr lang="en-US" dirty="0" err="1"/>
              <a:t>overfit</a:t>
            </a:r>
            <a:r>
              <a:rPr lang="en-US" dirty="0"/>
              <a:t>, especially on smaller datasets.</a:t>
            </a:r>
          </a:p>
          <a:p>
            <a:r>
              <a:rPr lang="en-US" b="1" dirty="0"/>
              <a:t>Longer Dependencies</a:t>
            </a:r>
            <a:r>
              <a:rPr lang="en-US" dirty="0"/>
              <a:t>: LSTMs may outperform GRUs on tasks that require learning very long dependencies since the cell state in LSTMs allows for more refined control over information retention.</a:t>
            </a:r>
          </a:p>
          <a:p>
            <a:r>
              <a:rPr lang="en-US" b="1" dirty="0"/>
              <a:t>Computational Cost</a:t>
            </a:r>
            <a:r>
              <a:rPr lang="en-US" dirty="0"/>
              <a:t>: GRUs are more computationally efficient and therefore may be preferred for real-time applications or when hardware resources are limited.</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Use Cases</a:t>
            </a:r>
            <a:endParaRPr lang="en-US" dirty="0"/>
          </a:p>
        </p:txBody>
      </p:sp>
      <p:sp>
        <p:nvSpPr>
          <p:cNvPr id="3" name="Content Placeholder 2"/>
          <p:cNvSpPr>
            <a:spLocks noGrp="1"/>
          </p:cNvSpPr>
          <p:nvPr>
            <p:ph idx="1"/>
          </p:nvPr>
        </p:nvSpPr>
        <p:spPr/>
        <p:txBody>
          <a:bodyPr>
            <a:normAutofit fontScale="77500" lnSpcReduction="20000"/>
          </a:bodyPr>
          <a:lstStyle/>
          <a:p>
            <a:r>
              <a:rPr lang="en-US" dirty="0"/>
              <a:t>GRUs are widely used in a variety of applications where sequence data is involved:</a:t>
            </a:r>
          </a:p>
          <a:p>
            <a:r>
              <a:rPr lang="en-US" b="1" dirty="0"/>
              <a:t>Speech Recognition</a:t>
            </a:r>
            <a:r>
              <a:rPr lang="en-US" dirty="0"/>
              <a:t>: GRUs can effectively process sequences of audio data to recognize spoken words or phrases.</a:t>
            </a:r>
          </a:p>
          <a:p>
            <a:r>
              <a:rPr lang="en-US" b="1" dirty="0"/>
              <a:t>Language Modeling and Machine Translation</a:t>
            </a:r>
            <a:r>
              <a:rPr lang="en-US" dirty="0"/>
              <a:t>: GRUs are used in natural language processing to model sentences, predict next words, and even translate text between languages.</a:t>
            </a:r>
          </a:p>
          <a:p>
            <a:r>
              <a:rPr lang="en-US" b="1" dirty="0"/>
              <a:t>Time-Series Analysis</a:t>
            </a:r>
            <a:r>
              <a:rPr lang="en-US" dirty="0"/>
              <a:t>: For predicting stock prices, weather forecasting, or analyzing sensor data, GRUs can capture both short- and long-term dependencies in the data.</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a:t>Summary</a:t>
            </a:r>
            <a:endParaRPr lang="en-US" dirty="0"/>
          </a:p>
        </p:txBody>
      </p:sp>
      <p:sp>
        <p:nvSpPr>
          <p:cNvPr id="3" name="Content Placeholder 2"/>
          <p:cNvSpPr>
            <a:spLocks noGrp="1"/>
          </p:cNvSpPr>
          <p:nvPr>
            <p:ph idx="1"/>
          </p:nvPr>
        </p:nvSpPr>
        <p:spPr>
          <a:xfrm>
            <a:off x="457200" y="1066800"/>
            <a:ext cx="8229600" cy="5059363"/>
          </a:xfrm>
        </p:spPr>
        <p:txBody>
          <a:bodyPr>
            <a:normAutofit fontScale="85000" lnSpcReduction="10000"/>
          </a:bodyPr>
          <a:lstStyle/>
          <a:p>
            <a:r>
              <a:rPr lang="en-US" dirty="0"/>
              <a:t>GRUs are a powerful and efficient alternative to traditional RNNs and even LSTMs, providing a simpler, faster architecture for learning from sequential data.</a:t>
            </a:r>
          </a:p>
          <a:p>
            <a:r>
              <a:rPr lang="en-US" dirty="0"/>
              <a:t>By combining the reset and update gates, GRUs enable selective memory retention and controlled forgetting, allowing them to learn dependencies effectively without the complexity of a separate cell state. </a:t>
            </a:r>
          </a:p>
          <a:p>
            <a:r>
              <a:rPr lang="en-US" dirty="0"/>
              <a:t>This structure makes GRUs particularly well-suited for applications requiring fast processing of sequence data and has led to their widespread adoption in various fields of machine learning and natural language processing.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TotalTime>
  <Words>1207</Words>
  <Application>Microsoft Office PowerPoint</Application>
  <PresentationFormat>On-screen Show (4:3)</PresentationFormat>
  <Paragraphs>63</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Gated Recurrent Unit Networks</vt:lpstr>
      <vt:lpstr>GRU</vt:lpstr>
      <vt:lpstr>GRU</vt:lpstr>
      <vt:lpstr>GRU</vt:lpstr>
      <vt:lpstr>Reset Gate (Short term memory)</vt:lpstr>
      <vt:lpstr>Reset Gate (Short term memory)</vt:lpstr>
      <vt:lpstr> Update Gate (Long Term memory) </vt:lpstr>
      <vt:lpstr>Update Gate (Long Term memory)</vt:lpstr>
      <vt:lpstr>Candidate Hidden State</vt:lpstr>
      <vt:lpstr>Final Hidden State</vt:lpstr>
      <vt:lpstr>Functionality of GRU</vt:lpstr>
      <vt:lpstr>Functionality of GRU</vt:lpstr>
      <vt:lpstr>Functionality of GRU</vt:lpstr>
      <vt:lpstr>Key Advantages of GRU</vt:lpstr>
      <vt:lpstr>Comparison with LSTM</vt:lpstr>
      <vt:lpstr>Use Cases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Gated Recurrent Unit Networks</dc:title>
  <dc:creator>hp</dc:creator>
  <cp:lastModifiedBy>Joyabrata Acharyya</cp:lastModifiedBy>
  <cp:revision>36</cp:revision>
  <dcterms:created xsi:type="dcterms:W3CDTF">2024-10-03T06:24:53Z</dcterms:created>
  <dcterms:modified xsi:type="dcterms:W3CDTF">2024-11-15T06:31:04Z</dcterms:modified>
</cp:coreProperties>
</file>