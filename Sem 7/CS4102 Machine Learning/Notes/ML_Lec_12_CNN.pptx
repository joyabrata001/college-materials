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59" r:id="rId2"/>
    <p:sldId id="324" r:id="rId3"/>
    <p:sldId id="360" r:id="rId4"/>
    <p:sldId id="260" r:id="rId5"/>
    <p:sldId id="261" r:id="rId6"/>
    <p:sldId id="262" r:id="rId7"/>
    <p:sldId id="263" r:id="rId8"/>
    <p:sldId id="264" r:id="rId9"/>
    <p:sldId id="265" r:id="rId10"/>
    <p:sldId id="362" r:id="rId11"/>
    <p:sldId id="361" r:id="rId12"/>
    <p:sldId id="364" r:id="rId13"/>
    <p:sldId id="363" r:id="rId14"/>
    <p:sldId id="368" r:id="rId15"/>
    <p:sldId id="266" r:id="rId16"/>
    <p:sldId id="369" r:id="rId17"/>
    <p:sldId id="370" r:id="rId18"/>
    <p:sldId id="371" r:id="rId19"/>
    <p:sldId id="372" r:id="rId20"/>
    <p:sldId id="373" r:id="rId21"/>
    <p:sldId id="365" r:id="rId22"/>
    <p:sldId id="374" r:id="rId23"/>
    <p:sldId id="375" r:id="rId24"/>
    <p:sldId id="376" r:id="rId25"/>
    <p:sldId id="377" r:id="rId26"/>
    <p:sldId id="366" r:id="rId27"/>
    <p:sldId id="367" r:id="rId28"/>
    <p:sldId id="380" r:id="rId29"/>
    <p:sldId id="267" r:id="rId30"/>
    <p:sldId id="268" r:id="rId31"/>
    <p:sldId id="269" r:id="rId32"/>
    <p:sldId id="270" r:id="rId33"/>
    <p:sldId id="271" r:id="rId34"/>
    <p:sldId id="272" r:id="rId35"/>
    <p:sldId id="273" r:id="rId36"/>
    <p:sldId id="274" r:id="rId37"/>
    <p:sldId id="275" r:id="rId38"/>
    <p:sldId id="277" r:id="rId39"/>
    <p:sldId id="278" r:id="rId40"/>
    <p:sldId id="279" r:id="rId41"/>
    <p:sldId id="280" r:id="rId42"/>
    <p:sldId id="281" r:id="rId43"/>
    <p:sldId id="282" r:id="rId44"/>
    <p:sldId id="283" r:id="rId45"/>
    <p:sldId id="284" r:id="rId46"/>
    <p:sldId id="285" r:id="rId47"/>
    <p:sldId id="286" r:id="rId48"/>
    <p:sldId id="287" r:id="rId49"/>
    <p:sldId id="288" r:id="rId50"/>
    <p:sldId id="289" r:id="rId51"/>
    <p:sldId id="290" r:id="rId52"/>
    <p:sldId id="291" r:id="rId53"/>
    <p:sldId id="292" r:id="rId54"/>
    <p:sldId id="294" r:id="rId55"/>
    <p:sldId id="295" r:id="rId56"/>
    <p:sldId id="296" r:id="rId57"/>
    <p:sldId id="297" r:id="rId58"/>
    <p:sldId id="298" r:id="rId59"/>
    <p:sldId id="299" r:id="rId60"/>
    <p:sldId id="300" r:id="rId61"/>
    <p:sldId id="301" r:id="rId62"/>
    <p:sldId id="302" r:id="rId63"/>
    <p:sldId id="303" r:id="rId64"/>
    <p:sldId id="304" r:id="rId65"/>
    <p:sldId id="305" r:id="rId66"/>
    <p:sldId id="306" r:id="rId67"/>
    <p:sldId id="307" r:id="rId68"/>
    <p:sldId id="308" r:id="rId69"/>
    <p:sldId id="309" r:id="rId70"/>
    <p:sldId id="310" r:id="rId71"/>
    <p:sldId id="311" r:id="rId72"/>
    <p:sldId id="312" r:id="rId73"/>
    <p:sldId id="313" r:id="rId74"/>
    <p:sldId id="314" r:id="rId75"/>
    <p:sldId id="315" r:id="rId76"/>
    <p:sldId id="316" r:id="rId77"/>
    <p:sldId id="317" r:id="rId78"/>
    <p:sldId id="318" r:id="rId79"/>
    <p:sldId id="326" r:id="rId80"/>
    <p:sldId id="327" r:id="rId81"/>
    <p:sldId id="328" r:id="rId82"/>
    <p:sldId id="329" r:id="rId83"/>
    <p:sldId id="330" r:id="rId84"/>
    <p:sldId id="331" r:id="rId85"/>
    <p:sldId id="332" r:id="rId86"/>
    <p:sldId id="381" r:id="rId87"/>
    <p:sldId id="355" r:id="rId88"/>
    <p:sldId id="334" r:id="rId89"/>
    <p:sldId id="337" r:id="rId90"/>
    <p:sldId id="338" r:id="rId91"/>
    <p:sldId id="382" r:id="rId92"/>
    <p:sldId id="383" r:id="rId93"/>
    <p:sldId id="384" r:id="rId94"/>
    <p:sldId id="385" r:id="rId95"/>
    <p:sldId id="386" r:id="rId96"/>
    <p:sldId id="387" r:id="rId97"/>
    <p:sldId id="388" r:id="rId98"/>
    <p:sldId id="341" r:id="rId99"/>
    <p:sldId id="342" r:id="rId100"/>
    <p:sldId id="343" r:id="rId101"/>
    <p:sldId id="344" r:id="rId102"/>
    <p:sldId id="345" r:id="rId103"/>
    <p:sldId id="346" r:id="rId104"/>
    <p:sldId id="347" r:id="rId105"/>
    <p:sldId id="348" r:id="rId106"/>
    <p:sldId id="349" r:id="rId107"/>
    <p:sldId id="379" r:id="rId10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217DC"/>
    <a:srgbClr val="08D61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7" d="100"/>
          <a:sy n="97" d="100"/>
        </p:scale>
        <p:origin x="115"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presProps" Target="pres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42AF9-CDB9-4E18-BA17-A3E2247A504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BEA4AA8-5C71-4AF7-BAF7-60D8A42005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B75586-100E-4315-94A8-81D0DACFA55C}"/>
              </a:ext>
            </a:extLst>
          </p:cNvPr>
          <p:cNvSpPr>
            <a:spLocks noGrp="1"/>
          </p:cNvSpPr>
          <p:nvPr>
            <p:ph type="dt" sz="half" idx="10"/>
          </p:nvPr>
        </p:nvSpPr>
        <p:spPr/>
        <p:txBody>
          <a:bodyPr/>
          <a:lstStyle/>
          <a:p>
            <a:fld id="{2982FB16-CE8B-4DE8-BE2D-BA04EFE57445}" type="datetimeFigureOut">
              <a:rPr lang="en-US" smtClean="0"/>
              <a:pPr/>
              <a:t>11/15/2024</a:t>
            </a:fld>
            <a:endParaRPr lang="en-US"/>
          </a:p>
        </p:txBody>
      </p:sp>
      <p:sp>
        <p:nvSpPr>
          <p:cNvPr id="5" name="Footer Placeholder 4">
            <a:extLst>
              <a:ext uri="{FF2B5EF4-FFF2-40B4-BE49-F238E27FC236}">
                <a16:creationId xmlns:a16="http://schemas.microsoft.com/office/drawing/2014/main" id="{3B3FA95C-4703-47F1-A894-D25C48719C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9FEB30-9F93-4742-A201-7EC56E1A9FBE}"/>
              </a:ext>
            </a:extLst>
          </p:cNvPr>
          <p:cNvSpPr>
            <a:spLocks noGrp="1"/>
          </p:cNvSpPr>
          <p:nvPr>
            <p:ph type="sldNum" sz="quarter" idx="12"/>
          </p:nvPr>
        </p:nvSpPr>
        <p:spPr/>
        <p:txBody>
          <a:bodyPr/>
          <a:lstStyle/>
          <a:p>
            <a:fld id="{D734B832-5C3A-49DF-8001-C3B24EC1493B}" type="slidenum">
              <a:rPr lang="en-US" smtClean="0"/>
              <a:pPr/>
              <a:t>‹#›</a:t>
            </a:fld>
            <a:endParaRPr lang="en-US"/>
          </a:p>
        </p:txBody>
      </p:sp>
    </p:spTree>
    <p:extLst>
      <p:ext uri="{BB962C8B-B14F-4D97-AF65-F5344CB8AC3E}">
        <p14:creationId xmlns:p14="http://schemas.microsoft.com/office/powerpoint/2010/main" val="82608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C3113-E552-4EAC-BB86-0E57017E93E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2F3BE10-EB41-49D1-8418-E77A00285F6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FD4D9B-62FC-4A23-9D3C-A920F3C091A3}"/>
              </a:ext>
            </a:extLst>
          </p:cNvPr>
          <p:cNvSpPr>
            <a:spLocks noGrp="1"/>
          </p:cNvSpPr>
          <p:nvPr>
            <p:ph type="dt" sz="half" idx="10"/>
          </p:nvPr>
        </p:nvSpPr>
        <p:spPr/>
        <p:txBody>
          <a:bodyPr/>
          <a:lstStyle/>
          <a:p>
            <a:fld id="{2982FB16-CE8B-4DE8-BE2D-BA04EFE57445}" type="datetimeFigureOut">
              <a:rPr lang="en-US" smtClean="0"/>
              <a:pPr/>
              <a:t>11/15/2024</a:t>
            </a:fld>
            <a:endParaRPr lang="en-US"/>
          </a:p>
        </p:txBody>
      </p:sp>
      <p:sp>
        <p:nvSpPr>
          <p:cNvPr id="5" name="Footer Placeholder 4">
            <a:extLst>
              <a:ext uri="{FF2B5EF4-FFF2-40B4-BE49-F238E27FC236}">
                <a16:creationId xmlns:a16="http://schemas.microsoft.com/office/drawing/2014/main" id="{B8E39582-FDC5-4BA1-8592-11C2E3EE90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BEB16C-CF92-4DE4-93C4-886FFD3AD410}"/>
              </a:ext>
            </a:extLst>
          </p:cNvPr>
          <p:cNvSpPr>
            <a:spLocks noGrp="1"/>
          </p:cNvSpPr>
          <p:nvPr>
            <p:ph type="sldNum" sz="quarter" idx="12"/>
          </p:nvPr>
        </p:nvSpPr>
        <p:spPr/>
        <p:txBody>
          <a:bodyPr/>
          <a:lstStyle/>
          <a:p>
            <a:fld id="{D734B832-5C3A-49DF-8001-C3B24EC1493B}" type="slidenum">
              <a:rPr lang="en-US" smtClean="0"/>
              <a:pPr/>
              <a:t>‹#›</a:t>
            </a:fld>
            <a:endParaRPr lang="en-US"/>
          </a:p>
        </p:txBody>
      </p:sp>
    </p:spTree>
    <p:extLst>
      <p:ext uri="{BB962C8B-B14F-4D97-AF65-F5344CB8AC3E}">
        <p14:creationId xmlns:p14="http://schemas.microsoft.com/office/powerpoint/2010/main" val="13859688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AC9CE-D66A-438D-9C46-D3D79752D1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DEC339E-F199-4537-BA38-2C33CC1E23E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F5455B-57D0-422E-9237-ECC1CFCA9098}"/>
              </a:ext>
            </a:extLst>
          </p:cNvPr>
          <p:cNvSpPr>
            <a:spLocks noGrp="1"/>
          </p:cNvSpPr>
          <p:nvPr>
            <p:ph type="dt" sz="half" idx="10"/>
          </p:nvPr>
        </p:nvSpPr>
        <p:spPr/>
        <p:txBody>
          <a:bodyPr/>
          <a:lstStyle/>
          <a:p>
            <a:fld id="{2982FB16-CE8B-4DE8-BE2D-BA04EFE57445}" type="datetimeFigureOut">
              <a:rPr lang="en-US" smtClean="0"/>
              <a:pPr/>
              <a:t>11/15/2024</a:t>
            </a:fld>
            <a:endParaRPr lang="en-US"/>
          </a:p>
        </p:txBody>
      </p:sp>
      <p:sp>
        <p:nvSpPr>
          <p:cNvPr id="5" name="Footer Placeholder 4">
            <a:extLst>
              <a:ext uri="{FF2B5EF4-FFF2-40B4-BE49-F238E27FC236}">
                <a16:creationId xmlns:a16="http://schemas.microsoft.com/office/drawing/2014/main" id="{2630E9AE-93D9-4311-8BAE-F25D946B01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7E2F14-2112-4412-97BD-58F02AF1A8E5}"/>
              </a:ext>
            </a:extLst>
          </p:cNvPr>
          <p:cNvSpPr>
            <a:spLocks noGrp="1"/>
          </p:cNvSpPr>
          <p:nvPr>
            <p:ph type="sldNum" sz="quarter" idx="12"/>
          </p:nvPr>
        </p:nvSpPr>
        <p:spPr/>
        <p:txBody>
          <a:bodyPr/>
          <a:lstStyle/>
          <a:p>
            <a:fld id="{D734B832-5C3A-49DF-8001-C3B24EC1493B}" type="slidenum">
              <a:rPr lang="en-US" smtClean="0"/>
              <a:pPr/>
              <a:t>‹#›</a:t>
            </a:fld>
            <a:endParaRPr lang="en-US"/>
          </a:p>
        </p:txBody>
      </p:sp>
    </p:spTree>
    <p:extLst>
      <p:ext uri="{BB962C8B-B14F-4D97-AF65-F5344CB8AC3E}">
        <p14:creationId xmlns:p14="http://schemas.microsoft.com/office/powerpoint/2010/main" val="21357896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57314-C4BF-4C0D-9374-C69A97A4543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23861C8-DED3-4BCF-A069-DF9D25B4BED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2BFA40B-42BB-4808-9937-A7C5C25F6F7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3319D61-E9DA-434A-9CAB-A211EC09C63D}"/>
              </a:ext>
            </a:extLst>
          </p:cNvPr>
          <p:cNvSpPr>
            <a:spLocks noGrp="1"/>
          </p:cNvSpPr>
          <p:nvPr>
            <p:ph type="dt" sz="half" idx="10"/>
          </p:nvPr>
        </p:nvSpPr>
        <p:spPr/>
        <p:txBody>
          <a:bodyPr/>
          <a:lstStyle/>
          <a:p>
            <a:fld id="{2982FB16-CE8B-4DE8-BE2D-BA04EFE57445}" type="datetimeFigureOut">
              <a:rPr lang="en-US" smtClean="0"/>
              <a:pPr/>
              <a:t>11/15/2024</a:t>
            </a:fld>
            <a:endParaRPr lang="en-US"/>
          </a:p>
        </p:txBody>
      </p:sp>
      <p:sp>
        <p:nvSpPr>
          <p:cNvPr id="6" name="Footer Placeholder 5">
            <a:extLst>
              <a:ext uri="{FF2B5EF4-FFF2-40B4-BE49-F238E27FC236}">
                <a16:creationId xmlns:a16="http://schemas.microsoft.com/office/drawing/2014/main" id="{E867B1E7-E5B7-4C44-AE40-536408A8F5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086AA4-6781-4C28-9159-DD08451B2330}"/>
              </a:ext>
            </a:extLst>
          </p:cNvPr>
          <p:cNvSpPr>
            <a:spLocks noGrp="1"/>
          </p:cNvSpPr>
          <p:nvPr>
            <p:ph type="sldNum" sz="quarter" idx="12"/>
          </p:nvPr>
        </p:nvSpPr>
        <p:spPr/>
        <p:txBody>
          <a:bodyPr/>
          <a:lstStyle/>
          <a:p>
            <a:fld id="{D734B832-5C3A-49DF-8001-C3B24EC1493B}" type="slidenum">
              <a:rPr lang="en-US" smtClean="0"/>
              <a:pPr/>
              <a:t>‹#›</a:t>
            </a:fld>
            <a:endParaRPr lang="en-US"/>
          </a:p>
        </p:txBody>
      </p:sp>
    </p:spTree>
    <p:extLst>
      <p:ext uri="{BB962C8B-B14F-4D97-AF65-F5344CB8AC3E}">
        <p14:creationId xmlns:p14="http://schemas.microsoft.com/office/powerpoint/2010/main" val="1621994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7E05E-F9FF-4AFD-BDC3-EBD39504C06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48AD142-681D-4162-8E91-0D870E4B3F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C4EC6A2-3237-4178-A35E-F8789B5527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8B279E6-D255-4954-8776-296F448543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C0C861D-2DD3-4B17-9080-66CB4C10E2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8F4F91F-0818-42EF-9C53-EE3F5EEC07B1}"/>
              </a:ext>
            </a:extLst>
          </p:cNvPr>
          <p:cNvSpPr>
            <a:spLocks noGrp="1"/>
          </p:cNvSpPr>
          <p:nvPr>
            <p:ph type="dt" sz="half" idx="10"/>
          </p:nvPr>
        </p:nvSpPr>
        <p:spPr/>
        <p:txBody>
          <a:bodyPr/>
          <a:lstStyle/>
          <a:p>
            <a:fld id="{2982FB16-CE8B-4DE8-BE2D-BA04EFE57445}" type="datetimeFigureOut">
              <a:rPr lang="en-US" smtClean="0"/>
              <a:pPr/>
              <a:t>11/15/2024</a:t>
            </a:fld>
            <a:endParaRPr lang="en-US"/>
          </a:p>
        </p:txBody>
      </p:sp>
      <p:sp>
        <p:nvSpPr>
          <p:cNvPr id="8" name="Footer Placeholder 7">
            <a:extLst>
              <a:ext uri="{FF2B5EF4-FFF2-40B4-BE49-F238E27FC236}">
                <a16:creationId xmlns:a16="http://schemas.microsoft.com/office/drawing/2014/main" id="{41E63FBF-3D5B-4CC6-933E-F815C9A24A6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26C4B9E-F467-4F2A-8021-2BA23E9F9BA0}"/>
              </a:ext>
            </a:extLst>
          </p:cNvPr>
          <p:cNvSpPr>
            <a:spLocks noGrp="1"/>
          </p:cNvSpPr>
          <p:nvPr>
            <p:ph type="sldNum" sz="quarter" idx="12"/>
          </p:nvPr>
        </p:nvSpPr>
        <p:spPr/>
        <p:txBody>
          <a:bodyPr/>
          <a:lstStyle/>
          <a:p>
            <a:fld id="{D734B832-5C3A-49DF-8001-C3B24EC1493B}" type="slidenum">
              <a:rPr lang="en-US" smtClean="0"/>
              <a:pPr/>
              <a:t>‹#›</a:t>
            </a:fld>
            <a:endParaRPr lang="en-US"/>
          </a:p>
        </p:txBody>
      </p:sp>
    </p:spTree>
    <p:extLst>
      <p:ext uri="{BB962C8B-B14F-4D97-AF65-F5344CB8AC3E}">
        <p14:creationId xmlns:p14="http://schemas.microsoft.com/office/powerpoint/2010/main" val="26177557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20336-EA97-4864-BCC6-E1A2F475BE5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F1927DD-1123-4304-B645-616BC1F15998}"/>
              </a:ext>
            </a:extLst>
          </p:cNvPr>
          <p:cNvSpPr>
            <a:spLocks noGrp="1"/>
          </p:cNvSpPr>
          <p:nvPr>
            <p:ph type="dt" sz="half" idx="10"/>
          </p:nvPr>
        </p:nvSpPr>
        <p:spPr/>
        <p:txBody>
          <a:bodyPr/>
          <a:lstStyle/>
          <a:p>
            <a:fld id="{2982FB16-CE8B-4DE8-BE2D-BA04EFE57445}" type="datetimeFigureOut">
              <a:rPr lang="en-US" smtClean="0"/>
              <a:pPr/>
              <a:t>11/15/2024</a:t>
            </a:fld>
            <a:endParaRPr lang="en-US"/>
          </a:p>
        </p:txBody>
      </p:sp>
      <p:sp>
        <p:nvSpPr>
          <p:cNvPr id="4" name="Footer Placeholder 3">
            <a:extLst>
              <a:ext uri="{FF2B5EF4-FFF2-40B4-BE49-F238E27FC236}">
                <a16:creationId xmlns:a16="http://schemas.microsoft.com/office/drawing/2014/main" id="{09FF9CBC-E69D-49E2-A3FF-0460547895E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2181445-7CAE-4287-856F-05063BC42BBB}"/>
              </a:ext>
            </a:extLst>
          </p:cNvPr>
          <p:cNvSpPr>
            <a:spLocks noGrp="1"/>
          </p:cNvSpPr>
          <p:nvPr>
            <p:ph type="sldNum" sz="quarter" idx="12"/>
          </p:nvPr>
        </p:nvSpPr>
        <p:spPr/>
        <p:txBody>
          <a:bodyPr/>
          <a:lstStyle/>
          <a:p>
            <a:fld id="{D734B832-5C3A-49DF-8001-C3B24EC1493B}" type="slidenum">
              <a:rPr lang="en-US" smtClean="0"/>
              <a:pPr/>
              <a:t>‹#›</a:t>
            </a:fld>
            <a:endParaRPr lang="en-US"/>
          </a:p>
        </p:txBody>
      </p:sp>
    </p:spTree>
    <p:extLst>
      <p:ext uri="{BB962C8B-B14F-4D97-AF65-F5344CB8AC3E}">
        <p14:creationId xmlns:p14="http://schemas.microsoft.com/office/powerpoint/2010/main" val="18459389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80A58D-4B56-4547-8F0A-5E19B2FBABC4}"/>
              </a:ext>
            </a:extLst>
          </p:cNvPr>
          <p:cNvSpPr>
            <a:spLocks noGrp="1"/>
          </p:cNvSpPr>
          <p:nvPr>
            <p:ph type="dt" sz="half" idx="10"/>
          </p:nvPr>
        </p:nvSpPr>
        <p:spPr/>
        <p:txBody>
          <a:bodyPr/>
          <a:lstStyle/>
          <a:p>
            <a:fld id="{2982FB16-CE8B-4DE8-BE2D-BA04EFE57445}" type="datetimeFigureOut">
              <a:rPr lang="en-US" smtClean="0"/>
              <a:pPr/>
              <a:t>11/15/2024</a:t>
            </a:fld>
            <a:endParaRPr lang="en-US"/>
          </a:p>
        </p:txBody>
      </p:sp>
      <p:sp>
        <p:nvSpPr>
          <p:cNvPr id="3" name="Footer Placeholder 2">
            <a:extLst>
              <a:ext uri="{FF2B5EF4-FFF2-40B4-BE49-F238E27FC236}">
                <a16:creationId xmlns:a16="http://schemas.microsoft.com/office/drawing/2014/main" id="{2638EE51-3235-49AA-A421-647BFA4F1BD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EFA0B3D-8EAF-407B-8537-CB6D0F75564D}"/>
              </a:ext>
            </a:extLst>
          </p:cNvPr>
          <p:cNvSpPr>
            <a:spLocks noGrp="1"/>
          </p:cNvSpPr>
          <p:nvPr>
            <p:ph type="sldNum" sz="quarter" idx="12"/>
          </p:nvPr>
        </p:nvSpPr>
        <p:spPr/>
        <p:txBody>
          <a:bodyPr/>
          <a:lstStyle/>
          <a:p>
            <a:fld id="{D734B832-5C3A-49DF-8001-C3B24EC1493B}" type="slidenum">
              <a:rPr lang="en-US" smtClean="0"/>
              <a:pPr/>
              <a:t>‹#›</a:t>
            </a:fld>
            <a:endParaRPr lang="en-US"/>
          </a:p>
        </p:txBody>
      </p:sp>
    </p:spTree>
    <p:extLst>
      <p:ext uri="{BB962C8B-B14F-4D97-AF65-F5344CB8AC3E}">
        <p14:creationId xmlns:p14="http://schemas.microsoft.com/office/powerpoint/2010/main" val="18255661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32C3F-51DE-4A2B-8075-A5524D7E0D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7D8B571-8B01-4A93-9713-1FF8CC992E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942F6FF-6A23-47BE-BA7E-D9DD5F3643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043FED-C0F8-4D51-AC3A-34547D04A9BB}"/>
              </a:ext>
            </a:extLst>
          </p:cNvPr>
          <p:cNvSpPr>
            <a:spLocks noGrp="1"/>
          </p:cNvSpPr>
          <p:nvPr>
            <p:ph type="dt" sz="half" idx="10"/>
          </p:nvPr>
        </p:nvSpPr>
        <p:spPr/>
        <p:txBody>
          <a:bodyPr/>
          <a:lstStyle/>
          <a:p>
            <a:fld id="{2982FB16-CE8B-4DE8-BE2D-BA04EFE57445}" type="datetimeFigureOut">
              <a:rPr lang="en-US" smtClean="0"/>
              <a:pPr/>
              <a:t>11/15/2024</a:t>
            </a:fld>
            <a:endParaRPr lang="en-US"/>
          </a:p>
        </p:txBody>
      </p:sp>
      <p:sp>
        <p:nvSpPr>
          <p:cNvPr id="6" name="Footer Placeholder 5">
            <a:extLst>
              <a:ext uri="{FF2B5EF4-FFF2-40B4-BE49-F238E27FC236}">
                <a16:creationId xmlns:a16="http://schemas.microsoft.com/office/drawing/2014/main" id="{85039F6F-E6B9-43A9-BDFB-38F2067815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0B5256E-7A69-4E3D-B0E5-C1B9BDDE7DAF}"/>
              </a:ext>
            </a:extLst>
          </p:cNvPr>
          <p:cNvSpPr>
            <a:spLocks noGrp="1"/>
          </p:cNvSpPr>
          <p:nvPr>
            <p:ph type="sldNum" sz="quarter" idx="12"/>
          </p:nvPr>
        </p:nvSpPr>
        <p:spPr/>
        <p:txBody>
          <a:bodyPr/>
          <a:lstStyle/>
          <a:p>
            <a:fld id="{D734B832-5C3A-49DF-8001-C3B24EC1493B}" type="slidenum">
              <a:rPr lang="en-US" smtClean="0"/>
              <a:pPr/>
              <a:t>‹#›</a:t>
            </a:fld>
            <a:endParaRPr lang="en-US"/>
          </a:p>
        </p:txBody>
      </p:sp>
    </p:spTree>
    <p:extLst>
      <p:ext uri="{BB962C8B-B14F-4D97-AF65-F5344CB8AC3E}">
        <p14:creationId xmlns:p14="http://schemas.microsoft.com/office/powerpoint/2010/main" val="25716888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55456-F005-495E-855E-EE0CEBD679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E7AEB91-2950-4EAB-B859-20BC0EB163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2871E9C-CEAB-4A90-A6A8-E3C6BDFD0C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D91598-F275-42AE-B75C-35F2F09D3867}"/>
              </a:ext>
            </a:extLst>
          </p:cNvPr>
          <p:cNvSpPr>
            <a:spLocks noGrp="1"/>
          </p:cNvSpPr>
          <p:nvPr>
            <p:ph type="dt" sz="half" idx="10"/>
          </p:nvPr>
        </p:nvSpPr>
        <p:spPr/>
        <p:txBody>
          <a:bodyPr/>
          <a:lstStyle/>
          <a:p>
            <a:fld id="{2982FB16-CE8B-4DE8-BE2D-BA04EFE57445}" type="datetimeFigureOut">
              <a:rPr lang="en-US" smtClean="0"/>
              <a:pPr/>
              <a:t>11/15/2024</a:t>
            </a:fld>
            <a:endParaRPr lang="en-US"/>
          </a:p>
        </p:txBody>
      </p:sp>
      <p:sp>
        <p:nvSpPr>
          <p:cNvPr id="6" name="Footer Placeholder 5">
            <a:extLst>
              <a:ext uri="{FF2B5EF4-FFF2-40B4-BE49-F238E27FC236}">
                <a16:creationId xmlns:a16="http://schemas.microsoft.com/office/drawing/2014/main" id="{389F3EDF-A0AA-4CFB-96CD-93BD38F79C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8B5F7E-5929-44C8-8589-990854FE2888}"/>
              </a:ext>
            </a:extLst>
          </p:cNvPr>
          <p:cNvSpPr>
            <a:spLocks noGrp="1"/>
          </p:cNvSpPr>
          <p:nvPr>
            <p:ph type="sldNum" sz="quarter" idx="12"/>
          </p:nvPr>
        </p:nvSpPr>
        <p:spPr/>
        <p:txBody>
          <a:bodyPr/>
          <a:lstStyle/>
          <a:p>
            <a:fld id="{D734B832-5C3A-49DF-8001-C3B24EC1493B}" type="slidenum">
              <a:rPr lang="en-US" smtClean="0"/>
              <a:pPr/>
              <a:t>‹#›</a:t>
            </a:fld>
            <a:endParaRPr lang="en-US"/>
          </a:p>
        </p:txBody>
      </p:sp>
    </p:spTree>
    <p:extLst>
      <p:ext uri="{BB962C8B-B14F-4D97-AF65-F5344CB8AC3E}">
        <p14:creationId xmlns:p14="http://schemas.microsoft.com/office/powerpoint/2010/main" val="40761260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6DC7F-F265-4F1E-A3BF-85313A97291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0EE40D9-44F1-4311-AC50-E4B2E601EFC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37923E-D6C6-4667-8A30-06A9A4A3AF54}"/>
              </a:ext>
            </a:extLst>
          </p:cNvPr>
          <p:cNvSpPr>
            <a:spLocks noGrp="1"/>
          </p:cNvSpPr>
          <p:nvPr>
            <p:ph type="dt" sz="half" idx="10"/>
          </p:nvPr>
        </p:nvSpPr>
        <p:spPr/>
        <p:txBody>
          <a:bodyPr/>
          <a:lstStyle/>
          <a:p>
            <a:fld id="{2982FB16-CE8B-4DE8-BE2D-BA04EFE57445}" type="datetimeFigureOut">
              <a:rPr lang="en-US" smtClean="0"/>
              <a:pPr/>
              <a:t>11/15/2024</a:t>
            </a:fld>
            <a:endParaRPr lang="en-US"/>
          </a:p>
        </p:txBody>
      </p:sp>
      <p:sp>
        <p:nvSpPr>
          <p:cNvPr id="5" name="Footer Placeholder 4">
            <a:extLst>
              <a:ext uri="{FF2B5EF4-FFF2-40B4-BE49-F238E27FC236}">
                <a16:creationId xmlns:a16="http://schemas.microsoft.com/office/drawing/2014/main" id="{BBA3EDB5-77DF-4F02-8A7A-C2FB89799C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B6F4F8-A87E-4F76-B38B-018A207F38D4}"/>
              </a:ext>
            </a:extLst>
          </p:cNvPr>
          <p:cNvSpPr>
            <a:spLocks noGrp="1"/>
          </p:cNvSpPr>
          <p:nvPr>
            <p:ph type="sldNum" sz="quarter" idx="12"/>
          </p:nvPr>
        </p:nvSpPr>
        <p:spPr/>
        <p:txBody>
          <a:bodyPr/>
          <a:lstStyle/>
          <a:p>
            <a:fld id="{D734B832-5C3A-49DF-8001-C3B24EC1493B}" type="slidenum">
              <a:rPr lang="en-US" smtClean="0"/>
              <a:pPr/>
              <a:t>‹#›</a:t>
            </a:fld>
            <a:endParaRPr lang="en-US"/>
          </a:p>
        </p:txBody>
      </p:sp>
    </p:spTree>
    <p:extLst>
      <p:ext uri="{BB962C8B-B14F-4D97-AF65-F5344CB8AC3E}">
        <p14:creationId xmlns:p14="http://schemas.microsoft.com/office/powerpoint/2010/main" val="12617142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0E5673-DF2E-48F5-9518-21AF3680CB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5C5E15B-D936-4CC2-BC73-BF125F33DC7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08485B-C0FF-4959-AB03-73C7EEEB1A3E}"/>
              </a:ext>
            </a:extLst>
          </p:cNvPr>
          <p:cNvSpPr>
            <a:spLocks noGrp="1"/>
          </p:cNvSpPr>
          <p:nvPr>
            <p:ph type="dt" sz="half" idx="10"/>
          </p:nvPr>
        </p:nvSpPr>
        <p:spPr/>
        <p:txBody>
          <a:bodyPr/>
          <a:lstStyle/>
          <a:p>
            <a:fld id="{2982FB16-CE8B-4DE8-BE2D-BA04EFE57445}" type="datetimeFigureOut">
              <a:rPr lang="en-US" smtClean="0"/>
              <a:pPr/>
              <a:t>11/15/2024</a:t>
            </a:fld>
            <a:endParaRPr lang="en-US"/>
          </a:p>
        </p:txBody>
      </p:sp>
      <p:sp>
        <p:nvSpPr>
          <p:cNvPr id="5" name="Footer Placeholder 4">
            <a:extLst>
              <a:ext uri="{FF2B5EF4-FFF2-40B4-BE49-F238E27FC236}">
                <a16:creationId xmlns:a16="http://schemas.microsoft.com/office/drawing/2014/main" id="{1E817548-E3B2-4046-BD53-8040F0D089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5E3596-8386-4652-B59C-1A1456BBB790}"/>
              </a:ext>
            </a:extLst>
          </p:cNvPr>
          <p:cNvSpPr>
            <a:spLocks noGrp="1"/>
          </p:cNvSpPr>
          <p:nvPr>
            <p:ph type="sldNum" sz="quarter" idx="12"/>
          </p:nvPr>
        </p:nvSpPr>
        <p:spPr/>
        <p:txBody>
          <a:bodyPr/>
          <a:lstStyle/>
          <a:p>
            <a:fld id="{D734B832-5C3A-49DF-8001-C3B24EC1493B}" type="slidenum">
              <a:rPr lang="en-US" smtClean="0"/>
              <a:pPr/>
              <a:t>‹#›</a:t>
            </a:fld>
            <a:endParaRPr lang="en-US"/>
          </a:p>
        </p:txBody>
      </p:sp>
    </p:spTree>
    <p:extLst>
      <p:ext uri="{BB962C8B-B14F-4D97-AF65-F5344CB8AC3E}">
        <p14:creationId xmlns:p14="http://schemas.microsoft.com/office/powerpoint/2010/main" val="2481434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0B13D66-BC3F-4A69-B336-DF49AB7F46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29EF79B-DDF4-4F68-ACE6-1427EC9F3F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ED303C-A657-4792-A0E9-53FE18C02F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82FB16-CE8B-4DE8-BE2D-BA04EFE57445}" type="datetimeFigureOut">
              <a:rPr lang="en-US" smtClean="0"/>
              <a:pPr/>
              <a:t>11/15/2024</a:t>
            </a:fld>
            <a:endParaRPr lang="en-US"/>
          </a:p>
        </p:txBody>
      </p:sp>
      <p:sp>
        <p:nvSpPr>
          <p:cNvPr id="5" name="Footer Placeholder 4">
            <a:extLst>
              <a:ext uri="{FF2B5EF4-FFF2-40B4-BE49-F238E27FC236}">
                <a16:creationId xmlns:a16="http://schemas.microsoft.com/office/drawing/2014/main" id="{2015B4F3-2AB5-43DA-9D24-2302C0C4B3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C747176-823E-4A8A-AEB7-780E223966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34B832-5C3A-49DF-8001-C3B24EC1493B}" type="slidenum">
              <a:rPr lang="en-US" smtClean="0"/>
              <a:pPr/>
              <a:t>‹#›</a:t>
            </a:fld>
            <a:endParaRPr lang="en-US"/>
          </a:p>
        </p:txBody>
      </p:sp>
    </p:spTree>
    <p:extLst>
      <p:ext uri="{BB962C8B-B14F-4D97-AF65-F5344CB8AC3E}">
        <p14:creationId xmlns:p14="http://schemas.microsoft.com/office/powerpoint/2010/main" val="6567872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4.xml"/><Relationship Id="rId5" Type="http://schemas.openxmlformats.org/officeDocument/2006/relationships/image" Target="../media/image54.png"/><Relationship Id="rId4" Type="http://schemas.openxmlformats.org/officeDocument/2006/relationships/image" Target="../media/image53.png"/></Relationships>
</file>

<file path=ppt/slides/_rels/slide8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4.xml"/><Relationship Id="rId4" Type="http://schemas.openxmlformats.org/officeDocument/2006/relationships/image" Target="../media/image57.png"/></Relationships>
</file>

<file path=ppt/slides/_rels/slide8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5.png"/><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5.png"/><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5.png"/><Relationship Id="rId1" Type="http://schemas.openxmlformats.org/officeDocument/2006/relationships/slideLayout" Target="../slideLayouts/slideLayout4.xml"/></Relationships>
</file>

<file path=ppt/slides/_rels/slide10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5.png"/><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Convolution</a:t>
            </a:r>
          </a:p>
        </p:txBody>
      </p:sp>
      <p:sp>
        <p:nvSpPr>
          <p:cNvPr id="3" name="Content Placeholder 2"/>
          <p:cNvSpPr>
            <a:spLocks noGrp="1"/>
          </p:cNvSpPr>
          <p:nvPr>
            <p:ph idx="1"/>
          </p:nvPr>
        </p:nvSpPr>
        <p:spPr/>
        <p:txBody>
          <a:bodyPr/>
          <a:lstStyle/>
          <a:p>
            <a:r>
              <a:rPr lang="en-US" dirty="0"/>
              <a:t>Convolution is a mathematical operation that combines two functions to produce a third function, representing how one function modifies the other. </a:t>
            </a:r>
          </a:p>
          <a:p>
            <a:r>
              <a:rPr lang="en-US" dirty="0"/>
              <a:t>In the context of neural networks, particularly </a:t>
            </a:r>
            <a:r>
              <a:rPr lang="en-US" dirty="0" err="1"/>
              <a:t>convolutional</a:t>
            </a:r>
            <a:r>
              <a:rPr lang="en-US" dirty="0"/>
              <a:t> neural networks (CNNs), convolution is primarily used for processing data with a grid-like topology, such as images.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BCD71-318F-43F4-BED4-330B87B54727}"/>
              </a:ext>
            </a:extLst>
          </p:cNvPr>
          <p:cNvSpPr>
            <a:spLocks noGrp="1"/>
          </p:cNvSpPr>
          <p:nvPr>
            <p:ph type="title"/>
          </p:nvPr>
        </p:nvSpPr>
        <p:spPr>
          <a:xfrm>
            <a:off x="838200" y="365126"/>
            <a:ext cx="7749209" cy="608910"/>
          </a:xfrm>
        </p:spPr>
        <p:txBody>
          <a:bodyPr>
            <a:normAutofit fontScale="90000"/>
          </a:bodyPr>
          <a:lstStyle/>
          <a:p>
            <a:pPr algn="ctr"/>
            <a:r>
              <a:rPr lang="en-US" dirty="0"/>
              <a:t>Convolution</a:t>
            </a:r>
          </a:p>
        </p:txBody>
      </p:sp>
      <p:sp>
        <p:nvSpPr>
          <p:cNvPr id="3" name="Content Placeholder 2">
            <a:extLst>
              <a:ext uri="{FF2B5EF4-FFF2-40B4-BE49-F238E27FC236}">
                <a16:creationId xmlns:a16="http://schemas.microsoft.com/office/drawing/2014/main" id="{EE863E6B-D5B0-4EC6-A7B0-55B48B51066B}"/>
              </a:ext>
            </a:extLst>
          </p:cNvPr>
          <p:cNvSpPr>
            <a:spLocks noGrp="1"/>
          </p:cNvSpPr>
          <p:nvPr>
            <p:ph idx="1"/>
          </p:nvPr>
        </p:nvSpPr>
        <p:spPr>
          <a:xfrm>
            <a:off x="838200" y="1152939"/>
            <a:ext cx="6715539" cy="3747052"/>
          </a:xfrm>
        </p:spPr>
        <p:txBody>
          <a:bodyPr/>
          <a:lstStyle/>
          <a:p>
            <a:r>
              <a:rPr lang="en-US" dirty="0"/>
              <a:t>We may think the image as a 2D matrix</a:t>
            </a:r>
          </a:p>
          <a:p>
            <a:r>
              <a:rPr lang="en-US" dirty="0"/>
              <a:t>We may use a 2D filter of size </a:t>
            </a:r>
            <a:r>
              <a:rPr lang="en-US" dirty="0" err="1"/>
              <a:t>m×n</a:t>
            </a:r>
            <a:r>
              <a:rPr lang="en-US" dirty="0"/>
              <a:t> for convolution.</a:t>
            </a:r>
          </a:p>
          <a:p>
            <a:r>
              <a:rPr lang="en-US" dirty="0"/>
              <a:t>The convolution operation applied on image and filter gives the modification of the image by the filter.</a:t>
            </a:r>
          </a:p>
          <a:p>
            <a:r>
              <a:rPr lang="en-US" dirty="0"/>
              <a:t>This convolution operation works as follows:</a:t>
            </a:r>
          </a:p>
        </p:txBody>
      </p:sp>
      <p:pic>
        <p:nvPicPr>
          <p:cNvPr id="2050" name="Picture 2"/>
          <p:cNvPicPr>
            <a:picLocks noChangeAspect="1" noChangeArrowheads="1"/>
          </p:cNvPicPr>
          <p:nvPr/>
        </p:nvPicPr>
        <p:blipFill>
          <a:blip r:embed="rId2"/>
          <a:srcRect/>
          <a:stretch>
            <a:fillRect/>
          </a:stretch>
        </p:blipFill>
        <p:spPr bwMode="auto">
          <a:xfrm>
            <a:off x="7745729" y="1461052"/>
            <a:ext cx="3464299" cy="2908300"/>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1237631" y="4789417"/>
            <a:ext cx="5121538" cy="1104485"/>
          </a:xfrm>
          <a:prstGeom prst="rect">
            <a:avLst/>
          </a:prstGeom>
          <a:noFill/>
          <a:ln w="9525">
            <a:noFill/>
            <a:miter lim="800000"/>
            <a:headEnd/>
            <a:tailEnd/>
          </a:ln>
          <a:effectLst/>
        </p:spPr>
      </p:pic>
    </p:spTree>
    <p:extLst>
      <p:ext uri="{BB962C8B-B14F-4D97-AF65-F5344CB8AC3E}">
        <p14:creationId xmlns:p14="http://schemas.microsoft.com/office/powerpoint/2010/main" val="12500866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48058"/>
          </a:xfrm>
        </p:spPr>
        <p:txBody>
          <a:bodyPr>
            <a:normAutofit/>
          </a:bodyPr>
          <a:lstStyle/>
          <a:p>
            <a:pPr algn="ctr"/>
            <a:r>
              <a:rPr lang="en-US" b="1" dirty="0"/>
              <a:t>Key Aspects of Convolution</a:t>
            </a:r>
            <a:endParaRPr lang="en-US" dirty="0"/>
          </a:p>
        </p:txBody>
      </p:sp>
      <p:sp>
        <p:nvSpPr>
          <p:cNvPr id="3" name="Content Placeholder 2"/>
          <p:cNvSpPr>
            <a:spLocks noGrp="1"/>
          </p:cNvSpPr>
          <p:nvPr>
            <p:ph idx="1"/>
          </p:nvPr>
        </p:nvSpPr>
        <p:spPr>
          <a:xfrm>
            <a:off x="838200" y="1252330"/>
            <a:ext cx="10515600" cy="4924633"/>
          </a:xfrm>
        </p:spPr>
        <p:txBody>
          <a:bodyPr>
            <a:normAutofit fontScale="92500" lnSpcReduction="10000"/>
          </a:bodyPr>
          <a:lstStyle/>
          <a:p>
            <a:r>
              <a:rPr lang="en-US" b="1" dirty="0"/>
              <a:t>Kernel/Filter</a:t>
            </a:r>
            <a:r>
              <a:rPr lang="en-US" dirty="0"/>
              <a:t>:</a:t>
            </a:r>
          </a:p>
          <a:p>
            <a:pPr lvl="1"/>
            <a:r>
              <a:rPr lang="en-US" dirty="0"/>
              <a:t>A small matrix (e.g., 3x3 or 5x5) that slides over the input data (e.g., an image). The kernel is responsible for extracting features like edges, textures, or patterns.</a:t>
            </a:r>
          </a:p>
          <a:p>
            <a:r>
              <a:rPr lang="en-US" b="1" dirty="0"/>
              <a:t>Sliding Window</a:t>
            </a:r>
            <a:r>
              <a:rPr lang="en-US" dirty="0"/>
              <a:t>:</a:t>
            </a:r>
          </a:p>
          <a:p>
            <a:pPr lvl="1"/>
            <a:r>
              <a:rPr lang="en-US" dirty="0"/>
              <a:t>The kernel moves across the input image in </a:t>
            </a:r>
            <a:r>
              <a:rPr lang="en-US" dirty="0">
                <a:solidFill>
                  <a:srgbClr val="FF0000"/>
                </a:solidFill>
              </a:rPr>
              <a:t>small steps </a:t>
            </a:r>
            <a:r>
              <a:rPr lang="en-US" dirty="0"/>
              <a:t>(called strides), performing the convolution operation at each position.</a:t>
            </a:r>
          </a:p>
          <a:p>
            <a:r>
              <a:rPr lang="en-US" b="1" dirty="0"/>
              <a:t>Dot Product</a:t>
            </a:r>
            <a:r>
              <a:rPr lang="en-US" dirty="0"/>
              <a:t>:</a:t>
            </a:r>
          </a:p>
          <a:p>
            <a:pPr lvl="1"/>
            <a:r>
              <a:rPr lang="en-US" dirty="0"/>
              <a:t>At each position, the kernel performs an element-wise multiplication with the portion of the input it covers, and the results are summed up to produce a single output value. This process </a:t>
            </a:r>
            <a:r>
              <a:rPr lang="en-US" dirty="0">
                <a:solidFill>
                  <a:srgbClr val="FF0000"/>
                </a:solidFill>
              </a:rPr>
              <a:t>captures local patterns </a:t>
            </a:r>
            <a:r>
              <a:rPr lang="en-US" dirty="0"/>
              <a:t>in the data.</a:t>
            </a:r>
          </a:p>
          <a:p>
            <a:r>
              <a:rPr lang="en-US" b="1" dirty="0"/>
              <a:t>Output Feature Map</a:t>
            </a:r>
            <a:r>
              <a:rPr lang="en-US" dirty="0"/>
              <a:t>:</a:t>
            </a:r>
          </a:p>
          <a:p>
            <a:pPr lvl="1"/>
            <a:r>
              <a:rPr lang="en-US" dirty="0"/>
              <a:t>The result of applying the convolution operation across the entire input creates a new matrix called a </a:t>
            </a:r>
            <a:r>
              <a:rPr lang="en-US" dirty="0">
                <a:solidFill>
                  <a:srgbClr val="FF0000"/>
                </a:solidFill>
              </a:rPr>
              <a:t>feature map</a:t>
            </a:r>
            <a:r>
              <a:rPr lang="en-US" dirty="0"/>
              <a:t>, which highlights the features such as edges, shapes, and textures detected by the kernel. </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9A701-DD5C-4A3A-ACE8-A4B60C28B66F}"/>
              </a:ext>
            </a:extLst>
          </p:cNvPr>
          <p:cNvSpPr>
            <a:spLocks noGrp="1"/>
          </p:cNvSpPr>
          <p:nvPr>
            <p:ph type="title"/>
          </p:nvPr>
        </p:nvSpPr>
        <p:spPr>
          <a:xfrm>
            <a:off x="838200" y="365126"/>
            <a:ext cx="10515600" cy="718240"/>
          </a:xfrm>
        </p:spPr>
        <p:txBody>
          <a:bodyPr/>
          <a:lstStyle/>
          <a:p>
            <a:pPr algn="ctr"/>
            <a:r>
              <a:rPr lang="en-US" dirty="0"/>
              <a:t>Convolution</a:t>
            </a:r>
          </a:p>
        </p:txBody>
      </p:sp>
      <p:pic>
        <p:nvPicPr>
          <p:cNvPr id="5" name="Picture 4">
            <a:extLst>
              <a:ext uri="{FF2B5EF4-FFF2-40B4-BE49-F238E27FC236}">
                <a16:creationId xmlns:a16="http://schemas.microsoft.com/office/drawing/2014/main" id="{A4A48B59-47BF-4905-ACE1-A6BF1E54F980}"/>
              </a:ext>
            </a:extLst>
          </p:cNvPr>
          <p:cNvPicPr>
            <a:picLocks noChangeAspect="1"/>
          </p:cNvPicPr>
          <p:nvPr/>
        </p:nvPicPr>
        <p:blipFill>
          <a:blip r:embed="rId2"/>
          <a:stretch>
            <a:fillRect/>
          </a:stretch>
        </p:blipFill>
        <p:spPr>
          <a:xfrm>
            <a:off x="838200" y="1825625"/>
            <a:ext cx="5153025" cy="4743450"/>
          </a:xfrm>
          <a:prstGeom prst="rect">
            <a:avLst/>
          </a:prstGeom>
        </p:spPr>
      </p:pic>
      <p:pic>
        <p:nvPicPr>
          <p:cNvPr id="6" name="Picture 2"/>
          <p:cNvPicPr>
            <a:picLocks noChangeAspect="1" noChangeArrowheads="1"/>
          </p:cNvPicPr>
          <p:nvPr/>
        </p:nvPicPr>
        <p:blipFill>
          <a:blip r:embed="rId3"/>
          <a:srcRect/>
          <a:stretch>
            <a:fillRect/>
          </a:stretch>
        </p:blipFill>
        <p:spPr bwMode="auto">
          <a:xfrm>
            <a:off x="7056783" y="1354846"/>
            <a:ext cx="3069880" cy="2577183"/>
          </a:xfrm>
          <a:prstGeom prst="rect">
            <a:avLst/>
          </a:prstGeom>
          <a:noFill/>
          <a:ln w="9525">
            <a:noFill/>
            <a:miter lim="800000"/>
            <a:headEnd/>
            <a:tailEnd/>
          </a:ln>
          <a:effectLst/>
        </p:spPr>
      </p:pic>
    </p:spTree>
    <p:extLst>
      <p:ext uri="{BB962C8B-B14F-4D97-AF65-F5344CB8AC3E}">
        <p14:creationId xmlns:p14="http://schemas.microsoft.com/office/powerpoint/2010/main" val="12471979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4E600-D711-4E6A-8467-58DE83A4A39E}"/>
              </a:ext>
            </a:extLst>
          </p:cNvPr>
          <p:cNvSpPr>
            <a:spLocks noGrp="1"/>
          </p:cNvSpPr>
          <p:nvPr>
            <p:ph type="title"/>
          </p:nvPr>
        </p:nvSpPr>
        <p:spPr>
          <a:xfrm>
            <a:off x="838200" y="365126"/>
            <a:ext cx="10515600" cy="678484"/>
          </a:xfrm>
        </p:spPr>
        <p:txBody>
          <a:bodyPr>
            <a:normAutofit fontScale="90000"/>
          </a:bodyPr>
          <a:lstStyle/>
          <a:p>
            <a:pPr algn="ctr"/>
            <a:r>
              <a:rPr lang="en-US" dirty="0"/>
              <a:t>Convolution</a:t>
            </a:r>
          </a:p>
        </p:txBody>
      </p:sp>
      <p:pic>
        <p:nvPicPr>
          <p:cNvPr id="5" name="Picture 4">
            <a:extLst>
              <a:ext uri="{FF2B5EF4-FFF2-40B4-BE49-F238E27FC236}">
                <a16:creationId xmlns:a16="http://schemas.microsoft.com/office/drawing/2014/main" id="{5D63BFA1-36A4-4AB7-8AE6-B16DB3988E13}"/>
              </a:ext>
            </a:extLst>
          </p:cNvPr>
          <p:cNvPicPr>
            <a:picLocks noChangeAspect="1"/>
          </p:cNvPicPr>
          <p:nvPr/>
        </p:nvPicPr>
        <p:blipFill>
          <a:blip r:embed="rId2"/>
          <a:stretch>
            <a:fillRect/>
          </a:stretch>
        </p:blipFill>
        <p:spPr>
          <a:xfrm>
            <a:off x="1580322" y="1361661"/>
            <a:ext cx="5850623" cy="4164496"/>
          </a:xfrm>
          <a:prstGeom prst="rect">
            <a:avLst/>
          </a:prstGeom>
        </p:spPr>
      </p:pic>
      <p:pic>
        <p:nvPicPr>
          <p:cNvPr id="6" name="Picture 2"/>
          <p:cNvPicPr>
            <a:picLocks noChangeAspect="1" noChangeArrowheads="1"/>
          </p:cNvPicPr>
          <p:nvPr/>
        </p:nvPicPr>
        <p:blipFill>
          <a:blip r:embed="rId3"/>
          <a:srcRect/>
          <a:stretch>
            <a:fillRect/>
          </a:stretch>
        </p:blipFill>
        <p:spPr bwMode="auto">
          <a:xfrm>
            <a:off x="8183051" y="1073426"/>
            <a:ext cx="3464299" cy="2908300"/>
          </a:xfrm>
          <a:prstGeom prst="rect">
            <a:avLst/>
          </a:prstGeom>
          <a:noFill/>
          <a:ln w="9525">
            <a:noFill/>
            <a:miter lim="800000"/>
            <a:headEnd/>
            <a:tailEnd/>
          </a:ln>
          <a:effectLst/>
        </p:spPr>
      </p:pic>
    </p:spTree>
    <p:extLst>
      <p:ext uri="{BB962C8B-B14F-4D97-AF65-F5344CB8AC3E}">
        <p14:creationId xmlns:p14="http://schemas.microsoft.com/office/powerpoint/2010/main" val="31195376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D65C6-8125-4882-898E-76D737C5C90D}"/>
              </a:ext>
            </a:extLst>
          </p:cNvPr>
          <p:cNvSpPr>
            <a:spLocks noGrp="1"/>
          </p:cNvSpPr>
          <p:nvPr>
            <p:ph type="title"/>
          </p:nvPr>
        </p:nvSpPr>
        <p:spPr>
          <a:xfrm>
            <a:off x="838200" y="365125"/>
            <a:ext cx="10515600" cy="549275"/>
          </a:xfrm>
        </p:spPr>
        <p:txBody>
          <a:bodyPr>
            <a:normAutofit fontScale="90000"/>
          </a:bodyPr>
          <a:lstStyle/>
          <a:p>
            <a:pPr algn="ctr"/>
            <a:r>
              <a:rPr lang="en-US" dirty="0"/>
              <a:t>Convolution</a:t>
            </a:r>
          </a:p>
        </p:txBody>
      </p:sp>
      <p:pic>
        <p:nvPicPr>
          <p:cNvPr id="5" name="Picture 4">
            <a:extLst>
              <a:ext uri="{FF2B5EF4-FFF2-40B4-BE49-F238E27FC236}">
                <a16:creationId xmlns:a16="http://schemas.microsoft.com/office/drawing/2014/main" id="{081E0FE2-E85B-4845-8EB2-B3893DA6DDD8}"/>
              </a:ext>
            </a:extLst>
          </p:cNvPr>
          <p:cNvPicPr>
            <a:picLocks noChangeAspect="1"/>
          </p:cNvPicPr>
          <p:nvPr/>
        </p:nvPicPr>
        <p:blipFill>
          <a:blip r:embed="rId2"/>
          <a:stretch>
            <a:fillRect/>
          </a:stretch>
        </p:blipFill>
        <p:spPr>
          <a:xfrm>
            <a:off x="1668958" y="1288912"/>
            <a:ext cx="5210175" cy="4876800"/>
          </a:xfrm>
          <a:prstGeom prst="rect">
            <a:avLst/>
          </a:prstGeom>
        </p:spPr>
      </p:pic>
      <p:pic>
        <p:nvPicPr>
          <p:cNvPr id="6" name="Picture 2"/>
          <p:cNvPicPr>
            <a:picLocks noChangeAspect="1" noChangeArrowheads="1"/>
          </p:cNvPicPr>
          <p:nvPr/>
        </p:nvPicPr>
        <p:blipFill>
          <a:blip r:embed="rId3"/>
          <a:srcRect/>
          <a:stretch>
            <a:fillRect/>
          </a:stretch>
        </p:blipFill>
        <p:spPr bwMode="auto">
          <a:xfrm>
            <a:off x="7745729" y="1461052"/>
            <a:ext cx="3464299" cy="2908300"/>
          </a:xfrm>
          <a:prstGeom prst="rect">
            <a:avLst/>
          </a:prstGeom>
          <a:noFill/>
          <a:ln w="9525">
            <a:noFill/>
            <a:miter lim="800000"/>
            <a:headEnd/>
            <a:tailEnd/>
          </a:ln>
          <a:effectLst/>
        </p:spPr>
      </p:pic>
    </p:spTree>
    <p:extLst>
      <p:ext uri="{BB962C8B-B14F-4D97-AF65-F5344CB8AC3E}">
        <p14:creationId xmlns:p14="http://schemas.microsoft.com/office/powerpoint/2010/main" val="877128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673EA-DB7E-47D6-8A05-8B3C724CDDD7}"/>
              </a:ext>
            </a:extLst>
          </p:cNvPr>
          <p:cNvSpPr>
            <a:spLocks noGrp="1"/>
          </p:cNvSpPr>
          <p:nvPr>
            <p:ph type="title"/>
          </p:nvPr>
        </p:nvSpPr>
        <p:spPr>
          <a:xfrm>
            <a:off x="838200" y="365126"/>
            <a:ext cx="10515600" cy="787814"/>
          </a:xfrm>
        </p:spPr>
        <p:txBody>
          <a:bodyPr/>
          <a:lstStyle/>
          <a:p>
            <a:pPr algn="ctr"/>
            <a:r>
              <a:rPr lang="en-US" dirty="0"/>
              <a:t>Convolution</a:t>
            </a:r>
          </a:p>
        </p:txBody>
      </p:sp>
      <p:pic>
        <p:nvPicPr>
          <p:cNvPr id="5" name="Picture 4">
            <a:extLst>
              <a:ext uri="{FF2B5EF4-FFF2-40B4-BE49-F238E27FC236}">
                <a16:creationId xmlns:a16="http://schemas.microsoft.com/office/drawing/2014/main" id="{DAC3F6D4-3327-4C16-9B68-F5F19824F374}"/>
              </a:ext>
            </a:extLst>
          </p:cNvPr>
          <p:cNvPicPr>
            <a:picLocks noChangeAspect="1"/>
          </p:cNvPicPr>
          <p:nvPr/>
        </p:nvPicPr>
        <p:blipFill>
          <a:blip r:embed="rId2"/>
          <a:stretch>
            <a:fillRect/>
          </a:stretch>
        </p:blipFill>
        <p:spPr>
          <a:xfrm>
            <a:off x="2070652" y="1219338"/>
            <a:ext cx="5172075" cy="4762500"/>
          </a:xfrm>
          <a:prstGeom prst="rect">
            <a:avLst/>
          </a:prstGeom>
        </p:spPr>
      </p:pic>
      <p:pic>
        <p:nvPicPr>
          <p:cNvPr id="6" name="Picture 2"/>
          <p:cNvPicPr>
            <a:picLocks noChangeAspect="1" noChangeArrowheads="1"/>
          </p:cNvPicPr>
          <p:nvPr/>
        </p:nvPicPr>
        <p:blipFill>
          <a:blip r:embed="rId3"/>
          <a:srcRect/>
          <a:stretch>
            <a:fillRect/>
          </a:stretch>
        </p:blipFill>
        <p:spPr bwMode="auto">
          <a:xfrm>
            <a:off x="7745729" y="1461052"/>
            <a:ext cx="3464299" cy="2908300"/>
          </a:xfrm>
          <a:prstGeom prst="rect">
            <a:avLst/>
          </a:prstGeom>
          <a:noFill/>
          <a:ln w="9525">
            <a:noFill/>
            <a:miter lim="800000"/>
            <a:headEnd/>
            <a:tailEnd/>
          </a:ln>
          <a:effectLst/>
        </p:spPr>
      </p:pic>
    </p:spTree>
    <p:extLst>
      <p:ext uri="{BB962C8B-B14F-4D97-AF65-F5344CB8AC3E}">
        <p14:creationId xmlns:p14="http://schemas.microsoft.com/office/powerpoint/2010/main" val="6723348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2F8E1-C0AF-4140-8F20-B54D893C0EDB}"/>
              </a:ext>
            </a:extLst>
          </p:cNvPr>
          <p:cNvSpPr>
            <a:spLocks noGrp="1"/>
          </p:cNvSpPr>
          <p:nvPr>
            <p:ph type="title"/>
          </p:nvPr>
        </p:nvSpPr>
        <p:spPr>
          <a:xfrm>
            <a:off x="838200" y="365126"/>
            <a:ext cx="10515600" cy="718240"/>
          </a:xfrm>
        </p:spPr>
        <p:txBody>
          <a:bodyPr/>
          <a:lstStyle/>
          <a:p>
            <a:pPr algn="ctr"/>
            <a:r>
              <a:rPr lang="en-US" dirty="0"/>
              <a:t>Convolution</a:t>
            </a:r>
          </a:p>
        </p:txBody>
      </p:sp>
      <p:pic>
        <p:nvPicPr>
          <p:cNvPr id="5" name="Picture 4">
            <a:extLst>
              <a:ext uri="{FF2B5EF4-FFF2-40B4-BE49-F238E27FC236}">
                <a16:creationId xmlns:a16="http://schemas.microsoft.com/office/drawing/2014/main" id="{A0750224-9E35-4983-AF0D-ADB6C89C6443}"/>
              </a:ext>
            </a:extLst>
          </p:cNvPr>
          <p:cNvPicPr>
            <a:picLocks noChangeAspect="1"/>
          </p:cNvPicPr>
          <p:nvPr/>
        </p:nvPicPr>
        <p:blipFill>
          <a:blip r:embed="rId2"/>
          <a:stretch>
            <a:fillRect/>
          </a:stretch>
        </p:blipFill>
        <p:spPr>
          <a:xfrm>
            <a:off x="1764221" y="1418120"/>
            <a:ext cx="5219700" cy="4857750"/>
          </a:xfrm>
          <a:prstGeom prst="rect">
            <a:avLst/>
          </a:prstGeom>
        </p:spPr>
      </p:pic>
      <p:pic>
        <p:nvPicPr>
          <p:cNvPr id="6" name="Picture 2"/>
          <p:cNvPicPr>
            <a:picLocks noChangeAspect="1" noChangeArrowheads="1"/>
          </p:cNvPicPr>
          <p:nvPr/>
        </p:nvPicPr>
        <p:blipFill>
          <a:blip r:embed="rId3"/>
          <a:srcRect/>
          <a:stretch>
            <a:fillRect/>
          </a:stretch>
        </p:blipFill>
        <p:spPr bwMode="auto">
          <a:xfrm>
            <a:off x="7606581" y="1878495"/>
            <a:ext cx="3464299" cy="2908300"/>
          </a:xfrm>
          <a:prstGeom prst="rect">
            <a:avLst/>
          </a:prstGeom>
          <a:noFill/>
          <a:ln w="9525">
            <a:noFill/>
            <a:miter lim="800000"/>
            <a:headEnd/>
            <a:tailEnd/>
          </a:ln>
          <a:effectLst/>
        </p:spPr>
      </p:pic>
    </p:spTree>
    <p:extLst>
      <p:ext uri="{BB962C8B-B14F-4D97-AF65-F5344CB8AC3E}">
        <p14:creationId xmlns:p14="http://schemas.microsoft.com/office/powerpoint/2010/main" val="18593333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84971-249F-4547-94B5-53A5F94493F4}"/>
              </a:ext>
            </a:extLst>
          </p:cNvPr>
          <p:cNvSpPr>
            <a:spLocks noGrp="1"/>
          </p:cNvSpPr>
          <p:nvPr>
            <p:ph type="title"/>
          </p:nvPr>
        </p:nvSpPr>
        <p:spPr>
          <a:xfrm>
            <a:off x="838200" y="365125"/>
            <a:ext cx="10515600" cy="549275"/>
          </a:xfrm>
        </p:spPr>
        <p:txBody>
          <a:bodyPr>
            <a:normAutofit fontScale="90000"/>
          </a:bodyPr>
          <a:lstStyle/>
          <a:p>
            <a:pPr algn="ctr"/>
            <a:r>
              <a:rPr lang="en-US" dirty="0"/>
              <a:t>Convolution</a:t>
            </a:r>
          </a:p>
        </p:txBody>
      </p:sp>
      <p:pic>
        <p:nvPicPr>
          <p:cNvPr id="5" name="Picture 4">
            <a:extLst>
              <a:ext uri="{FF2B5EF4-FFF2-40B4-BE49-F238E27FC236}">
                <a16:creationId xmlns:a16="http://schemas.microsoft.com/office/drawing/2014/main" id="{4F9BA91F-09C4-473B-8370-C2C43EAE7D3E}"/>
              </a:ext>
            </a:extLst>
          </p:cNvPr>
          <p:cNvPicPr>
            <a:picLocks noChangeAspect="1"/>
          </p:cNvPicPr>
          <p:nvPr/>
        </p:nvPicPr>
        <p:blipFill>
          <a:blip r:embed="rId2"/>
          <a:stretch>
            <a:fillRect/>
          </a:stretch>
        </p:blipFill>
        <p:spPr>
          <a:xfrm>
            <a:off x="2134416" y="1199460"/>
            <a:ext cx="5124450" cy="4781550"/>
          </a:xfrm>
          <a:prstGeom prst="rect">
            <a:avLst/>
          </a:prstGeom>
        </p:spPr>
      </p:pic>
      <p:pic>
        <p:nvPicPr>
          <p:cNvPr id="6" name="Picture 2"/>
          <p:cNvPicPr>
            <a:picLocks noChangeAspect="1" noChangeArrowheads="1"/>
          </p:cNvPicPr>
          <p:nvPr/>
        </p:nvPicPr>
        <p:blipFill>
          <a:blip r:embed="rId3"/>
          <a:srcRect/>
          <a:stretch>
            <a:fillRect/>
          </a:stretch>
        </p:blipFill>
        <p:spPr bwMode="auto">
          <a:xfrm>
            <a:off x="7853734" y="321081"/>
            <a:ext cx="3464299" cy="2908300"/>
          </a:xfrm>
          <a:prstGeom prst="rect">
            <a:avLst/>
          </a:prstGeom>
          <a:noFill/>
          <a:ln w="9525">
            <a:noFill/>
            <a:miter lim="800000"/>
            <a:headEnd/>
            <a:tailEnd/>
          </a:ln>
          <a:effectLst/>
        </p:spPr>
      </p:pic>
      <p:sp>
        <p:nvSpPr>
          <p:cNvPr id="7" name="TextBox 6"/>
          <p:cNvSpPr txBox="1"/>
          <p:nvPr/>
        </p:nvSpPr>
        <p:spPr>
          <a:xfrm>
            <a:off x="7960014" y="3305849"/>
            <a:ext cx="3429000" cy="3046988"/>
          </a:xfrm>
          <a:prstGeom prst="rect">
            <a:avLst/>
          </a:prstGeom>
          <a:noFill/>
        </p:spPr>
        <p:txBody>
          <a:bodyPr wrap="square" rtlCol="0">
            <a:spAutoFit/>
          </a:bodyPr>
          <a:lstStyle/>
          <a:p>
            <a:pPr>
              <a:buFont typeface="Arial" pitchFamily="34" charset="0"/>
              <a:buChar char="•"/>
            </a:pPr>
            <a:r>
              <a:rPr lang="en-US" dirty="0"/>
              <a:t> </a:t>
            </a:r>
            <a:r>
              <a:rPr lang="en-US" sz="2400" dirty="0"/>
              <a:t>From an image of size  3× 4, we obtain a feature map of size 2 × 3</a:t>
            </a:r>
          </a:p>
          <a:p>
            <a:pPr>
              <a:buFont typeface="Arial" pitchFamily="34" charset="0"/>
              <a:buChar char="•"/>
            </a:pPr>
            <a:r>
              <a:rPr lang="en-US" sz="2400" dirty="0"/>
              <a:t>To get the feature map of same size, we need to add one extra row and one extra column in the image, called padding</a:t>
            </a:r>
          </a:p>
        </p:txBody>
      </p:sp>
    </p:spTree>
    <p:extLst>
      <p:ext uri="{BB962C8B-B14F-4D97-AF65-F5344CB8AC3E}">
        <p14:creationId xmlns:p14="http://schemas.microsoft.com/office/powerpoint/2010/main" val="18912102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370371"/>
          </a:xfrm>
        </p:spPr>
        <p:txBody>
          <a:bodyPr>
            <a:normAutofit fontScale="90000"/>
          </a:bodyPr>
          <a:lstStyle/>
          <a:p>
            <a:pPr algn="ctr"/>
            <a:r>
              <a:rPr lang="en-US" dirty="0"/>
              <a:t>Padding</a:t>
            </a:r>
          </a:p>
        </p:txBody>
      </p:sp>
      <p:sp>
        <p:nvSpPr>
          <p:cNvPr id="3" name="Content Placeholder 2"/>
          <p:cNvSpPr>
            <a:spLocks noGrp="1"/>
          </p:cNvSpPr>
          <p:nvPr>
            <p:ph idx="1"/>
          </p:nvPr>
        </p:nvSpPr>
        <p:spPr>
          <a:xfrm>
            <a:off x="838200" y="1103243"/>
            <a:ext cx="7431157" cy="5257800"/>
          </a:xfrm>
        </p:spPr>
        <p:txBody>
          <a:bodyPr>
            <a:normAutofit fontScale="77500" lnSpcReduction="20000"/>
          </a:bodyPr>
          <a:lstStyle/>
          <a:p>
            <a:r>
              <a:rPr lang="en-IN" dirty="0"/>
              <a:t> If top left one is the pixel of interest, then we must have to place the filter as shown in the figure.  In this case, padding is necessary. </a:t>
            </a:r>
          </a:p>
          <a:p>
            <a:pPr>
              <a:buNone/>
            </a:pPr>
            <a:r>
              <a:rPr lang="en-IN" b="1" dirty="0"/>
              <a:t> </a:t>
            </a:r>
            <a:endParaRPr lang="en-US" b="1" dirty="0"/>
          </a:p>
          <a:p>
            <a:pPr>
              <a:buNone/>
            </a:pPr>
            <a:r>
              <a:rPr lang="en-US" b="1" dirty="0"/>
              <a:t>1. Valid Padding</a:t>
            </a:r>
            <a:r>
              <a:rPr lang="en-US" dirty="0"/>
              <a:t>:</a:t>
            </a:r>
          </a:p>
          <a:p>
            <a:r>
              <a:rPr lang="en-US" dirty="0"/>
              <a:t>No padding is applied. The convolution operation is only applied to valid positions where the kernel fits within the input dimensions.</a:t>
            </a:r>
          </a:p>
          <a:p>
            <a:r>
              <a:rPr lang="en-US" b="1" dirty="0"/>
              <a:t>Effect</a:t>
            </a:r>
            <a:r>
              <a:rPr lang="en-US" dirty="0"/>
              <a:t>: Reduces the spatial dimensions of the output. For example, a 5×5 input with a 3×3 kernel will produce a 3×3 output.</a:t>
            </a:r>
          </a:p>
          <a:p>
            <a:pPr>
              <a:buNone/>
            </a:pPr>
            <a:r>
              <a:rPr lang="en-IN" dirty="0"/>
              <a:t>2. </a:t>
            </a:r>
            <a:r>
              <a:rPr lang="en-US" b="1" dirty="0"/>
              <a:t>Same Padding</a:t>
            </a:r>
            <a:r>
              <a:rPr lang="en-US" dirty="0"/>
              <a:t>:</a:t>
            </a:r>
          </a:p>
          <a:p>
            <a:r>
              <a:rPr lang="en-US" dirty="0"/>
              <a:t>Padding is applied such that the output dimensions are the same as the input dimensions. This is achieved by adding a sufficient number of zeroes around the input.</a:t>
            </a:r>
          </a:p>
          <a:p>
            <a:r>
              <a:rPr lang="en-US" b="1" dirty="0"/>
              <a:t>Effect</a:t>
            </a:r>
            <a:r>
              <a:rPr lang="en-US" dirty="0"/>
              <a:t>: Preserves the spatial dimensions. For example, a 5×5 input with a 3×3 kernel will produce a 5×5 output.</a:t>
            </a:r>
          </a:p>
          <a:p>
            <a:pPr>
              <a:buNone/>
            </a:pPr>
            <a:endParaRPr lang="en-US" dirty="0"/>
          </a:p>
          <a:p>
            <a:endParaRPr lang="en-US" dirty="0"/>
          </a:p>
        </p:txBody>
      </p:sp>
      <p:pic>
        <p:nvPicPr>
          <p:cNvPr id="4" name="Picture 3">
            <a:extLst>
              <a:ext uri="{FF2B5EF4-FFF2-40B4-BE49-F238E27FC236}">
                <a16:creationId xmlns:a16="http://schemas.microsoft.com/office/drawing/2014/main" id="{998244A9-BCED-4997-ACD8-DC2DBB614FC3}"/>
              </a:ext>
            </a:extLst>
          </p:cNvPr>
          <p:cNvPicPr>
            <a:picLocks noChangeAspect="1"/>
          </p:cNvPicPr>
          <p:nvPr/>
        </p:nvPicPr>
        <p:blipFill>
          <a:blip r:embed="rId2"/>
          <a:stretch>
            <a:fillRect/>
          </a:stretch>
        </p:blipFill>
        <p:spPr>
          <a:xfrm>
            <a:off x="8253144" y="1431235"/>
            <a:ext cx="3586194" cy="389248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8545"/>
          </a:xfrm>
        </p:spPr>
        <p:txBody>
          <a:bodyPr>
            <a:normAutofit fontScale="90000"/>
          </a:bodyPr>
          <a:lstStyle/>
          <a:p>
            <a:pPr algn="ctr"/>
            <a:r>
              <a:rPr lang="en-IN" dirty="0"/>
              <a:t>Padding</a:t>
            </a:r>
            <a:endParaRPr lang="en-US" dirty="0"/>
          </a:p>
        </p:txBody>
      </p:sp>
      <p:sp>
        <p:nvSpPr>
          <p:cNvPr id="3" name="Content Placeholder 2"/>
          <p:cNvSpPr>
            <a:spLocks noGrp="1"/>
          </p:cNvSpPr>
          <p:nvPr>
            <p:ph idx="1"/>
          </p:nvPr>
        </p:nvSpPr>
        <p:spPr>
          <a:xfrm>
            <a:off x="838200" y="1103243"/>
            <a:ext cx="10515600" cy="5073720"/>
          </a:xfrm>
        </p:spPr>
        <p:txBody>
          <a:bodyPr/>
          <a:lstStyle/>
          <a:p>
            <a:r>
              <a:rPr lang="en-US" dirty="0"/>
              <a:t>Padding is a technique used in </a:t>
            </a:r>
            <a:r>
              <a:rPr lang="en-US" dirty="0" err="1"/>
              <a:t>convolutional</a:t>
            </a:r>
            <a:r>
              <a:rPr lang="en-US" dirty="0"/>
              <a:t> neural networks (CNNs) and other neural network architectures to manage the spatial dimensions of input data during the convolution operation. </a:t>
            </a:r>
          </a:p>
          <a:p>
            <a:r>
              <a:rPr lang="en-US" dirty="0"/>
              <a:t>Padding involves adding extra pixels (usually zeros) around the </a:t>
            </a:r>
            <a:r>
              <a:rPr lang="en-US" dirty="0">
                <a:solidFill>
                  <a:srgbClr val="FF0000"/>
                </a:solidFill>
              </a:rPr>
              <a:t>edges</a:t>
            </a:r>
            <a:r>
              <a:rPr lang="en-US" dirty="0"/>
              <a:t> </a:t>
            </a:r>
            <a:r>
              <a:rPr lang="en-US" dirty="0">
                <a:solidFill>
                  <a:srgbClr val="FF0000"/>
                </a:solidFill>
              </a:rPr>
              <a:t>of the </a:t>
            </a:r>
            <a:r>
              <a:rPr lang="en-US" dirty="0"/>
              <a:t>input data (e.g., </a:t>
            </a:r>
            <a:r>
              <a:rPr lang="en-US" dirty="0">
                <a:solidFill>
                  <a:srgbClr val="FF0000"/>
                </a:solidFill>
              </a:rPr>
              <a:t>images</a:t>
            </a:r>
            <a:r>
              <a:rPr lang="en-US" dirty="0"/>
              <a:t>) before applying the convolution operation. </a:t>
            </a:r>
          </a:p>
          <a:p>
            <a:r>
              <a:rPr lang="en-US" dirty="0"/>
              <a:t>This extra border of pixels helps in controlling the output size and maintaining </a:t>
            </a:r>
            <a:r>
              <a:rPr lang="en-US" dirty="0">
                <a:solidFill>
                  <a:srgbClr val="FF0000"/>
                </a:solidFill>
              </a:rPr>
              <a:t>important features at the edges </a:t>
            </a:r>
            <a:r>
              <a:rPr lang="en-US" dirty="0"/>
              <a:t>of the input.</a:t>
            </a:r>
          </a:p>
          <a:p>
            <a:r>
              <a:rPr lang="en-US" dirty="0"/>
              <a:t>Choosing the right type of padding depends on the specific requirements of the neural network architecture and the task at hand.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39336"/>
          </a:xfrm>
        </p:spPr>
        <p:txBody>
          <a:bodyPr>
            <a:normAutofit fontScale="90000"/>
          </a:bodyPr>
          <a:lstStyle/>
          <a:p>
            <a:pPr algn="ctr"/>
            <a:r>
              <a:rPr lang="en-US" b="1" dirty="0"/>
              <a:t>When is Padding Required?</a:t>
            </a:r>
            <a:endParaRPr lang="en-US" dirty="0"/>
          </a:p>
        </p:txBody>
      </p:sp>
      <p:sp>
        <p:nvSpPr>
          <p:cNvPr id="3" name="Content Placeholder 2"/>
          <p:cNvSpPr>
            <a:spLocks noGrp="1"/>
          </p:cNvSpPr>
          <p:nvPr>
            <p:ph idx="1"/>
          </p:nvPr>
        </p:nvSpPr>
        <p:spPr>
          <a:xfrm>
            <a:off x="838200" y="1043609"/>
            <a:ext cx="10515600" cy="5133354"/>
          </a:xfrm>
        </p:spPr>
        <p:txBody>
          <a:bodyPr>
            <a:normAutofit lnSpcReduction="10000"/>
          </a:bodyPr>
          <a:lstStyle/>
          <a:p>
            <a:pPr>
              <a:buNone/>
            </a:pPr>
            <a:r>
              <a:rPr lang="en-US" b="1" dirty="0"/>
              <a:t>1. Preserving Dimensions</a:t>
            </a:r>
            <a:r>
              <a:rPr lang="en-US" dirty="0"/>
              <a:t>: When we want the output size to match the input size, especially in tasks like segmentation or when stacking multiple layers of convolutions.</a:t>
            </a:r>
          </a:p>
          <a:p>
            <a:pPr>
              <a:buNone/>
            </a:pPr>
            <a:r>
              <a:rPr lang="en-US" b="1" dirty="0"/>
              <a:t>2. Edge Features</a:t>
            </a:r>
            <a:r>
              <a:rPr lang="en-US" dirty="0"/>
              <a:t>: To ensure that features near the edges of the input are effectively captured. Without padding, convolutions near the edges can miss relevant information.</a:t>
            </a:r>
          </a:p>
          <a:p>
            <a:pPr>
              <a:buNone/>
            </a:pPr>
            <a:r>
              <a:rPr lang="en-US" b="1" dirty="0"/>
              <a:t>3. Reducing Spatial Shrinkage</a:t>
            </a:r>
            <a:r>
              <a:rPr lang="en-US" dirty="0"/>
              <a:t>: In deeper networks, successive convolutions without padding can lead to significant reductions in spatial dimensions, which can make it difficult to maintain meaningful representations.</a:t>
            </a:r>
          </a:p>
          <a:p>
            <a:pPr>
              <a:buNone/>
            </a:pPr>
            <a:r>
              <a:rPr lang="en-US" b="1" dirty="0"/>
              <a:t>4. Improving Network Performance</a:t>
            </a:r>
            <a:r>
              <a:rPr lang="en-US" dirty="0"/>
              <a:t>: Padding can help in stabilizing the learning process and improving the overall performance of the model by providing more context around the edges of the input data.</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8545"/>
          </a:xfrm>
        </p:spPr>
        <p:txBody>
          <a:bodyPr>
            <a:normAutofit fontScale="90000"/>
          </a:bodyPr>
          <a:lstStyle/>
          <a:p>
            <a:pPr algn="ctr"/>
            <a:r>
              <a:rPr lang="en-IN" dirty="0"/>
              <a:t>Kernel / Filter</a:t>
            </a:r>
            <a:endParaRPr lang="en-US" dirty="0"/>
          </a:p>
        </p:txBody>
      </p:sp>
      <p:sp>
        <p:nvSpPr>
          <p:cNvPr id="3" name="Content Placeholder 2"/>
          <p:cNvSpPr>
            <a:spLocks noGrp="1"/>
          </p:cNvSpPr>
          <p:nvPr>
            <p:ph idx="1"/>
          </p:nvPr>
        </p:nvSpPr>
        <p:spPr>
          <a:xfrm>
            <a:off x="838200" y="1103243"/>
            <a:ext cx="10515600" cy="5073720"/>
          </a:xfrm>
        </p:spPr>
        <p:txBody>
          <a:bodyPr/>
          <a:lstStyle/>
          <a:p>
            <a:r>
              <a:rPr lang="en-US" dirty="0"/>
              <a:t>In a </a:t>
            </a:r>
            <a:r>
              <a:rPr lang="en-US" dirty="0" err="1"/>
              <a:t>convolutional</a:t>
            </a:r>
            <a:r>
              <a:rPr lang="en-US" dirty="0"/>
              <a:t> neural network (CNN), a kernel, also known as a filter, is a small matrix used to scan over the input data (such as an image) to detect features. </a:t>
            </a:r>
          </a:p>
          <a:p>
            <a:r>
              <a:rPr lang="en-US" b="1" dirty="0"/>
              <a:t>Size</a:t>
            </a:r>
            <a:r>
              <a:rPr lang="en-US" dirty="0"/>
              <a:t>: Kernels are usually smaller than the input data. Common sizes are 3x3, 5x5, or 7x7 pixels. </a:t>
            </a:r>
          </a:p>
          <a:p>
            <a:r>
              <a:rPr lang="en-US" b="1" dirty="0"/>
              <a:t>Feature Detection</a:t>
            </a:r>
            <a:r>
              <a:rPr lang="en-US" dirty="0"/>
              <a:t>: Different kernels can be trained to detect various features such as edges, textures, or patterns. Early layers in a CNN typically learn simple features, while deeper layers learn more complex representations.</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59214"/>
          </a:xfrm>
        </p:spPr>
        <p:txBody>
          <a:bodyPr>
            <a:normAutofit fontScale="90000"/>
          </a:bodyPr>
          <a:lstStyle/>
          <a:p>
            <a:pPr algn="ctr"/>
            <a:r>
              <a:rPr lang="en-IN" dirty="0"/>
              <a:t>Kernel / Filter</a:t>
            </a:r>
            <a:endParaRPr lang="en-US" dirty="0"/>
          </a:p>
        </p:txBody>
      </p:sp>
      <p:sp>
        <p:nvSpPr>
          <p:cNvPr id="3" name="Content Placeholder 2"/>
          <p:cNvSpPr>
            <a:spLocks noGrp="1"/>
          </p:cNvSpPr>
          <p:nvPr>
            <p:ph idx="1"/>
          </p:nvPr>
        </p:nvSpPr>
        <p:spPr>
          <a:xfrm>
            <a:off x="838200" y="1043609"/>
            <a:ext cx="10515600" cy="5133354"/>
          </a:xfrm>
        </p:spPr>
        <p:txBody>
          <a:bodyPr>
            <a:normAutofit lnSpcReduction="10000"/>
          </a:bodyPr>
          <a:lstStyle/>
          <a:p>
            <a:r>
              <a:rPr lang="en-US" b="1" dirty="0"/>
              <a:t>Stride</a:t>
            </a:r>
            <a:r>
              <a:rPr lang="en-US" dirty="0"/>
              <a:t>: This parameter determines how many pixels the kernel moves after each operation. A larger stride results in a smaller output size.</a:t>
            </a:r>
          </a:p>
          <a:p>
            <a:r>
              <a:rPr lang="en-US" b="1" dirty="0"/>
              <a:t>Padding</a:t>
            </a:r>
            <a:r>
              <a:rPr lang="en-US" dirty="0"/>
              <a:t>: Sometimes, zeroes are added around the input data to control the spatial size of the output. This helps in preserving the dimensions and preventing loss of important information at the borders.</a:t>
            </a:r>
          </a:p>
          <a:p>
            <a:r>
              <a:rPr lang="en-US" b="1" dirty="0"/>
              <a:t>Multiple Kernels</a:t>
            </a:r>
            <a:r>
              <a:rPr lang="en-US" dirty="0"/>
              <a:t>: Each </a:t>
            </a:r>
            <a:r>
              <a:rPr lang="en-US" dirty="0" err="1"/>
              <a:t>convolutional</a:t>
            </a:r>
            <a:r>
              <a:rPr lang="en-US" dirty="0"/>
              <a:t> layer can have multiple kernels, allowing the layer </a:t>
            </a:r>
            <a:r>
              <a:rPr lang="en-US" dirty="0">
                <a:solidFill>
                  <a:srgbClr val="FF0000"/>
                </a:solidFill>
              </a:rPr>
              <a:t>to learn a variety of features </a:t>
            </a:r>
            <a:r>
              <a:rPr lang="en-US" dirty="0"/>
              <a:t>from the input.</a:t>
            </a:r>
          </a:p>
          <a:p>
            <a:r>
              <a:rPr lang="en-US" dirty="0"/>
              <a:t>Overall, kernels are fundamental to how CNNs process data, enabling them to learn hierarchical representations effectively. </a:t>
            </a:r>
          </a:p>
          <a:p>
            <a:r>
              <a:rPr lang="en-US" dirty="0"/>
              <a:t>Different types of kernels can serve various purposes depending on the specific application.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D5B43-4E66-4644-A67F-ED85C74D5F51}"/>
              </a:ext>
            </a:extLst>
          </p:cNvPr>
          <p:cNvSpPr>
            <a:spLocks noGrp="1"/>
          </p:cNvSpPr>
          <p:nvPr>
            <p:ph type="title"/>
          </p:nvPr>
        </p:nvSpPr>
        <p:spPr>
          <a:xfrm>
            <a:off x="838200" y="365126"/>
            <a:ext cx="10515600" cy="748058"/>
          </a:xfrm>
        </p:spPr>
        <p:txBody>
          <a:bodyPr/>
          <a:lstStyle/>
          <a:p>
            <a:pPr algn="ctr"/>
            <a:r>
              <a:rPr lang="en-IN" dirty="0"/>
              <a:t>Edge Detection Kernel </a:t>
            </a:r>
            <a:endParaRPr lang="en-US" dirty="0"/>
          </a:p>
        </p:txBody>
      </p:sp>
      <p:pic>
        <p:nvPicPr>
          <p:cNvPr id="3075" name="Picture 3"/>
          <p:cNvPicPr>
            <a:picLocks noChangeAspect="1" noChangeArrowheads="1"/>
          </p:cNvPicPr>
          <p:nvPr/>
        </p:nvPicPr>
        <p:blipFill>
          <a:blip r:embed="rId2"/>
          <a:srcRect/>
          <a:stretch>
            <a:fillRect/>
          </a:stretch>
        </p:blipFill>
        <p:spPr bwMode="auto">
          <a:xfrm>
            <a:off x="515938" y="1089162"/>
            <a:ext cx="11163300" cy="4838700"/>
          </a:xfrm>
          <a:prstGeom prst="rect">
            <a:avLst/>
          </a:prstGeom>
          <a:noFill/>
          <a:ln w="9525">
            <a:noFill/>
            <a:miter lim="800000"/>
            <a:headEnd/>
            <a:tailEnd/>
          </a:ln>
          <a:effectLst/>
        </p:spPr>
      </p:pic>
      <p:sp>
        <p:nvSpPr>
          <p:cNvPr id="4" name="TextBox 3"/>
          <p:cNvSpPr txBox="1"/>
          <p:nvPr/>
        </p:nvSpPr>
        <p:spPr>
          <a:xfrm>
            <a:off x="7883267" y="2583801"/>
            <a:ext cx="3542574" cy="1384995"/>
          </a:xfrm>
          <a:prstGeom prst="rect">
            <a:avLst/>
          </a:prstGeom>
          <a:noFill/>
        </p:spPr>
        <p:txBody>
          <a:bodyPr wrap="square" rtlCol="0">
            <a:spAutoFit/>
          </a:bodyPr>
          <a:lstStyle/>
          <a:p>
            <a:pPr>
              <a:buFont typeface="Arial" pitchFamily="34" charset="0"/>
              <a:buChar char="•"/>
            </a:pPr>
            <a:r>
              <a:rPr lang="en-US" sz="2800" dirty="0"/>
              <a:t> It computes gradients in horizontal and vertical direction</a:t>
            </a:r>
          </a:p>
        </p:txBody>
      </p:sp>
    </p:spTree>
    <p:extLst>
      <p:ext uri="{BB962C8B-B14F-4D97-AF65-F5344CB8AC3E}">
        <p14:creationId xmlns:p14="http://schemas.microsoft.com/office/powerpoint/2010/main" val="20762259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29397"/>
          </a:xfrm>
        </p:spPr>
        <p:txBody>
          <a:bodyPr>
            <a:normAutofit fontScale="90000"/>
          </a:bodyPr>
          <a:lstStyle/>
          <a:p>
            <a:pPr algn="ctr"/>
            <a:r>
              <a:rPr lang="en-US" dirty="0"/>
              <a:t>Canny Edge Detector</a:t>
            </a:r>
          </a:p>
        </p:txBody>
      </p:sp>
      <p:sp>
        <p:nvSpPr>
          <p:cNvPr id="3" name="Content Placeholder 2"/>
          <p:cNvSpPr>
            <a:spLocks noGrp="1"/>
          </p:cNvSpPr>
          <p:nvPr>
            <p:ph idx="1"/>
          </p:nvPr>
        </p:nvSpPr>
        <p:spPr>
          <a:xfrm>
            <a:off x="838200" y="914400"/>
            <a:ext cx="10515600" cy="5262563"/>
          </a:xfrm>
        </p:spPr>
        <p:txBody>
          <a:bodyPr/>
          <a:lstStyle/>
          <a:p>
            <a:r>
              <a:rPr lang="en-US" dirty="0"/>
              <a:t>The Canny edge detector doesn't rely on a single kernel like the </a:t>
            </a:r>
            <a:r>
              <a:rPr lang="en-US" dirty="0" err="1"/>
              <a:t>Sobel</a:t>
            </a:r>
            <a:r>
              <a:rPr lang="en-US" dirty="0"/>
              <a:t> operator. </a:t>
            </a:r>
          </a:p>
          <a:p>
            <a:r>
              <a:rPr lang="en-US" dirty="0"/>
              <a:t>Instead, it uses a series of steps, including the application of Gaussian filters for smoothing, followed by gradient computation, non-maximum suppression, and hysteresis </a:t>
            </a:r>
            <a:r>
              <a:rPr lang="en-US" dirty="0" err="1"/>
              <a:t>thresholding</a:t>
            </a:r>
            <a:r>
              <a:rPr lang="en-US" dirty="0"/>
              <a:t>. </a:t>
            </a:r>
          </a:p>
          <a:p>
            <a:r>
              <a:rPr lang="en-US" dirty="0"/>
              <a:t>However, the gradient computation often involves using derivatives, and the commonly used kernels for this step are:</a:t>
            </a:r>
          </a:p>
        </p:txBody>
      </p:sp>
      <p:pic>
        <p:nvPicPr>
          <p:cNvPr id="1026" name="Picture 2"/>
          <p:cNvPicPr>
            <a:picLocks noChangeAspect="1" noChangeArrowheads="1"/>
          </p:cNvPicPr>
          <p:nvPr/>
        </p:nvPicPr>
        <p:blipFill>
          <a:blip r:embed="rId2"/>
          <a:srcRect/>
          <a:stretch>
            <a:fillRect/>
          </a:stretch>
        </p:blipFill>
        <p:spPr bwMode="auto">
          <a:xfrm>
            <a:off x="773733" y="4131573"/>
            <a:ext cx="10448925" cy="1457325"/>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20066"/>
          </a:xfrm>
        </p:spPr>
        <p:txBody>
          <a:bodyPr>
            <a:normAutofit fontScale="90000"/>
          </a:bodyPr>
          <a:lstStyle/>
          <a:p>
            <a:pPr algn="ctr"/>
            <a:r>
              <a:rPr lang="en-US" dirty="0"/>
              <a:t>Canny Edge Detector</a:t>
            </a:r>
          </a:p>
        </p:txBody>
      </p:sp>
      <p:pic>
        <p:nvPicPr>
          <p:cNvPr id="2050" name="Picture 2"/>
          <p:cNvPicPr>
            <a:picLocks noChangeAspect="1" noChangeArrowheads="1"/>
          </p:cNvPicPr>
          <p:nvPr/>
        </p:nvPicPr>
        <p:blipFill>
          <a:blip r:embed="rId2"/>
          <a:srcRect/>
          <a:stretch>
            <a:fillRect/>
          </a:stretch>
        </p:blipFill>
        <p:spPr bwMode="auto">
          <a:xfrm>
            <a:off x="807488" y="806107"/>
            <a:ext cx="9752450" cy="4203215"/>
          </a:xfrm>
          <a:prstGeom prst="rect">
            <a:avLst/>
          </a:prstGeom>
          <a:noFill/>
          <a:ln w="9525">
            <a:noFill/>
            <a:miter lim="800000"/>
            <a:headEnd/>
            <a:tailEnd/>
          </a:ln>
          <a:effectLst/>
        </p:spPr>
      </p:pic>
      <p:sp>
        <p:nvSpPr>
          <p:cNvPr id="2051" name="Rectangle 3"/>
          <p:cNvSpPr>
            <a:spLocks noChangeArrowheads="1"/>
          </p:cNvSpPr>
          <p:nvPr/>
        </p:nvSpPr>
        <p:spPr bwMode="auto">
          <a:xfrm>
            <a:off x="410297" y="5017810"/>
            <a:ext cx="11096090" cy="147732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Char char="•"/>
              <a:tabLst/>
            </a:pPr>
            <a:r>
              <a:rPr kumimoji="0" lang="en-US" sz="1800" b="0" i="0" u="none" strike="noStrike" cap="none" normalizeH="0" baseline="0" dirty="0">
                <a:ln>
                  <a:noFill/>
                </a:ln>
                <a:solidFill>
                  <a:schemeClr val="tx1"/>
                </a:solidFill>
                <a:effectLst/>
                <a:latin typeface="Arial" charset="0"/>
                <a:cs typeface="Arial" charset="0"/>
              </a:rPr>
              <a:t> </a:t>
            </a:r>
            <a:r>
              <a:rPr kumimoji="0" lang="en-US" sz="2400" b="0" i="0" u="none" strike="noStrike" cap="none" normalizeH="0" baseline="0" dirty="0">
                <a:ln>
                  <a:noFill/>
                </a:ln>
                <a:solidFill>
                  <a:schemeClr val="tx1"/>
                </a:solidFill>
                <a:effectLst/>
                <a:latin typeface="Arial" charset="0"/>
                <a:cs typeface="Arial" charset="0"/>
              </a:rPr>
              <a:t>In summary, while Canny edge detection doesn’t use a single kernel as in other methods, it employs Gaussian smoothing and gradient kernels to effectively identify edges.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cs typeface="Arial"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38727"/>
          </a:xfrm>
        </p:spPr>
        <p:txBody>
          <a:bodyPr>
            <a:normAutofit fontScale="90000"/>
          </a:bodyPr>
          <a:lstStyle/>
          <a:p>
            <a:pPr algn="ctr"/>
            <a:r>
              <a:rPr lang="en-US" dirty="0"/>
              <a:t>Blurring Kernels</a:t>
            </a:r>
          </a:p>
        </p:txBody>
      </p:sp>
      <p:sp>
        <p:nvSpPr>
          <p:cNvPr id="3" name="Content Placeholder 2"/>
          <p:cNvSpPr>
            <a:spLocks noGrp="1"/>
          </p:cNvSpPr>
          <p:nvPr>
            <p:ph idx="1"/>
          </p:nvPr>
        </p:nvSpPr>
        <p:spPr>
          <a:xfrm>
            <a:off x="838200" y="1023730"/>
            <a:ext cx="10515600" cy="5153233"/>
          </a:xfrm>
        </p:spPr>
        <p:txBody>
          <a:bodyPr>
            <a:normAutofit lnSpcReduction="10000"/>
          </a:bodyPr>
          <a:lstStyle/>
          <a:p>
            <a:r>
              <a:rPr lang="en-US" dirty="0"/>
              <a:t>Example: Gaussian Kernel, Average/Mean Kernel</a:t>
            </a:r>
          </a:p>
          <a:p>
            <a:pPr marL="514350" indent="-514350">
              <a:buAutoNum type="arabicPeriod"/>
            </a:pPr>
            <a:r>
              <a:rPr lang="en-US" sz="2400" b="1" dirty="0"/>
              <a:t>Gaussian Kernel :</a:t>
            </a:r>
            <a:r>
              <a:rPr lang="en-US" sz="2400" dirty="0"/>
              <a:t> </a:t>
            </a:r>
          </a:p>
          <a:p>
            <a:pPr marL="514350" indent="-514350"/>
            <a:r>
              <a:rPr lang="en-US" sz="2400" dirty="0"/>
              <a:t>A Gaussian kernel is a type of filter used in image processing, particularly for smoothing or blurring images. </a:t>
            </a:r>
          </a:p>
          <a:p>
            <a:pPr marL="514350" indent="-514350"/>
            <a:r>
              <a:rPr lang="en-US" sz="2400" dirty="0"/>
              <a:t>It applies the Gaussian function, which helps reduce noise and detail in an image by averaging the pixel values based on their distance from a central pixel. The Gaussian function is defined as:  </a:t>
            </a:r>
          </a:p>
          <a:p>
            <a:pPr marL="514350" indent="-514350"/>
            <a:endParaRPr lang="en-US" sz="2400" dirty="0"/>
          </a:p>
          <a:p>
            <a:pPr>
              <a:buNone/>
            </a:pPr>
            <a:r>
              <a:rPr lang="en-US" sz="2400" b="1" dirty="0"/>
              <a:t>    </a:t>
            </a:r>
            <a:r>
              <a:rPr lang="en-US" sz="2400" dirty="0"/>
              <a:t>where, σ (Sigma) controls the width of the Gaussian curve. A larger sigma results in more blurring, while a smaller sigma retains more detail.</a:t>
            </a:r>
          </a:p>
          <a:p>
            <a:r>
              <a:rPr lang="en-US" sz="2400" b="1" dirty="0"/>
              <a:t>Kernel Size</a:t>
            </a:r>
            <a:r>
              <a:rPr lang="en-US" sz="2400" dirty="0"/>
              <a:t>: The kernel is typically a square matrix (e.g., 3x3, 5x5, or 7x7) derived from the Gaussian function. The size is often chosen to be odd to have a center pixel.</a:t>
            </a:r>
          </a:p>
          <a:p>
            <a:pPr marL="514350" indent="-514350">
              <a:buNone/>
            </a:pPr>
            <a:endParaRPr lang="en-US" sz="2400" dirty="0"/>
          </a:p>
        </p:txBody>
      </p:sp>
      <p:pic>
        <p:nvPicPr>
          <p:cNvPr id="117762" name="Picture 2"/>
          <p:cNvPicPr>
            <a:picLocks noChangeAspect="1" noChangeArrowheads="1"/>
          </p:cNvPicPr>
          <p:nvPr/>
        </p:nvPicPr>
        <p:blipFill>
          <a:blip r:embed="rId2"/>
          <a:srcRect/>
          <a:stretch>
            <a:fillRect/>
          </a:stretch>
        </p:blipFill>
        <p:spPr bwMode="auto">
          <a:xfrm>
            <a:off x="7156174" y="3192142"/>
            <a:ext cx="2594664" cy="864888"/>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Blurring Kernels: Gaussian Kernel</a:t>
            </a:r>
            <a:endParaRPr lang="en-US" dirty="0"/>
          </a:p>
        </p:txBody>
      </p:sp>
      <p:sp>
        <p:nvSpPr>
          <p:cNvPr id="3" name="Content Placeholder 2"/>
          <p:cNvSpPr>
            <a:spLocks noGrp="1"/>
          </p:cNvSpPr>
          <p:nvPr>
            <p:ph idx="1"/>
          </p:nvPr>
        </p:nvSpPr>
        <p:spPr>
          <a:xfrm>
            <a:off x="838199" y="1825625"/>
            <a:ext cx="10830339" cy="4351338"/>
          </a:xfrm>
        </p:spPr>
        <p:txBody>
          <a:bodyPr/>
          <a:lstStyle/>
          <a:p>
            <a:r>
              <a:rPr lang="en-IN" dirty="0"/>
              <a:t>A 3 × 3 Gaussian Kernel:                          normalized</a:t>
            </a:r>
          </a:p>
          <a:p>
            <a:endParaRPr lang="en-IN" dirty="0"/>
          </a:p>
          <a:p>
            <a:endParaRPr lang="en-IN" dirty="0"/>
          </a:p>
          <a:p>
            <a:endParaRPr lang="en-IN" dirty="0"/>
          </a:p>
          <a:p>
            <a:r>
              <a:rPr lang="en-IN" dirty="0"/>
              <a:t>A 5 × 5 Gaussian Kernel:</a:t>
            </a:r>
          </a:p>
          <a:p>
            <a:endParaRPr lang="en-US" dirty="0"/>
          </a:p>
        </p:txBody>
      </p:sp>
      <p:pic>
        <p:nvPicPr>
          <p:cNvPr id="118786" name="Picture 2"/>
          <p:cNvPicPr>
            <a:picLocks noChangeAspect="1" noChangeArrowheads="1"/>
          </p:cNvPicPr>
          <p:nvPr/>
        </p:nvPicPr>
        <p:blipFill>
          <a:blip r:embed="rId2"/>
          <a:srcRect/>
          <a:stretch>
            <a:fillRect/>
          </a:stretch>
        </p:blipFill>
        <p:spPr bwMode="auto">
          <a:xfrm>
            <a:off x="8424308" y="1610554"/>
            <a:ext cx="2940050" cy="1390650"/>
          </a:xfrm>
          <a:prstGeom prst="rect">
            <a:avLst/>
          </a:prstGeom>
          <a:noFill/>
          <a:ln w="9525">
            <a:noFill/>
            <a:miter lim="800000"/>
            <a:headEnd/>
            <a:tailEnd/>
          </a:ln>
          <a:effectLst/>
        </p:spPr>
      </p:pic>
      <p:pic>
        <p:nvPicPr>
          <p:cNvPr id="1026" name="Picture 2"/>
          <p:cNvPicPr>
            <a:picLocks noChangeAspect="1" noChangeArrowheads="1"/>
          </p:cNvPicPr>
          <p:nvPr/>
        </p:nvPicPr>
        <p:blipFill>
          <a:blip r:embed="rId3"/>
          <a:srcRect/>
          <a:stretch>
            <a:fillRect/>
          </a:stretch>
        </p:blipFill>
        <p:spPr bwMode="auto">
          <a:xfrm>
            <a:off x="4660971" y="3669817"/>
            <a:ext cx="2952750" cy="2162175"/>
          </a:xfrm>
          <a:prstGeom prst="rect">
            <a:avLst/>
          </a:prstGeom>
          <a:noFill/>
          <a:ln w="9525">
            <a:noFill/>
            <a:miter lim="800000"/>
            <a:headEnd/>
            <a:tailEnd/>
          </a:ln>
          <a:effectLst/>
        </p:spPr>
      </p:pic>
      <p:pic>
        <p:nvPicPr>
          <p:cNvPr id="1027" name="Picture 3"/>
          <p:cNvPicPr>
            <a:picLocks noChangeAspect="1" noChangeArrowheads="1"/>
          </p:cNvPicPr>
          <p:nvPr/>
        </p:nvPicPr>
        <p:blipFill>
          <a:blip r:embed="rId4"/>
          <a:srcRect/>
          <a:stretch>
            <a:fillRect/>
          </a:stretch>
        </p:blipFill>
        <p:spPr bwMode="auto">
          <a:xfrm>
            <a:off x="8005487" y="3727382"/>
            <a:ext cx="3638550" cy="2066925"/>
          </a:xfrm>
          <a:prstGeom prst="rect">
            <a:avLst/>
          </a:prstGeom>
          <a:noFill/>
          <a:ln w="9525">
            <a:noFill/>
            <a:miter lim="800000"/>
            <a:headEnd/>
            <a:tailEnd/>
          </a:ln>
          <a:effectLst/>
        </p:spPr>
      </p:pic>
      <p:pic>
        <p:nvPicPr>
          <p:cNvPr id="1028" name="Picture 4"/>
          <p:cNvPicPr>
            <a:picLocks noChangeAspect="1" noChangeArrowheads="1"/>
          </p:cNvPicPr>
          <p:nvPr/>
        </p:nvPicPr>
        <p:blipFill>
          <a:blip r:embed="rId5"/>
          <a:srcRect/>
          <a:stretch>
            <a:fillRect/>
          </a:stretch>
        </p:blipFill>
        <p:spPr bwMode="auto">
          <a:xfrm>
            <a:off x="5171385" y="1461052"/>
            <a:ext cx="1514475" cy="1371600"/>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79701"/>
          </a:xfrm>
        </p:spPr>
        <p:txBody>
          <a:bodyPr>
            <a:normAutofit fontScale="90000"/>
          </a:bodyPr>
          <a:lstStyle/>
          <a:p>
            <a:pPr algn="ctr"/>
            <a:r>
              <a:rPr lang="en-US" b="1" dirty="0"/>
              <a:t>Blurring Kernels: </a:t>
            </a:r>
            <a:r>
              <a:rPr lang="en-IN" b="1" dirty="0"/>
              <a:t>Average Kernel</a:t>
            </a:r>
            <a:endParaRPr lang="en-US" b="1" dirty="0"/>
          </a:p>
        </p:txBody>
      </p:sp>
      <p:sp>
        <p:nvSpPr>
          <p:cNvPr id="3" name="Content Placeholder 2"/>
          <p:cNvSpPr>
            <a:spLocks noGrp="1"/>
          </p:cNvSpPr>
          <p:nvPr>
            <p:ph idx="1"/>
          </p:nvPr>
        </p:nvSpPr>
        <p:spPr>
          <a:xfrm>
            <a:off x="838200" y="1013791"/>
            <a:ext cx="10515600" cy="5163172"/>
          </a:xfrm>
        </p:spPr>
        <p:txBody>
          <a:bodyPr>
            <a:normAutofit/>
          </a:bodyPr>
          <a:lstStyle/>
          <a:p>
            <a:r>
              <a:rPr lang="en-US" dirty="0"/>
              <a:t>An average kernel, also known as a box filter or mean filter, is a simple smoothing technique used in image processing. </a:t>
            </a:r>
          </a:p>
          <a:p>
            <a:r>
              <a:rPr lang="en-US" dirty="0"/>
              <a:t>It works by replacing each pixel's value with the average of the pixel values in its neighborhood, resulting in a blur effect. </a:t>
            </a:r>
          </a:p>
          <a:p>
            <a:r>
              <a:rPr lang="en-US" dirty="0"/>
              <a:t>This helps reduce noise and blur the image.</a:t>
            </a:r>
          </a:p>
          <a:p>
            <a:r>
              <a:rPr lang="en-US" b="1" dirty="0"/>
              <a:t>Kernel Size</a:t>
            </a:r>
            <a:r>
              <a:rPr lang="en-US" dirty="0"/>
              <a:t>: Average kernels can be of various sizes, commonly 3x3, 5x5, or 7x7. The size determines the area over which the averaging is performed.</a:t>
            </a:r>
          </a:p>
          <a:p>
            <a:r>
              <a:rPr lang="en-US" b="1" dirty="0"/>
              <a:t>Normalization</a:t>
            </a:r>
            <a:r>
              <a:rPr lang="en-US" dirty="0"/>
              <a:t>: The values in the kernel are typically equal and sum to 1, ensuring that the output image has a similar brightness to the input image.</a:t>
            </a: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t>Blurring Kernels: </a:t>
            </a:r>
            <a:r>
              <a:rPr lang="en-IN" b="1" dirty="0"/>
              <a:t>Average Kernel</a:t>
            </a:r>
            <a:endParaRPr lang="en-US" dirty="0"/>
          </a:p>
        </p:txBody>
      </p:sp>
      <p:sp>
        <p:nvSpPr>
          <p:cNvPr id="6" name="Content Placeholder 5"/>
          <p:cNvSpPr>
            <a:spLocks noGrp="1"/>
          </p:cNvSpPr>
          <p:nvPr>
            <p:ph idx="1"/>
          </p:nvPr>
        </p:nvSpPr>
        <p:spPr/>
        <p:txBody>
          <a:bodyPr/>
          <a:lstStyle/>
          <a:p>
            <a:r>
              <a:rPr lang="en-IN" dirty="0"/>
              <a:t>A 3 × 3 Gaussian Kernel:</a:t>
            </a:r>
          </a:p>
          <a:p>
            <a:endParaRPr lang="en-IN" dirty="0"/>
          </a:p>
          <a:p>
            <a:endParaRPr lang="en-IN" dirty="0"/>
          </a:p>
          <a:p>
            <a:endParaRPr lang="en-IN" dirty="0"/>
          </a:p>
          <a:p>
            <a:r>
              <a:rPr lang="en-IN" dirty="0"/>
              <a:t>A 5 × 5 Gaussian Kernel:</a:t>
            </a:r>
          </a:p>
          <a:p>
            <a:endParaRPr lang="en-US" dirty="0"/>
          </a:p>
        </p:txBody>
      </p:sp>
      <p:pic>
        <p:nvPicPr>
          <p:cNvPr id="90113" name="Picture 1"/>
          <p:cNvPicPr>
            <a:picLocks noChangeAspect="1" noChangeArrowheads="1"/>
          </p:cNvPicPr>
          <p:nvPr/>
        </p:nvPicPr>
        <p:blipFill>
          <a:blip r:embed="rId2"/>
          <a:srcRect/>
          <a:stretch>
            <a:fillRect/>
          </a:stretch>
        </p:blipFill>
        <p:spPr bwMode="auto">
          <a:xfrm>
            <a:off x="4796597" y="1421709"/>
            <a:ext cx="2061403" cy="1739681"/>
          </a:xfrm>
          <a:prstGeom prst="rect">
            <a:avLst/>
          </a:prstGeom>
          <a:noFill/>
          <a:ln w="9525">
            <a:noFill/>
            <a:miter lim="800000"/>
            <a:headEnd/>
            <a:tailEnd/>
          </a:ln>
          <a:effectLst/>
        </p:spPr>
      </p:pic>
      <p:pic>
        <p:nvPicPr>
          <p:cNvPr id="90114" name="Picture 2"/>
          <p:cNvPicPr>
            <a:picLocks noChangeAspect="1" noChangeArrowheads="1"/>
          </p:cNvPicPr>
          <p:nvPr/>
        </p:nvPicPr>
        <p:blipFill>
          <a:blip r:embed="rId3"/>
          <a:srcRect/>
          <a:stretch>
            <a:fillRect/>
          </a:stretch>
        </p:blipFill>
        <p:spPr bwMode="auto">
          <a:xfrm>
            <a:off x="4733856" y="3399804"/>
            <a:ext cx="3105150" cy="2085975"/>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88423"/>
          </a:xfrm>
        </p:spPr>
        <p:txBody>
          <a:bodyPr>
            <a:normAutofit fontScale="90000"/>
          </a:bodyPr>
          <a:lstStyle/>
          <a:p>
            <a:pPr algn="ctr"/>
            <a:r>
              <a:rPr lang="en-US" dirty="0"/>
              <a:t>Sharpening Kernel</a:t>
            </a:r>
          </a:p>
        </p:txBody>
      </p:sp>
      <p:sp>
        <p:nvSpPr>
          <p:cNvPr id="3" name="Content Placeholder 2"/>
          <p:cNvSpPr>
            <a:spLocks noGrp="1"/>
          </p:cNvSpPr>
          <p:nvPr>
            <p:ph idx="1"/>
          </p:nvPr>
        </p:nvSpPr>
        <p:spPr>
          <a:xfrm>
            <a:off x="838200" y="1162878"/>
            <a:ext cx="10515600" cy="5014085"/>
          </a:xfrm>
        </p:spPr>
        <p:txBody>
          <a:bodyPr>
            <a:normAutofit fontScale="92500" lnSpcReduction="20000"/>
          </a:bodyPr>
          <a:lstStyle/>
          <a:p>
            <a:r>
              <a:rPr lang="en-US" dirty="0"/>
              <a:t>A sharpening kernel is used in image processing to </a:t>
            </a:r>
            <a:r>
              <a:rPr lang="en-US" dirty="0">
                <a:solidFill>
                  <a:srgbClr val="FF0000"/>
                </a:solidFill>
              </a:rPr>
              <a:t>enhance the edges and fine details</a:t>
            </a:r>
            <a:r>
              <a:rPr lang="en-US" dirty="0"/>
              <a:t> in an image. </a:t>
            </a:r>
          </a:p>
          <a:p>
            <a:r>
              <a:rPr lang="en-US" dirty="0"/>
              <a:t>It works by emphasizing the differences between adjacent pixel values, effectively making the image appear sharper. </a:t>
            </a:r>
          </a:p>
          <a:p>
            <a:r>
              <a:rPr lang="en-US" b="1" dirty="0"/>
              <a:t>Applications:</a:t>
            </a:r>
          </a:p>
          <a:p>
            <a:pPr>
              <a:buNone/>
            </a:pPr>
            <a:r>
              <a:rPr lang="en-US" b="1" dirty="0"/>
              <a:t>   1. Detail Enhancement</a:t>
            </a:r>
            <a:r>
              <a:rPr lang="en-US" dirty="0"/>
              <a:t>: Useful for emphasizing edges and textures in images.</a:t>
            </a:r>
          </a:p>
          <a:p>
            <a:pPr>
              <a:buNone/>
            </a:pPr>
            <a:r>
              <a:rPr lang="en-US" b="1" dirty="0"/>
              <a:t>   2. Image Preprocessing</a:t>
            </a:r>
            <a:r>
              <a:rPr lang="en-US" dirty="0"/>
              <a:t>: Often applied before other processing tasks to improve feature detection.</a:t>
            </a:r>
          </a:p>
          <a:p>
            <a:pPr>
              <a:buNone/>
            </a:pPr>
            <a:r>
              <a:rPr lang="en-US" b="1" dirty="0"/>
              <a:t>   3. Artistic Effects</a:t>
            </a:r>
            <a:r>
              <a:rPr lang="en-US" dirty="0"/>
              <a:t>: Can create a stylized look in images by enhancing outlines and details.</a:t>
            </a:r>
          </a:p>
          <a:p>
            <a:endParaRPr lang="en-US" dirty="0"/>
          </a:p>
          <a:p>
            <a:r>
              <a:rPr lang="en-US" dirty="0"/>
              <a:t>The most common sharpening kernels include the </a:t>
            </a:r>
            <a:r>
              <a:rPr lang="en-US" dirty="0" err="1"/>
              <a:t>Laplacian</a:t>
            </a:r>
            <a:r>
              <a:rPr lang="en-US" dirty="0"/>
              <a:t> kernel and the </a:t>
            </a:r>
            <a:r>
              <a:rPr lang="en-US" dirty="0" err="1"/>
              <a:t>unsharp</a:t>
            </a:r>
            <a:r>
              <a:rPr lang="en-US" dirty="0"/>
              <a:t> mask kernel.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69762"/>
          </a:xfrm>
        </p:spPr>
        <p:txBody>
          <a:bodyPr>
            <a:normAutofit fontScale="90000"/>
          </a:bodyPr>
          <a:lstStyle/>
          <a:p>
            <a:pPr algn="ctr"/>
            <a:r>
              <a:rPr lang="en-US" dirty="0"/>
              <a:t>Sharpening Kernel</a:t>
            </a:r>
          </a:p>
        </p:txBody>
      </p:sp>
      <p:sp>
        <p:nvSpPr>
          <p:cNvPr id="3" name="Content Placeholder 2"/>
          <p:cNvSpPr>
            <a:spLocks noGrp="1"/>
          </p:cNvSpPr>
          <p:nvPr>
            <p:ph idx="1"/>
          </p:nvPr>
        </p:nvSpPr>
        <p:spPr>
          <a:xfrm>
            <a:off x="838199" y="1053548"/>
            <a:ext cx="10691191" cy="5123415"/>
          </a:xfrm>
        </p:spPr>
        <p:txBody>
          <a:bodyPr>
            <a:normAutofit/>
          </a:bodyPr>
          <a:lstStyle/>
          <a:p>
            <a:pPr marL="514350" indent="-514350">
              <a:buAutoNum type="arabicPeriod"/>
            </a:pPr>
            <a:r>
              <a:rPr lang="en-US" sz="2400" b="1" dirty="0" err="1"/>
              <a:t>Laplacian</a:t>
            </a:r>
            <a:r>
              <a:rPr lang="en-US" sz="2400" b="1" dirty="0"/>
              <a:t> Kernel</a:t>
            </a:r>
            <a:r>
              <a:rPr lang="en-US" sz="2400" dirty="0"/>
              <a:t>: </a:t>
            </a:r>
          </a:p>
          <a:p>
            <a:pPr marL="514350" indent="-514350"/>
            <a:r>
              <a:rPr lang="en-US" sz="2400" dirty="0"/>
              <a:t>The second derivative measures the rate of change of the gradient. In image processing, this means detecting areas where there is a rapid change in intensity, which corresponds to edges.</a:t>
            </a:r>
          </a:p>
          <a:p>
            <a:pPr marL="514350" indent="-514350"/>
            <a:r>
              <a:rPr lang="en-US" sz="2400" dirty="0"/>
              <a:t>The </a:t>
            </a:r>
            <a:r>
              <a:rPr lang="en-US" sz="2400" dirty="0" err="1"/>
              <a:t>Laplacian</a:t>
            </a:r>
            <a:r>
              <a:rPr lang="en-US" sz="2400" dirty="0"/>
              <a:t> operator calculates the second derivative in both the x and y directions. When applied to an image, it helps identify regions of rapid intensity change (edges) by emphasizing the areas where the intensity changes sharply.</a:t>
            </a:r>
          </a:p>
          <a:p>
            <a:pPr marL="514350" indent="-514350"/>
            <a:endParaRPr lang="en-US" sz="2400" dirty="0"/>
          </a:p>
          <a:p>
            <a:pPr marL="514350" indent="-514350">
              <a:buAutoNum type="arabicPeriod"/>
            </a:pPr>
            <a:endParaRPr lang="en-US" sz="2400" dirty="0"/>
          </a:p>
          <a:p>
            <a:pPr marL="514350" indent="-514350"/>
            <a:endParaRPr lang="en-IN" sz="2400" dirty="0"/>
          </a:p>
          <a:p>
            <a:pPr marL="514350" indent="-514350">
              <a:buNone/>
            </a:pPr>
            <a:r>
              <a:rPr lang="en-IN" sz="2400" dirty="0"/>
              <a:t> </a:t>
            </a:r>
            <a:endParaRPr lang="en-IN" dirty="0"/>
          </a:p>
          <a:p>
            <a:pPr marL="514350" indent="-514350">
              <a:buAutoNum type="arabicPeriod"/>
            </a:pPr>
            <a:endParaRPr lang="en-IN" dirty="0"/>
          </a:p>
          <a:p>
            <a:pPr marL="514350" indent="-514350">
              <a:buAutoNum type="arabicPeriod"/>
            </a:pPr>
            <a:endParaRPr lang="en-IN" dirty="0"/>
          </a:p>
          <a:p>
            <a:pPr marL="514350" indent="-514350">
              <a:buAutoNum type="arabicPeriod"/>
            </a:pPr>
            <a:endParaRPr lang="en-US" dirty="0"/>
          </a:p>
        </p:txBody>
      </p:sp>
      <p:pic>
        <p:nvPicPr>
          <p:cNvPr id="119812" name="Picture 4"/>
          <p:cNvPicPr>
            <a:picLocks noChangeAspect="1" noChangeArrowheads="1"/>
          </p:cNvPicPr>
          <p:nvPr/>
        </p:nvPicPr>
        <p:blipFill>
          <a:blip r:embed="rId2"/>
          <a:srcRect/>
          <a:stretch>
            <a:fillRect/>
          </a:stretch>
        </p:blipFill>
        <p:spPr bwMode="auto">
          <a:xfrm>
            <a:off x="1329497" y="3819731"/>
            <a:ext cx="9496425" cy="2200275"/>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69762"/>
          </a:xfrm>
        </p:spPr>
        <p:txBody>
          <a:bodyPr>
            <a:normAutofit fontScale="90000"/>
          </a:bodyPr>
          <a:lstStyle/>
          <a:p>
            <a:pPr algn="ctr"/>
            <a:r>
              <a:rPr lang="en-US" b="1" dirty="0" err="1"/>
              <a:t>Laplacian</a:t>
            </a:r>
            <a:r>
              <a:rPr lang="en-US" b="1" dirty="0"/>
              <a:t> Kernel</a:t>
            </a:r>
            <a:r>
              <a:rPr lang="en-US" dirty="0"/>
              <a:t>: </a:t>
            </a:r>
          </a:p>
        </p:txBody>
      </p:sp>
      <p:sp>
        <p:nvSpPr>
          <p:cNvPr id="3" name="Content Placeholder 2"/>
          <p:cNvSpPr>
            <a:spLocks noGrp="1"/>
          </p:cNvSpPr>
          <p:nvPr>
            <p:ph idx="1"/>
          </p:nvPr>
        </p:nvSpPr>
        <p:spPr>
          <a:xfrm>
            <a:off x="838200" y="775252"/>
            <a:ext cx="10515600" cy="5401711"/>
          </a:xfrm>
        </p:spPr>
        <p:txBody>
          <a:bodyPr/>
          <a:lstStyle/>
          <a:p>
            <a:pPr marL="514350" indent="-514350">
              <a:buAutoNum type="arabicPeriod"/>
            </a:pPr>
            <a:endParaRPr lang="en-US" dirty="0"/>
          </a:p>
          <a:p>
            <a:pPr marL="514350" indent="-514350">
              <a:buAutoNum type="arabicPeriod"/>
            </a:pPr>
            <a:r>
              <a:rPr lang="en-US" dirty="0"/>
              <a:t>A typical 3x3 </a:t>
            </a:r>
            <a:r>
              <a:rPr lang="en-US" dirty="0" err="1"/>
              <a:t>Laplacian</a:t>
            </a:r>
            <a:r>
              <a:rPr lang="en-US" dirty="0"/>
              <a:t> kernel looks like this:</a:t>
            </a:r>
          </a:p>
          <a:p>
            <a:pPr marL="514350" indent="-514350"/>
            <a:r>
              <a:rPr lang="en-US" dirty="0"/>
              <a:t>This kernel emphasizes edges by subtracting </a:t>
            </a:r>
          </a:p>
          <a:p>
            <a:pPr marL="514350" indent="-514350">
              <a:buNone/>
            </a:pPr>
            <a:r>
              <a:rPr lang="en-US" dirty="0"/>
              <a:t>       the average of the neighboring pixels from the center pixel.</a:t>
            </a:r>
          </a:p>
          <a:p>
            <a:pPr marL="514350" indent="-514350"/>
            <a:r>
              <a:rPr lang="en-US" dirty="0"/>
              <a:t>When the </a:t>
            </a:r>
            <a:r>
              <a:rPr lang="en-US" dirty="0" err="1"/>
              <a:t>Laplacian</a:t>
            </a:r>
            <a:r>
              <a:rPr lang="en-US" dirty="0"/>
              <a:t> kernel is applied to an image, it produces a result where edges are highlighted, and flat regions are suppressed, effectively making the edges more pronounced.</a:t>
            </a:r>
          </a:p>
          <a:p>
            <a:pPr marL="514350" indent="-514350"/>
            <a:r>
              <a:rPr lang="en-US" dirty="0"/>
              <a:t>The result can sometimes be combined with the original image for further enhancement, a technique often used in </a:t>
            </a:r>
            <a:r>
              <a:rPr lang="en-US" dirty="0" err="1"/>
              <a:t>unsharp</a:t>
            </a:r>
            <a:r>
              <a:rPr lang="en-US" dirty="0"/>
              <a:t> masking.</a:t>
            </a:r>
          </a:p>
          <a:p>
            <a:endParaRPr lang="en-US" dirty="0"/>
          </a:p>
        </p:txBody>
      </p:sp>
      <p:pic>
        <p:nvPicPr>
          <p:cNvPr id="4" name="Picture 2"/>
          <p:cNvPicPr>
            <a:picLocks noChangeAspect="1" noChangeArrowheads="1"/>
          </p:cNvPicPr>
          <p:nvPr/>
        </p:nvPicPr>
        <p:blipFill>
          <a:blip r:embed="rId2"/>
          <a:srcRect/>
          <a:stretch>
            <a:fillRect/>
          </a:stretch>
        </p:blipFill>
        <p:spPr bwMode="auto">
          <a:xfrm>
            <a:off x="8043998" y="983147"/>
            <a:ext cx="2700201" cy="1333500"/>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48058"/>
          </a:xfrm>
        </p:spPr>
        <p:txBody>
          <a:bodyPr/>
          <a:lstStyle/>
          <a:p>
            <a:pPr algn="ctr"/>
            <a:r>
              <a:rPr lang="en-US" b="1" dirty="0" err="1"/>
              <a:t>Unsharp</a:t>
            </a:r>
            <a:r>
              <a:rPr lang="en-US" b="1" dirty="0"/>
              <a:t> Mask Kernel</a:t>
            </a:r>
            <a:endParaRPr lang="en-US" dirty="0"/>
          </a:p>
        </p:txBody>
      </p:sp>
      <p:sp>
        <p:nvSpPr>
          <p:cNvPr id="3" name="Content Placeholder 2"/>
          <p:cNvSpPr>
            <a:spLocks noGrp="1"/>
          </p:cNvSpPr>
          <p:nvPr>
            <p:ph idx="1"/>
          </p:nvPr>
        </p:nvSpPr>
        <p:spPr>
          <a:xfrm>
            <a:off x="838200" y="1172817"/>
            <a:ext cx="10515600" cy="5004146"/>
          </a:xfrm>
        </p:spPr>
        <p:txBody>
          <a:bodyPr>
            <a:normAutofit lnSpcReduction="10000"/>
          </a:bodyPr>
          <a:lstStyle/>
          <a:p>
            <a:r>
              <a:rPr lang="en-US" b="1" dirty="0" err="1"/>
              <a:t>Unsharp</a:t>
            </a:r>
            <a:r>
              <a:rPr lang="en-US" b="1" dirty="0"/>
              <a:t> Masking Process:</a:t>
            </a:r>
          </a:p>
          <a:p>
            <a:pPr>
              <a:buNone/>
            </a:pPr>
            <a:r>
              <a:rPr lang="en-US" b="1" dirty="0"/>
              <a:t>(</a:t>
            </a:r>
            <a:r>
              <a:rPr lang="en-US" b="1" dirty="0" err="1"/>
              <a:t>i</a:t>
            </a:r>
            <a:r>
              <a:rPr lang="en-US" b="1" dirty="0"/>
              <a:t>) Gaussian Blur</a:t>
            </a:r>
            <a:r>
              <a:rPr lang="en-US" dirty="0"/>
              <a:t>: First, a Gaussian blur is applied to the original image to create a blurred version. This helps reduce noise and fine details.</a:t>
            </a:r>
          </a:p>
          <a:p>
            <a:pPr>
              <a:buNone/>
            </a:pPr>
            <a:r>
              <a:rPr lang="en-US" b="1" dirty="0"/>
              <a:t>(ii) Difference Calculation</a:t>
            </a:r>
            <a:r>
              <a:rPr lang="en-US" dirty="0"/>
              <a:t>: The blurred image is then subtracted from the original image to highlight the edges.</a:t>
            </a:r>
          </a:p>
          <a:p>
            <a:pPr>
              <a:buNone/>
            </a:pPr>
            <a:r>
              <a:rPr lang="en-US" b="1" dirty="0"/>
              <a:t>(iii) Combination</a:t>
            </a:r>
            <a:r>
              <a:rPr lang="en-US" dirty="0"/>
              <a:t>: The result is added back to the original image, often with a scaling factor to control the degree of sharpening.</a:t>
            </a:r>
          </a:p>
          <a:p>
            <a:r>
              <a:rPr lang="en-US" dirty="0"/>
              <a:t>A common kernel used in this technique is:</a:t>
            </a:r>
          </a:p>
          <a:p>
            <a:r>
              <a:rPr lang="en-US" dirty="0"/>
              <a:t>This kernel effectively enhances edges by applying a </a:t>
            </a:r>
          </a:p>
          <a:p>
            <a:pPr>
              <a:buNone/>
            </a:pPr>
            <a:r>
              <a:rPr lang="en-US" dirty="0"/>
              <a:t>   weighted average where the center pixel gets more </a:t>
            </a:r>
          </a:p>
          <a:p>
            <a:pPr>
              <a:buNone/>
            </a:pPr>
            <a:r>
              <a:rPr lang="en-US" dirty="0"/>
              <a:t>   weight than its neighbors.</a:t>
            </a:r>
          </a:p>
          <a:p>
            <a:endParaRPr lang="en-US" dirty="0"/>
          </a:p>
          <a:p>
            <a:endParaRPr lang="en-US" dirty="0"/>
          </a:p>
          <a:p>
            <a:endParaRPr lang="en-US" dirty="0"/>
          </a:p>
        </p:txBody>
      </p:sp>
      <p:pic>
        <p:nvPicPr>
          <p:cNvPr id="4" name="Picture 3"/>
          <p:cNvPicPr>
            <a:picLocks noChangeAspect="1" noChangeArrowheads="1"/>
          </p:cNvPicPr>
          <p:nvPr/>
        </p:nvPicPr>
        <p:blipFill>
          <a:blip r:embed="rId2"/>
          <a:srcRect/>
          <a:stretch>
            <a:fillRect/>
          </a:stretch>
        </p:blipFill>
        <p:spPr bwMode="auto">
          <a:xfrm>
            <a:off x="8862945" y="4128674"/>
            <a:ext cx="2162175" cy="1323975"/>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69762"/>
          </a:xfrm>
        </p:spPr>
        <p:txBody>
          <a:bodyPr>
            <a:normAutofit fontScale="90000"/>
          </a:bodyPr>
          <a:lstStyle/>
          <a:p>
            <a:pPr algn="ctr"/>
            <a:r>
              <a:rPr lang="en-US" dirty="0"/>
              <a:t>Sharpening Kernels</a:t>
            </a:r>
          </a:p>
        </p:txBody>
      </p:sp>
      <p:sp>
        <p:nvSpPr>
          <p:cNvPr id="4" name="Content Placeholder 3"/>
          <p:cNvSpPr>
            <a:spLocks noGrp="1"/>
          </p:cNvSpPr>
          <p:nvPr>
            <p:ph idx="1"/>
          </p:nvPr>
        </p:nvSpPr>
        <p:spPr>
          <a:xfrm>
            <a:off x="838200" y="983974"/>
            <a:ext cx="10515600" cy="5192989"/>
          </a:xfrm>
        </p:spPr>
        <p:txBody>
          <a:bodyPr>
            <a:normAutofit fontScale="92500"/>
          </a:bodyPr>
          <a:lstStyle/>
          <a:p>
            <a:pPr marL="514350" indent="-514350">
              <a:buNone/>
            </a:pPr>
            <a:r>
              <a:rPr lang="en-IN" dirty="0"/>
              <a:t>Difference: </a:t>
            </a:r>
          </a:p>
          <a:p>
            <a:pPr marL="571500" indent="-571500">
              <a:buAutoNum type="romanLcParenBoth"/>
            </a:pPr>
            <a:r>
              <a:rPr lang="en-IN" dirty="0"/>
              <a:t>In </a:t>
            </a:r>
            <a:r>
              <a:rPr lang="en-US" b="1" dirty="0" err="1"/>
              <a:t>Laplacian</a:t>
            </a:r>
            <a:r>
              <a:rPr lang="en-US" b="1" dirty="0"/>
              <a:t> Kernel, the </a:t>
            </a:r>
            <a:r>
              <a:rPr lang="en-US" dirty="0"/>
              <a:t>center value is </a:t>
            </a:r>
            <a:r>
              <a:rPr lang="en-US" b="1" dirty="0"/>
              <a:t>4</a:t>
            </a:r>
            <a:r>
              <a:rPr lang="en-US" dirty="0"/>
              <a:t> (detecting edges by subtracting the average). But in </a:t>
            </a:r>
            <a:r>
              <a:rPr lang="en-US" b="1" dirty="0" err="1"/>
              <a:t>Unsharp</a:t>
            </a:r>
            <a:r>
              <a:rPr lang="en-US" b="1" dirty="0"/>
              <a:t> Mask Kernel, </a:t>
            </a:r>
            <a:r>
              <a:rPr lang="en-US" dirty="0"/>
              <a:t>the center value is </a:t>
            </a:r>
            <a:r>
              <a:rPr lang="en-US" b="1" dirty="0"/>
              <a:t>5</a:t>
            </a:r>
            <a:r>
              <a:rPr lang="en-US" dirty="0"/>
              <a:t>, which increases the emphasis on the center pixel more than in the </a:t>
            </a:r>
            <a:r>
              <a:rPr lang="en-US" dirty="0" err="1"/>
              <a:t>Laplacian</a:t>
            </a:r>
            <a:r>
              <a:rPr lang="en-US" dirty="0"/>
              <a:t> kernel.</a:t>
            </a:r>
          </a:p>
          <a:p>
            <a:pPr marL="571500" indent="-571500">
              <a:buAutoNum type="romanLcParenBoth"/>
            </a:pPr>
            <a:r>
              <a:rPr lang="en-US" dirty="0" err="1"/>
              <a:t>Laplacian</a:t>
            </a:r>
            <a:r>
              <a:rPr lang="en-US" dirty="0"/>
              <a:t> kernel detects edges based on the rate of change, focusing on curvature rather than enhancing pixel values. But </a:t>
            </a:r>
            <a:r>
              <a:rPr lang="en-US" dirty="0" err="1"/>
              <a:t>Unsharp</a:t>
            </a:r>
            <a:r>
              <a:rPr lang="en-US" dirty="0"/>
              <a:t> Mask enhances edges through a combination of the original pixel value and its neighbors, effectively sharpening the image.</a:t>
            </a:r>
          </a:p>
          <a:p>
            <a:pPr marL="571500" indent="-571500">
              <a:buAutoNum type="romanLcParenBoth"/>
            </a:pPr>
            <a:r>
              <a:rPr lang="en-US" dirty="0"/>
              <a:t>While both techniques are used for edge detection and enhancement, they operate on different principles. The </a:t>
            </a:r>
            <a:r>
              <a:rPr lang="en-US" dirty="0" err="1"/>
              <a:t>unsharp</a:t>
            </a:r>
            <a:r>
              <a:rPr lang="en-US" dirty="0"/>
              <a:t> mask is not a second derivative but a method to accentuate edges by emphasizing differences in pixel intensity.</a:t>
            </a:r>
          </a:p>
          <a:p>
            <a:pPr marL="571500" indent="-571500">
              <a:buAutoNum type="romanLcParenBoth"/>
            </a:pPr>
            <a:endParaRPr lang="en-US" dirty="0"/>
          </a:p>
          <a:p>
            <a:pPr>
              <a:buNone/>
            </a:pP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38727"/>
          </a:xfrm>
        </p:spPr>
        <p:txBody>
          <a:bodyPr>
            <a:normAutofit fontScale="90000"/>
          </a:bodyPr>
          <a:lstStyle/>
          <a:p>
            <a:pPr algn="ctr"/>
            <a:r>
              <a:rPr lang="en-IN" dirty="0"/>
              <a:t>Type of Kernel</a:t>
            </a:r>
            <a:endParaRPr lang="en-US" dirty="0"/>
          </a:p>
        </p:txBody>
      </p:sp>
      <p:sp>
        <p:nvSpPr>
          <p:cNvPr id="3" name="Content Placeholder 2"/>
          <p:cNvSpPr>
            <a:spLocks noGrp="1"/>
          </p:cNvSpPr>
          <p:nvPr>
            <p:ph idx="1"/>
          </p:nvPr>
        </p:nvSpPr>
        <p:spPr>
          <a:xfrm>
            <a:off x="838200" y="1202635"/>
            <a:ext cx="10515600" cy="4974328"/>
          </a:xfrm>
        </p:spPr>
        <p:txBody>
          <a:bodyPr>
            <a:normAutofit/>
          </a:bodyPr>
          <a:lstStyle/>
          <a:p>
            <a:pPr>
              <a:buNone/>
            </a:pPr>
            <a:r>
              <a:rPr lang="en-US" dirty="0"/>
              <a:t>4. Embeddings Kernels: </a:t>
            </a:r>
          </a:p>
          <a:p>
            <a:r>
              <a:rPr lang="en-US" b="1" dirty="0"/>
              <a:t>Feature Extraction Kernels</a:t>
            </a:r>
            <a:r>
              <a:rPr lang="en-US" dirty="0"/>
              <a:t>: In CNNs, these kernels are learned during training and can capture complex features at various levels of abstraction (e.g., edges, textures, shapes).</a:t>
            </a:r>
          </a:p>
          <a:p>
            <a:pPr>
              <a:buNone/>
            </a:pPr>
            <a:r>
              <a:rPr lang="en-IN" dirty="0"/>
              <a:t>5. </a:t>
            </a:r>
            <a:r>
              <a:rPr lang="en-US" b="1" dirty="0"/>
              <a:t>Dilated Kernels</a:t>
            </a:r>
          </a:p>
          <a:p>
            <a:r>
              <a:rPr lang="en-US" b="1" dirty="0"/>
              <a:t>Dilated Convolution</a:t>
            </a:r>
            <a:r>
              <a:rPr lang="en-US" dirty="0"/>
              <a:t>: Dilated kernels, also known as </a:t>
            </a:r>
            <a:r>
              <a:rPr lang="en-US" dirty="0" err="1"/>
              <a:t>atrous</a:t>
            </a:r>
            <a:r>
              <a:rPr lang="en-US" dirty="0"/>
              <a:t> convolution kernels, are used in </a:t>
            </a:r>
            <a:r>
              <a:rPr lang="en-US" dirty="0" err="1"/>
              <a:t>convolutional</a:t>
            </a:r>
            <a:r>
              <a:rPr lang="en-US" dirty="0"/>
              <a:t> neural networks to increase the receptive field without increasing the number of parameters or the amount of computation. This allows the network to capture larger context while maintaining spatial resolution.</a:t>
            </a:r>
          </a:p>
          <a:p>
            <a:pPr>
              <a:buNone/>
            </a:pPr>
            <a:endParaRPr lang="en-US" dirty="0"/>
          </a:p>
          <a:p>
            <a:pPr>
              <a:buNone/>
            </a:pP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29397"/>
          </a:xfrm>
        </p:spPr>
        <p:txBody>
          <a:bodyPr>
            <a:normAutofit fontScale="90000"/>
          </a:bodyPr>
          <a:lstStyle/>
          <a:p>
            <a:pPr algn="ctr"/>
            <a:r>
              <a:rPr lang="en-IN" dirty="0"/>
              <a:t>Type of Kernel</a:t>
            </a:r>
            <a:endParaRPr lang="en-US" dirty="0"/>
          </a:p>
        </p:txBody>
      </p:sp>
      <p:sp>
        <p:nvSpPr>
          <p:cNvPr id="3" name="Content Placeholder 2"/>
          <p:cNvSpPr>
            <a:spLocks noGrp="1"/>
          </p:cNvSpPr>
          <p:nvPr>
            <p:ph idx="1"/>
          </p:nvPr>
        </p:nvSpPr>
        <p:spPr>
          <a:xfrm>
            <a:off x="838200" y="974035"/>
            <a:ext cx="10515600" cy="5486400"/>
          </a:xfrm>
        </p:spPr>
        <p:txBody>
          <a:bodyPr>
            <a:normAutofit fontScale="32500" lnSpcReduction="20000"/>
          </a:bodyPr>
          <a:lstStyle/>
          <a:p>
            <a:r>
              <a:rPr lang="en-US" sz="6200" dirty="0"/>
              <a:t>A standard 3x3 kernel can be dilated in various ways. For instance, with a dilation rate of 2, the kernel is applied with gaps between its elements:</a:t>
            </a:r>
          </a:p>
          <a:p>
            <a:endParaRPr lang="en-US" sz="6200" b="1" dirty="0"/>
          </a:p>
          <a:p>
            <a:r>
              <a:rPr lang="en-US" sz="6200" b="1" dirty="0"/>
              <a:t>Standard 3x3 Kernel                               Dilated 3x3 Kernel with Dilation Rate = 2</a:t>
            </a:r>
          </a:p>
          <a:p>
            <a:endParaRPr lang="en-US" sz="6200" b="1" dirty="0"/>
          </a:p>
          <a:p>
            <a:pPr>
              <a:buNone/>
            </a:pPr>
            <a:endParaRPr lang="en-US" sz="6200" b="1" dirty="0"/>
          </a:p>
          <a:p>
            <a:r>
              <a:rPr lang="en-US" sz="6200" b="1" dirty="0"/>
              <a:t>Dilation Rate:</a:t>
            </a:r>
            <a:r>
              <a:rPr lang="en-US" sz="6200" dirty="0"/>
              <a:t> The number "2" indicates that there is one pixel of space between the kernel elements in both horizontal and vertical directions.</a:t>
            </a:r>
          </a:p>
          <a:p>
            <a:r>
              <a:rPr lang="en-US" sz="6200" b="1" dirty="0"/>
              <a:t>Application:</a:t>
            </a:r>
            <a:r>
              <a:rPr lang="en-US" sz="6200" dirty="0"/>
              <a:t> This dilated kernel can cover a larger area of the input while still producing output of the same size as a regular </a:t>
            </a:r>
            <a:r>
              <a:rPr lang="en-US" sz="6200" dirty="0" err="1"/>
              <a:t>convolutional</a:t>
            </a:r>
            <a:r>
              <a:rPr lang="en-US" sz="6200" dirty="0"/>
              <a:t> layer, making it useful for tasks like </a:t>
            </a:r>
            <a:r>
              <a:rPr lang="en-US" sz="6200" dirty="0">
                <a:solidFill>
                  <a:srgbClr val="FF0000"/>
                </a:solidFill>
              </a:rPr>
              <a:t>segmentation and dense prediction</a:t>
            </a:r>
            <a:r>
              <a:rPr lang="en-US" sz="6200" dirty="0"/>
              <a:t>.</a:t>
            </a:r>
            <a:endParaRPr lang="en-US" sz="6200" b="1" dirty="0"/>
          </a:p>
          <a:p>
            <a:r>
              <a:rPr lang="en-US" sz="6200" b="1" dirty="0"/>
              <a:t>Benefits</a:t>
            </a:r>
          </a:p>
          <a:p>
            <a:pPr>
              <a:buNone/>
            </a:pPr>
            <a:r>
              <a:rPr lang="en-US" sz="6200" b="1" dirty="0"/>
              <a:t>	1. Larger Receptive Field:</a:t>
            </a:r>
            <a:r>
              <a:rPr lang="en-US" sz="6200" dirty="0"/>
              <a:t> Allows the network to capture wider context without </a:t>
            </a:r>
            <a:r>
              <a:rPr lang="en-US" sz="6200" dirty="0" err="1"/>
              <a:t>downsampling</a:t>
            </a:r>
            <a:r>
              <a:rPr lang="en-US" sz="6200" dirty="0"/>
              <a:t>.</a:t>
            </a:r>
          </a:p>
          <a:p>
            <a:pPr>
              <a:buNone/>
            </a:pPr>
            <a:r>
              <a:rPr lang="en-US" sz="6200" b="1" dirty="0"/>
              <a:t>	2. Preserves Spatial Resolution:</a:t>
            </a:r>
            <a:r>
              <a:rPr lang="en-US" sz="6200" dirty="0"/>
              <a:t> Useful in applications where maintaining the original resolution is important, like in semantic segmentation. </a:t>
            </a:r>
            <a:endParaRPr lang="en-IN" sz="6200" dirty="0"/>
          </a:p>
          <a:p>
            <a:pPr>
              <a:buNone/>
            </a:pPr>
            <a:r>
              <a:rPr lang="en-IN" sz="6200" dirty="0"/>
              <a:t>6. </a:t>
            </a:r>
            <a:r>
              <a:rPr lang="en-US" sz="6200" b="1" dirty="0"/>
              <a:t>Custom Kernels</a:t>
            </a:r>
          </a:p>
          <a:p>
            <a:r>
              <a:rPr lang="en-US" sz="6200" dirty="0"/>
              <a:t>Users can design custom kernels tailored for specific tasks or datasets, such as detecting specific patterns, textures, or other features relevant to their application.</a:t>
            </a:r>
          </a:p>
          <a:p>
            <a:pPr>
              <a:buNone/>
            </a:pPr>
            <a:endParaRPr lang="en-IN" dirty="0"/>
          </a:p>
          <a:p>
            <a:endParaRPr lang="en-US" dirty="0"/>
          </a:p>
        </p:txBody>
      </p:sp>
      <p:pic>
        <p:nvPicPr>
          <p:cNvPr id="2050" name="Picture 2"/>
          <p:cNvPicPr>
            <a:picLocks noChangeAspect="1" noChangeArrowheads="1"/>
          </p:cNvPicPr>
          <p:nvPr/>
        </p:nvPicPr>
        <p:blipFill>
          <a:blip r:embed="rId2"/>
          <a:srcRect/>
          <a:stretch>
            <a:fillRect/>
          </a:stretch>
        </p:blipFill>
        <p:spPr bwMode="auto">
          <a:xfrm>
            <a:off x="3368467" y="1533733"/>
            <a:ext cx="1562100" cy="1285875"/>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9401106" y="1320663"/>
            <a:ext cx="1543050" cy="1314450"/>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54596-3375-440A-BA28-378179531E63}"/>
              </a:ext>
            </a:extLst>
          </p:cNvPr>
          <p:cNvSpPr>
            <a:spLocks noGrp="1"/>
          </p:cNvSpPr>
          <p:nvPr>
            <p:ph type="title"/>
          </p:nvPr>
        </p:nvSpPr>
        <p:spPr/>
        <p:txBody>
          <a:bodyPr/>
          <a:lstStyle/>
          <a:p>
            <a:pPr algn="ctr"/>
            <a:r>
              <a:rPr lang="en-US" dirty="0"/>
              <a:t>Convolution</a:t>
            </a:r>
          </a:p>
        </p:txBody>
      </p:sp>
      <p:pic>
        <p:nvPicPr>
          <p:cNvPr id="6146" name="Picture 2"/>
          <p:cNvPicPr>
            <a:picLocks noChangeAspect="1" noChangeArrowheads="1"/>
          </p:cNvPicPr>
          <p:nvPr/>
        </p:nvPicPr>
        <p:blipFill>
          <a:blip r:embed="rId2"/>
          <a:srcRect/>
          <a:stretch>
            <a:fillRect/>
          </a:stretch>
        </p:blipFill>
        <p:spPr bwMode="auto">
          <a:xfrm>
            <a:off x="1198007" y="1647626"/>
            <a:ext cx="9645584" cy="3013274"/>
          </a:xfrm>
          <a:prstGeom prst="rect">
            <a:avLst/>
          </a:prstGeom>
          <a:noFill/>
          <a:ln w="9525">
            <a:noFill/>
            <a:miter lim="800000"/>
            <a:headEnd/>
            <a:tailEnd/>
          </a:ln>
          <a:effectLst/>
        </p:spPr>
      </p:pic>
    </p:spTree>
    <p:extLst>
      <p:ext uri="{BB962C8B-B14F-4D97-AF65-F5344CB8AC3E}">
        <p14:creationId xmlns:p14="http://schemas.microsoft.com/office/powerpoint/2010/main" val="42813185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52A12-D617-4165-B28B-7739854A625B}"/>
              </a:ext>
            </a:extLst>
          </p:cNvPr>
          <p:cNvSpPr>
            <a:spLocks noGrp="1"/>
          </p:cNvSpPr>
          <p:nvPr>
            <p:ph type="title"/>
          </p:nvPr>
        </p:nvSpPr>
        <p:spPr/>
        <p:txBody>
          <a:bodyPr/>
          <a:lstStyle/>
          <a:p>
            <a:pPr algn="ctr"/>
            <a:r>
              <a:rPr lang="en-US" dirty="0"/>
              <a:t>Convolution</a:t>
            </a:r>
          </a:p>
        </p:txBody>
      </p:sp>
      <p:pic>
        <p:nvPicPr>
          <p:cNvPr id="5" name="Picture 4">
            <a:extLst>
              <a:ext uri="{FF2B5EF4-FFF2-40B4-BE49-F238E27FC236}">
                <a16:creationId xmlns:a16="http://schemas.microsoft.com/office/drawing/2014/main" id="{B43FE899-169F-4C63-B5E5-0C724BA74F52}"/>
              </a:ext>
            </a:extLst>
          </p:cNvPr>
          <p:cNvPicPr>
            <a:picLocks noChangeAspect="1"/>
          </p:cNvPicPr>
          <p:nvPr/>
        </p:nvPicPr>
        <p:blipFill>
          <a:blip r:embed="rId2"/>
          <a:stretch>
            <a:fillRect/>
          </a:stretch>
        </p:blipFill>
        <p:spPr>
          <a:xfrm>
            <a:off x="1828800" y="2052637"/>
            <a:ext cx="8534400" cy="2752725"/>
          </a:xfrm>
          <a:prstGeom prst="rect">
            <a:avLst/>
          </a:prstGeom>
        </p:spPr>
      </p:pic>
    </p:spTree>
    <p:extLst>
      <p:ext uri="{BB962C8B-B14F-4D97-AF65-F5344CB8AC3E}">
        <p14:creationId xmlns:p14="http://schemas.microsoft.com/office/powerpoint/2010/main" val="7394072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494AA-CFB9-498F-AF9A-0A9620934635}"/>
              </a:ext>
            </a:extLst>
          </p:cNvPr>
          <p:cNvSpPr>
            <a:spLocks noGrp="1"/>
          </p:cNvSpPr>
          <p:nvPr>
            <p:ph type="title"/>
          </p:nvPr>
        </p:nvSpPr>
        <p:spPr>
          <a:xfrm>
            <a:off x="818322" y="186222"/>
            <a:ext cx="10515600" cy="579092"/>
          </a:xfrm>
        </p:spPr>
        <p:txBody>
          <a:bodyPr>
            <a:normAutofit/>
          </a:bodyPr>
          <a:lstStyle/>
          <a:p>
            <a:pPr algn="ctr"/>
            <a:r>
              <a:rPr lang="en-US" sz="3200" dirty="0"/>
              <a:t>Convolution</a:t>
            </a:r>
          </a:p>
        </p:txBody>
      </p:sp>
      <p:pic>
        <p:nvPicPr>
          <p:cNvPr id="5" name="Picture 4">
            <a:extLst>
              <a:ext uri="{FF2B5EF4-FFF2-40B4-BE49-F238E27FC236}">
                <a16:creationId xmlns:a16="http://schemas.microsoft.com/office/drawing/2014/main" id="{F6496FD0-5F61-4667-8795-1CFEAFAC56B5}"/>
              </a:ext>
            </a:extLst>
          </p:cNvPr>
          <p:cNvPicPr>
            <a:picLocks noChangeAspect="1"/>
          </p:cNvPicPr>
          <p:nvPr/>
        </p:nvPicPr>
        <p:blipFill>
          <a:blip r:embed="rId2"/>
          <a:stretch>
            <a:fillRect/>
          </a:stretch>
        </p:blipFill>
        <p:spPr>
          <a:xfrm>
            <a:off x="1655487" y="658681"/>
            <a:ext cx="8055044" cy="2311335"/>
          </a:xfrm>
          <a:prstGeom prst="rect">
            <a:avLst/>
          </a:prstGeom>
        </p:spPr>
      </p:pic>
      <p:sp>
        <p:nvSpPr>
          <p:cNvPr id="6" name="Rectangle 5"/>
          <p:cNvSpPr/>
          <p:nvPr/>
        </p:nvSpPr>
        <p:spPr>
          <a:xfrm>
            <a:off x="576470" y="2943140"/>
            <a:ext cx="10952922" cy="3785652"/>
          </a:xfrm>
          <a:prstGeom prst="rect">
            <a:avLst/>
          </a:prstGeom>
        </p:spPr>
        <p:txBody>
          <a:bodyPr wrap="square">
            <a:spAutoFit/>
          </a:bodyPr>
          <a:lstStyle/>
          <a:p>
            <a:pPr>
              <a:buFont typeface="Arial" pitchFamily="34" charset="0"/>
              <a:buChar char="•"/>
            </a:pPr>
            <a:r>
              <a:rPr lang="en-US" dirty="0"/>
              <a:t> </a:t>
            </a:r>
            <a:r>
              <a:rPr lang="en-US" sz="2400" dirty="0"/>
              <a:t>It can be used for edge detection and sharpening. It has a form similar to a high-pass filter.</a:t>
            </a:r>
          </a:p>
          <a:p>
            <a:pPr>
              <a:buFont typeface="Arial" pitchFamily="34" charset="0"/>
              <a:buChar char="•"/>
            </a:pPr>
            <a:r>
              <a:rPr lang="en-US" sz="2400" dirty="0"/>
              <a:t>  </a:t>
            </a:r>
            <a:r>
              <a:rPr lang="en-US" sz="2400" b="1" dirty="0"/>
              <a:t>Edge Detection: </a:t>
            </a:r>
            <a:r>
              <a:rPr lang="en-US" sz="2400" dirty="0"/>
              <a:t>This kernel emphasizes the center pixel while considering its surrounding pixels. The negative center value effectively highlights areas where there is a significant change in intensity, making it useful for detecting edges. </a:t>
            </a:r>
          </a:p>
          <a:p>
            <a:pPr>
              <a:buFont typeface="Arial" pitchFamily="34" charset="0"/>
              <a:buChar char="•"/>
            </a:pPr>
            <a:r>
              <a:rPr lang="en-US" sz="2400" b="1" dirty="0"/>
              <a:t>High-Pass Filter</a:t>
            </a:r>
            <a:r>
              <a:rPr lang="en-US" sz="2400" dirty="0"/>
              <a:t>: By subtracting a weighted average of the neighboring pixels from the center pixel, it removes low-frequency components (smooth areas) and enhances high-frequency components (edges).</a:t>
            </a:r>
          </a:p>
          <a:p>
            <a:pPr>
              <a:buFont typeface="Arial" pitchFamily="34" charset="0"/>
              <a:buChar char="•"/>
            </a:pPr>
            <a:r>
              <a:rPr lang="en-IN" sz="2400" dirty="0"/>
              <a:t> </a:t>
            </a:r>
            <a:r>
              <a:rPr lang="en-US" sz="2400" b="1" dirty="0"/>
              <a:t>Sharpening Effect</a:t>
            </a:r>
            <a:r>
              <a:rPr lang="en-US" sz="2400" dirty="0"/>
              <a:t>: When convolved with an image, it can create a sharpening effect, making edges more pronounced.</a:t>
            </a:r>
          </a:p>
        </p:txBody>
      </p:sp>
    </p:spTree>
    <p:extLst>
      <p:ext uri="{BB962C8B-B14F-4D97-AF65-F5344CB8AC3E}">
        <p14:creationId xmlns:p14="http://schemas.microsoft.com/office/powerpoint/2010/main" val="10105056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ED3AB3DA-6A4B-4CE1-98B7-ABF696ADADFB}"/>
              </a:ext>
            </a:extLst>
          </p:cNvPr>
          <p:cNvSpPr>
            <a:spLocks noGrp="1"/>
          </p:cNvSpPr>
          <p:nvPr>
            <p:ph type="title"/>
          </p:nvPr>
        </p:nvSpPr>
        <p:spPr>
          <a:xfrm>
            <a:off x="838200" y="365126"/>
            <a:ext cx="10515600" cy="718240"/>
          </a:xfrm>
        </p:spPr>
        <p:txBody>
          <a:bodyPr/>
          <a:lstStyle/>
          <a:p>
            <a:pPr algn="ctr"/>
            <a:r>
              <a:rPr lang="en-US" dirty="0"/>
              <a:t>Convolution</a:t>
            </a:r>
          </a:p>
        </p:txBody>
      </p:sp>
      <p:sp>
        <p:nvSpPr>
          <p:cNvPr id="14" name="Content Placeholder 13">
            <a:extLst>
              <a:ext uri="{FF2B5EF4-FFF2-40B4-BE49-F238E27FC236}">
                <a16:creationId xmlns:a16="http://schemas.microsoft.com/office/drawing/2014/main" id="{E671AB8E-921F-431D-8557-982571D50EA2}"/>
              </a:ext>
            </a:extLst>
          </p:cNvPr>
          <p:cNvSpPr>
            <a:spLocks noGrp="1"/>
          </p:cNvSpPr>
          <p:nvPr>
            <p:ph sz="half" idx="2"/>
          </p:nvPr>
        </p:nvSpPr>
        <p:spPr/>
        <p:txBody>
          <a:bodyPr/>
          <a:lstStyle/>
          <a:p>
            <a:r>
              <a:rPr lang="en-US" dirty="0"/>
              <a:t>We just slide the kernel over the input image</a:t>
            </a:r>
          </a:p>
        </p:txBody>
      </p:sp>
      <p:pic>
        <p:nvPicPr>
          <p:cNvPr id="11" name="Picture 10">
            <a:extLst>
              <a:ext uri="{FF2B5EF4-FFF2-40B4-BE49-F238E27FC236}">
                <a16:creationId xmlns:a16="http://schemas.microsoft.com/office/drawing/2014/main" id="{02D20045-15E0-4EDA-BEF5-695A2F683077}"/>
              </a:ext>
            </a:extLst>
          </p:cNvPr>
          <p:cNvPicPr>
            <a:picLocks noChangeAspect="1"/>
          </p:cNvPicPr>
          <p:nvPr/>
        </p:nvPicPr>
        <p:blipFill>
          <a:blip r:embed="rId2"/>
          <a:stretch>
            <a:fillRect/>
          </a:stretch>
        </p:blipFill>
        <p:spPr>
          <a:xfrm>
            <a:off x="838200" y="1553369"/>
            <a:ext cx="2552700" cy="4895850"/>
          </a:xfrm>
          <a:prstGeom prst="rect">
            <a:avLst/>
          </a:prstGeom>
        </p:spPr>
      </p:pic>
    </p:spTree>
    <p:extLst>
      <p:ext uri="{BB962C8B-B14F-4D97-AF65-F5344CB8AC3E}">
        <p14:creationId xmlns:p14="http://schemas.microsoft.com/office/powerpoint/2010/main" val="40893378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D68CB0F-A8A5-4678-9D29-29CAB3E54560}"/>
              </a:ext>
            </a:extLst>
          </p:cNvPr>
          <p:cNvSpPr>
            <a:spLocks noGrp="1"/>
          </p:cNvSpPr>
          <p:nvPr>
            <p:ph type="title"/>
          </p:nvPr>
        </p:nvSpPr>
        <p:spPr>
          <a:xfrm>
            <a:off x="838200" y="365126"/>
            <a:ext cx="10515600" cy="807692"/>
          </a:xfrm>
        </p:spPr>
        <p:txBody>
          <a:bodyPr/>
          <a:lstStyle/>
          <a:p>
            <a:pPr algn="ctr"/>
            <a:r>
              <a:rPr lang="en-US" dirty="0"/>
              <a:t>Convolution</a:t>
            </a:r>
          </a:p>
        </p:txBody>
      </p:sp>
      <p:sp>
        <p:nvSpPr>
          <p:cNvPr id="12" name="Content Placeholder 11">
            <a:extLst>
              <a:ext uri="{FF2B5EF4-FFF2-40B4-BE49-F238E27FC236}">
                <a16:creationId xmlns:a16="http://schemas.microsoft.com/office/drawing/2014/main" id="{E8395445-8C04-4132-8DCE-817579E5229D}"/>
              </a:ext>
            </a:extLst>
          </p:cNvPr>
          <p:cNvSpPr>
            <a:spLocks noGrp="1"/>
          </p:cNvSpPr>
          <p:nvPr>
            <p:ph sz="half" idx="2"/>
          </p:nvPr>
        </p:nvSpPr>
        <p:spPr/>
        <p:txBody>
          <a:bodyPr/>
          <a:lstStyle/>
          <a:p>
            <a:r>
              <a:rPr lang="en-US" dirty="0"/>
              <a:t>We just slide the kernel over the input image</a:t>
            </a:r>
          </a:p>
          <a:p>
            <a:r>
              <a:rPr lang="en-US" dirty="0"/>
              <a:t>Each time we slide the kernel we get one value in the output</a:t>
            </a:r>
          </a:p>
        </p:txBody>
      </p:sp>
      <p:pic>
        <p:nvPicPr>
          <p:cNvPr id="9" name="Picture 8">
            <a:extLst>
              <a:ext uri="{FF2B5EF4-FFF2-40B4-BE49-F238E27FC236}">
                <a16:creationId xmlns:a16="http://schemas.microsoft.com/office/drawing/2014/main" id="{540DAB54-503D-48F2-81DE-3E236FA1240D}"/>
              </a:ext>
            </a:extLst>
          </p:cNvPr>
          <p:cNvPicPr>
            <a:picLocks noChangeAspect="1"/>
          </p:cNvPicPr>
          <p:nvPr/>
        </p:nvPicPr>
        <p:blipFill>
          <a:blip r:embed="rId2"/>
          <a:stretch>
            <a:fillRect/>
          </a:stretch>
        </p:blipFill>
        <p:spPr>
          <a:xfrm>
            <a:off x="838200" y="1553369"/>
            <a:ext cx="4724400" cy="4895850"/>
          </a:xfrm>
          <a:prstGeom prst="rect">
            <a:avLst/>
          </a:prstGeom>
        </p:spPr>
      </p:pic>
    </p:spTree>
    <p:extLst>
      <p:ext uri="{BB962C8B-B14F-4D97-AF65-F5344CB8AC3E}">
        <p14:creationId xmlns:p14="http://schemas.microsoft.com/office/powerpoint/2010/main" val="22570078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E98A3F04-8958-4984-A482-76C49C789765}"/>
              </a:ext>
            </a:extLst>
          </p:cNvPr>
          <p:cNvSpPr>
            <a:spLocks noGrp="1"/>
          </p:cNvSpPr>
          <p:nvPr>
            <p:ph type="title"/>
          </p:nvPr>
        </p:nvSpPr>
        <p:spPr>
          <a:xfrm>
            <a:off x="838200" y="365126"/>
            <a:ext cx="10515600" cy="807692"/>
          </a:xfrm>
        </p:spPr>
        <p:txBody>
          <a:bodyPr/>
          <a:lstStyle/>
          <a:p>
            <a:pPr algn="ctr"/>
            <a:r>
              <a:rPr lang="en-US" dirty="0"/>
              <a:t>Convolution</a:t>
            </a:r>
          </a:p>
        </p:txBody>
      </p:sp>
      <p:sp>
        <p:nvSpPr>
          <p:cNvPr id="14" name="Content Placeholder 13">
            <a:extLst>
              <a:ext uri="{FF2B5EF4-FFF2-40B4-BE49-F238E27FC236}">
                <a16:creationId xmlns:a16="http://schemas.microsoft.com/office/drawing/2014/main" id="{5F5725B4-D74E-4588-956B-88E9D1E727FF}"/>
              </a:ext>
            </a:extLst>
          </p:cNvPr>
          <p:cNvSpPr>
            <a:spLocks noGrp="1"/>
          </p:cNvSpPr>
          <p:nvPr>
            <p:ph sz="half" idx="2"/>
          </p:nvPr>
        </p:nvSpPr>
        <p:spPr/>
        <p:txBody>
          <a:bodyPr/>
          <a:lstStyle/>
          <a:p>
            <a:r>
              <a:rPr lang="en-US" dirty="0"/>
              <a:t>We just slide the kernel over the input image</a:t>
            </a:r>
          </a:p>
          <a:p>
            <a:r>
              <a:rPr lang="en-US" dirty="0"/>
              <a:t>Each time we slide the kernel we get one value in the output</a:t>
            </a:r>
          </a:p>
        </p:txBody>
      </p:sp>
      <p:pic>
        <p:nvPicPr>
          <p:cNvPr id="11" name="Picture 10">
            <a:extLst>
              <a:ext uri="{FF2B5EF4-FFF2-40B4-BE49-F238E27FC236}">
                <a16:creationId xmlns:a16="http://schemas.microsoft.com/office/drawing/2014/main" id="{A9C9FED4-A064-449D-A53C-F9680B1EAEC5}"/>
              </a:ext>
            </a:extLst>
          </p:cNvPr>
          <p:cNvPicPr>
            <a:picLocks noChangeAspect="1"/>
          </p:cNvPicPr>
          <p:nvPr/>
        </p:nvPicPr>
        <p:blipFill>
          <a:blip r:embed="rId2"/>
          <a:stretch>
            <a:fillRect/>
          </a:stretch>
        </p:blipFill>
        <p:spPr>
          <a:xfrm>
            <a:off x="908540" y="1553369"/>
            <a:ext cx="4724400" cy="4895850"/>
          </a:xfrm>
          <a:prstGeom prst="rect">
            <a:avLst/>
          </a:prstGeom>
        </p:spPr>
      </p:pic>
    </p:spTree>
    <p:extLst>
      <p:ext uri="{BB962C8B-B14F-4D97-AF65-F5344CB8AC3E}">
        <p14:creationId xmlns:p14="http://schemas.microsoft.com/office/powerpoint/2010/main" val="42091462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165BF33-B002-4A02-8C53-0FF5484640D1}"/>
              </a:ext>
            </a:extLst>
          </p:cNvPr>
          <p:cNvSpPr>
            <a:spLocks noGrp="1"/>
          </p:cNvSpPr>
          <p:nvPr>
            <p:ph type="title"/>
          </p:nvPr>
        </p:nvSpPr>
        <p:spPr>
          <a:xfrm>
            <a:off x="838200" y="365125"/>
            <a:ext cx="10515600" cy="777875"/>
          </a:xfrm>
        </p:spPr>
        <p:txBody>
          <a:bodyPr/>
          <a:lstStyle/>
          <a:p>
            <a:pPr algn="ctr"/>
            <a:r>
              <a:rPr lang="en-US" dirty="0"/>
              <a:t>Convolution</a:t>
            </a:r>
          </a:p>
        </p:txBody>
      </p:sp>
      <p:sp>
        <p:nvSpPr>
          <p:cNvPr id="10" name="Content Placeholder 9">
            <a:extLst>
              <a:ext uri="{FF2B5EF4-FFF2-40B4-BE49-F238E27FC236}">
                <a16:creationId xmlns:a16="http://schemas.microsoft.com/office/drawing/2014/main" id="{1EA96C3C-1C0B-4C19-9E01-855F29E20745}"/>
              </a:ext>
            </a:extLst>
          </p:cNvPr>
          <p:cNvSpPr>
            <a:spLocks noGrp="1"/>
          </p:cNvSpPr>
          <p:nvPr>
            <p:ph sz="half" idx="2"/>
          </p:nvPr>
        </p:nvSpPr>
        <p:spPr/>
        <p:txBody>
          <a:bodyPr/>
          <a:lstStyle/>
          <a:p>
            <a:r>
              <a:rPr lang="en-US" dirty="0"/>
              <a:t>We just slide the kernel over the input image</a:t>
            </a:r>
          </a:p>
          <a:p>
            <a:r>
              <a:rPr lang="en-US" dirty="0"/>
              <a:t>Each time we slide the kernel we get one value in the output</a:t>
            </a:r>
          </a:p>
          <a:p>
            <a:endParaRPr lang="en-US" dirty="0"/>
          </a:p>
        </p:txBody>
      </p:sp>
      <p:pic>
        <p:nvPicPr>
          <p:cNvPr id="7" name="Picture 6">
            <a:extLst>
              <a:ext uri="{FF2B5EF4-FFF2-40B4-BE49-F238E27FC236}">
                <a16:creationId xmlns:a16="http://schemas.microsoft.com/office/drawing/2014/main" id="{ADF3CE81-19C7-4B21-A289-0722B8AF4BDD}"/>
              </a:ext>
            </a:extLst>
          </p:cNvPr>
          <p:cNvPicPr>
            <a:picLocks noChangeAspect="1"/>
          </p:cNvPicPr>
          <p:nvPr/>
        </p:nvPicPr>
        <p:blipFill>
          <a:blip r:embed="rId2"/>
          <a:stretch>
            <a:fillRect/>
          </a:stretch>
        </p:blipFill>
        <p:spPr>
          <a:xfrm>
            <a:off x="950744" y="1553369"/>
            <a:ext cx="4724400" cy="4895850"/>
          </a:xfrm>
          <a:prstGeom prst="rect">
            <a:avLst/>
          </a:prstGeom>
        </p:spPr>
      </p:pic>
    </p:spTree>
    <p:extLst>
      <p:ext uri="{BB962C8B-B14F-4D97-AF65-F5344CB8AC3E}">
        <p14:creationId xmlns:p14="http://schemas.microsoft.com/office/powerpoint/2010/main" val="27391060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5A4729A-97A1-4D6A-921C-0CB00BFCAF58}"/>
              </a:ext>
            </a:extLst>
          </p:cNvPr>
          <p:cNvSpPr>
            <a:spLocks noGrp="1"/>
          </p:cNvSpPr>
          <p:nvPr>
            <p:ph type="title"/>
          </p:nvPr>
        </p:nvSpPr>
        <p:spPr>
          <a:xfrm>
            <a:off x="838200" y="365126"/>
            <a:ext cx="10515600" cy="628788"/>
          </a:xfrm>
        </p:spPr>
        <p:txBody>
          <a:bodyPr>
            <a:normAutofit fontScale="90000"/>
          </a:bodyPr>
          <a:lstStyle/>
          <a:p>
            <a:pPr algn="ctr"/>
            <a:r>
              <a:rPr lang="en-US" dirty="0"/>
              <a:t>Convolution</a:t>
            </a:r>
          </a:p>
        </p:txBody>
      </p:sp>
      <p:sp>
        <p:nvSpPr>
          <p:cNvPr id="12" name="Content Placeholder 11">
            <a:extLst>
              <a:ext uri="{FF2B5EF4-FFF2-40B4-BE49-F238E27FC236}">
                <a16:creationId xmlns:a16="http://schemas.microsoft.com/office/drawing/2014/main" id="{0FD82691-7669-4A18-977B-29792487F6FC}"/>
              </a:ext>
            </a:extLst>
          </p:cNvPr>
          <p:cNvSpPr>
            <a:spLocks noGrp="1"/>
          </p:cNvSpPr>
          <p:nvPr>
            <p:ph sz="half" idx="2"/>
          </p:nvPr>
        </p:nvSpPr>
        <p:spPr/>
        <p:txBody>
          <a:bodyPr/>
          <a:lstStyle/>
          <a:p>
            <a:r>
              <a:rPr lang="en-US" dirty="0"/>
              <a:t>We just slide the kernel over the input image</a:t>
            </a:r>
          </a:p>
          <a:p>
            <a:r>
              <a:rPr lang="en-US" dirty="0"/>
              <a:t>Each time we slide the kernel we get one value in the output</a:t>
            </a:r>
          </a:p>
          <a:p>
            <a:endParaRPr lang="en-US" dirty="0"/>
          </a:p>
        </p:txBody>
      </p:sp>
      <p:pic>
        <p:nvPicPr>
          <p:cNvPr id="9" name="Picture 8">
            <a:extLst>
              <a:ext uri="{FF2B5EF4-FFF2-40B4-BE49-F238E27FC236}">
                <a16:creationId xmlns:a16="http://schemas.microsoft.com/office/drawing/2014/main" id="{77793DA1-6259-4D53-9173-A3A4EA052508}"/>
              </a:ext>
            </a:extLst>
          </p:cNvPr>
          <p:cNvPicPr>
            <a:picLocks noChangeAspect="1"/>
          </p:cNvPicPr>
          <p:nvPr/>
        </p:nvPicPr>
        <p:blipFill>
          <a:blip r:embed="rId2"/>
          <a:stretch>
            <a:fillRect/>
          </a:stretch>
        </p:blipFill>
        <p:spPr>
          <a:xfrm>
            <a:off x="908540" y="1553369"/>
            <a:ext cx="4724400" cy="4895850"/>
          </a:xfrm>
          <a:prstGeom prst="rect">
            <a:avLst/>
          </a:prstGeom>
        </p:spPr>
      </p:pic>
    </p:spTree>
    <p:extLst>
      <p:ext uri="{BB962C8B-B14F-4D97-AF65-F5344CB8AC3E}">
        <p14:creationId xmlns:p14="http://schemas.microsoft.com/office/powerpoint/2010/main" val="4037679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E6790DA-8DB1-4265-842B-AB9C5F0AFDC0}"/>
              </a:ext>
            </a:extLst>
          </p:cNvPr>
          <p:cNvSpPr>
            <a:spLocks noGrp="1"/>
          </p:cNvSpPr>
          <p:nvPr>
            <p:ph type="title"/>
          </p:nvPr>
        </p:nvSpPr>
        <p:spPr>
          <a:xfrm>
            <a:off x="838200" y="365126"/>
            <a:ext cx="10515600" cy="608910"/>
          </a:xfrm>
        </p:spPr>
        <p:txBody>
          <a:bodyPr>
            <a:normAutofit fontScale="90000"/>
          </a:bodyPr>
          <a:lstStyle/>
          <a:p>
            <a:pPr algn="ctr"/>
            <a:r>
              <a:rPr lang="en-US" dirty="0"/>
              <a:t>Convolution</a:t>
            </a:r>
          </a:p>
        </p:txBody>
      </p:sp>
      <p:sp>
        <p:nvSpPr>
          <p:cNvPr id="10" name="Content Placeholder 9">
            <a:extLst>
              <a:ext uri="{FF2B5EF4-FFF2-40B4-BE49-F238E27FC236}">
                <a16:creationId xmlns:a16="http://schemas.microsoft.com/office/drawing/2014/main" id="{A282ECEC-10C0-4B63-A11D-9C98E3CB321B}"/>
              </a:ext>
            </a:extLst>
          </p:cNvPr>
          <p:cNvSpPr>
            <a:spLocks noGrp="1"/>
          </p:cNvSpPr>
          <p:nvPr>
            <p:ph sz="half" idx="2"/>
          </p:nvPr>
        </p:nvSpPr>
        <p:spPr/>
        <p:txBody>
          <a:bodyPr/>
          <a:lstStyle/>
          <a:p>
            <a:r>
              <a:rPr lang="en-US" dirty="0"/>
              <a:t>We just slide the kernel over the input image</a:t>
            </a:r>
          </a:p>
          <a:p>
            <a:r>
              <a:rPr lang="en-US" dirty="0"/>
              <a:t>Each time we slide the kernel we get one value in the output</a:t>
            </a:r>
          </a:p>
          <a:p>
            <a:r>
              <a:rPr lang="en-US" dirty="0"/>
              <a:t>The resulting output is called a feature map.</a:t>
            </a:r>
          </a:p>
          <a:p>
            <a:r>
              <a:rPr lang="en-US" dirty="0"/>
              <a:t>We can use multiple filters to get multiple feature maps.</a:t>
            </a:r>
          </a:p>
        </p:txBody>
      </p:sp>
      <p:pic>
        <p:nvPicPr>
          <p:cNvPr id="7" name="Picture 6">
            <a:extLst>
              <a:ext uri="{FF2B5EF4-FFF2-40B4-BE49-F238E27FC236}">
                <a16:creationId xmlns:a16="http://schemas.microsoft.com/office/drawing/2014/main" id="{50C276F7-768A-48AA-963D-C6FCDDA8BC69}"/>
              </a:ext>
            </a:extLst>
          </p:cNvPr>
          <p:cNvPicPr>
            <a:picLocks noChangeAspect="1"/>
          </p:cNvPicPr>
          <p:nvPr/>
        </p:nvPicPr>
        <p:blipFill>
          <a:blip r:embed="rId2"/>
          <a:stretch>
            <a:fillRect/>
          </a:stretch>
        </p:blipFill>
        <p:spPr>
          <a:xfrm>
            <a:off x="880404" y="1553369"/>
            <a:ext cx="4724400" cy="4895850"/>
          </a:xfrm>
          <a:prstGeom prst="rect">
            <a:avLst/>
          </a:prstGeom>
        </p:spPr>
      </p:pic>
    </p:spTree>
    <p:extLst>
      <p:ext uri="{BB962C8B-B14F-4D97-AF65-F5344CB8AC3E}">
        <p14:creationId xmlns:p14="http://schemas.microsoft.com/office/powerpoint/2010/main" val="26585968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4060CA-151B-40C0-9BFE-E05A897F04CA}"/>
              </a:ext>
            </a:extLst>
          </p:cNvPr>
          <p:cNvSpPr>
            <a:spLocks noGrp="1"/>
          </p:cNvSpPr>
          <p:nvPr>
            <p:ph type="title"/>
          </p:nvPr>
        </p:nvSpPr>
        <p:spPr/>
        <p:txBody>
          <a:bodyPr/>
          <a:lstStyle/>
          <a:p>
            <a:pPr algn="ctr"/>
            <a:r>
              <a:rPr lang="en-US" dirty="0"/>
              <a:t>Convolution in 1-D</a:t>
            </a:r>
          </a:p>
        </p:txBody>
      </p:sp>
      <p:sp>
        <p:nvSpPr>
          <p:cNvPr id="9" name="Content Placeholder 8">
            <a:extLst>
              <a:ext uri="{FF2B5EF4-FFF2-40B4-BE49-F238E27FC236}">
                <a16:creationId xmlns:a16="http://schemas.microsoft.com/office/drawing/2014/main" id="{599C2834-0A08-453C-9EF5-AAFB4B6565FB}"/>
              </a:ext>
            </a:extLst>
          </p:cNvPr>
          <p:cNvSpPr>
            <a:spLocks noGrp="1"/>
          </p:cNvSpPr>
          <p:nvPr>
            <p:ph sz="half" idx="1"/>
          </p:nvPr>
        </p:nvSpPr>
        <p:spPr/>
        <p:txBody>
          <a:bodyPr/>
          <a:lstStyle/>
          <a:p>
            <a:r>
              <a:rPr lang="en-US" dirty="0"/>
              <a:t>In the 1D case, we slide a one dimensional filter over a one dimensional input</a:t>
            </a:r>
          </a:p>
        </p:txBody>
      </p:sp>
      <p:graphicFrame>
        <p:nvGraphicFramePr>
          <p:cNvPr id="10" name="Table 7">
            <a:extLst>
              <a:ext uri="{FF2B5EF4-FFF2-40B4-BE49-F238E27FC236}">
                <a16:creationId xmlns:a16="http://schemas.microsoft.com/office/drawing/2014/main" id="{BD7C9BC9-AE43-427F-8A14-8B19FD351FD7}"/>
              </a:ext>
            </a:extLst>
          </p:cNvPr>
          <p:cNvGraphicFramePr>
            <a:graphicFrameLocks/>
          </p:cNvGraphicFramePr>
          <p:nvPr>
            <p:extLst>
              <p:ext uri="{D42A27DB-BD31-4B8C-83A1-F6EECF244321}">
                <p14:modId xmlns:p14="http://schemas.microsoft.com/office/powerpoint/2010/main" val="4073048996"/>
              </p:ext>
            </p:extLst>
          </p:nvPr>
        </p:nvGraphicFramePr>
        <p:xfrm>
          <a:off x="5537983" y="1825625"/>
          <a:ext cx="5815817" cy="819101"/>
        </p:xfrm>
        <a:graphic>
          <a:graphicData uri="http://schemas.openxmlformats.org/drawingml/2006/table">
            <a:tbl>
              <a:tblPr firstRow="1" bandRow="1">
                <a:tableStyleId>{5940675A-B579-460E-94D1-54222C63F5DA}</a:tableStyleId>
              </a:tblPr>
              <a:tblGrid>
                <a:gridCol w="830831">
                  <a:extLst>
                    <a:ext uri="{9D8B030D-6E8A-4147-A177-3AD203B41FA5}">
                      <a16:colId xmlns:a16="http://schemas.microsoft.com/office/drawing/2014/main" val="3555124935"/>
                    </a:ext>
                  </a:extLst>
                </a:gridCol>
                <a:gridCol w="830831">
                  <a:extLst>
                    <a:ext uri="{9D8B030D-6E8A-4147-A177-3AD203B41FA5}">
                      <a16:colId xmlns:a16="http://schemas.microsoft.com/office/drawing/2014/main" val="4234059008"/>
                    </a:ext>
                  </a:extLst>
                </a:gridCol>
                <a:gridCol w="830831">
                  <a:extLst>
                    <a:ext uri="{9D8B030D-6E8A-4147-A177-3AD203B41FA5}">
                      <a16:colId xmlns:a16="http://schemas.microsoft.com/office/drawing/2014/main" val="3790790698"/>
                    </a:ext>
                  </a:extLst>
                </a:gridCol>
                <a:gridCol w="830831">
                  <a:extLst>
                    <a:ext uri="{9D8B030D-6E8A-4147-A177-3AD203B41FA5}">
                      <a16:colId xmlns:a16="http://schemas.microsoft.com/office/drawing/2014/main" val="4135970635"/>
                    </a:ext>
                  </a:extLst>
                </a:gridCol>
                <a:gridCol w="830831">
                  <a:extLst>
                    <a:ext uri="{9D8B030D-6E8A-4147-A177-3AD203B41FA5}">
                      <a16:colId xmlns:a16="http://schemas.microsoft.com/office/drawing/2014/main" val="4057735671"/>
                    </a:ext>
                  </a:extLst>
                </a:gridCol>
                <a:gridCol w="830831">
                  <a:extLst>
                    <a:ext uri="{9D8B030D-6E8A-4147-A177-3AD203B41FA5}">
                      <a16:colId xmlns:a16="http://schemas.microsoft.com/office/drawing/2014/main" val="1518962704"/>
                    </a:ext>
                  </a:extLst>
                </a:gridCol>
                <a:gridCol w="830831">
                  <a:extLst>
                    <a:ext uri="{9D8B030D-6E8A-4147-A177-3AD203B41FA5}">
                      <a16:colId xmlns:a16="http://schemas.microsoft.com/office/drawing/2014/main" val="3089979376"/>
                    </a:ext>
                  </a:extLst>
                </a:gridCol>
              </a:tblGrid>
              <a:tr h="819101">
                <a:tc>
                  <a:txBody>
                    <a:bodyPr/>
                    <a:lstStyle/>
                    <a:p>
                      <a:pPr algn="ctr"/>
                      <a:r>
                        <a:rPr lang="en-US" sz="3600" b="1" dirty="0"/>
                        <a:t>A</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sz="3600" b="1" dirty="0"/>
                        <a:t>B</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sz="3600" b="1" dirty="0"/>
                        <a:t>C</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sz="3600" b="1" dirty="0"/>
                        <a:t>B</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sz="3600" b="1" dirty="0"/>
                        <a:t>C</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sz="3600" b="1" dirty="0"/>
                        <a:t>A</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sz="3600" b="1" dirty="0"/>
                        <a:t>B</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6145087"/>
                  </a:ext>
                </a:extLst>
              </a:tr>
            </a:tbl>
          </a:graphicData>
        </a:graphic>
      </p:graphicFrame>
      <p:graphicFrame>
        <p:nvGraphicFramePr>
          <p:cNvPr id="11" name="Table 7">
            <a:extLst>
              <a:ext uri="{FF2B5EF4-FFF2-40B4-BE49-F238E27FC236}">
                <a16:creationId xmlns:a16="http://schemas.microsoft.com/office/drawing/2014/main" id="{51F94DEE-B8EB-4CF8-8C03-09E80CA124F4}"/>
              </a:ext>
            </a:extLst>
          </p:cNvPr>
          <p:cNvGraphicFramePr>
            <a:graphicFrameLocks/>
          </p:cNvGraphicFramePr>
          <p:nvPr>
            <p:extLst>
              <p:ext uri="{D42A27DB-BD31-4B8C-83A1-F6EECF244321}">
                <p14:modId xmlns:p14="http://schemas.microsoft.com/office/powerpoint/2010/main" val="122183384"/>
              </p:ext>
            </p:extLst>
          </p:nvPr>
        </p:nvGraphicFramePr>
        <p:xfrm>
          <a:off x="5537983" y="1825625"/>
          <a:ext cx="2492493" cy="819101"/>
        </p:xfrm>
        <a:graphic>
          <a:graphicData uri="http://schemas.openxmlformats.org/drawingml/2006/table">
            <a:tbl>
              <a:tblPr firstRow="1" bandRow="1">
                <a:tableStyleId>{5940675A-B579-460E-94D1-54222C63F5DA}</a:tableStyleId>
              </a:tblPr>
              <a:tblGrid>
                <a:gridCol w="830831">
                  <a:extLst>
                    <a:ext uri="{9D8B030D-6E8A-4147-A177-3AD203B41FA5}">
                      <a16:colId xmlns:a16="http://schemas.microsoft.com/office/drawing/2014/main" val="3555124935"/>
                    </a:ext>
                  </a:extLst>
                </a:gridCol>
                <a:gridCol w="830831">
                  <a:extLst>
                    <a:ext uri="{9D8B030D-6E8A-4147-A177-3AD203B41FA5}">
                      <a16:colId xmlns:a16="http://schemas.microsoft.com/office/drawing/2014/main" val="4234059008"/>
                    </a:ext>
                  </a:extLst>
                </a:gridCol>
                <a:gridCol w="830831">
                  <a:extLst>
                    <a:ext uri="{9D8B030D-6E8A-4147-A177-3AD203B41FA5}">
                      <a16:colId xmlns:a16="http://schemas.microsoft.com/office/drawing/2014/main" val="3790790698"/>
                    </a:ext>
                  </a:extLst>
                </a:gridCol>
              </a:tblGrid>
              <a:tr h="819101">
                <a:tc>
                  <a:txBody>
                    <a:bodyPr/>
                    <a:lstStyle/>
                    <a:p>
                      <a:pPr algn="ctr"/>
                      <a:endParaRPr lang="en-US" dirty="0"/>
                    </a:p>
                  </a:txBody>
                  <a:tcPr anchor="ctr">
                    <a:lnL w="57150" cap="flat" cmpd="sng" algn="ctr">
                      <a:solidFill>
                        <a:srgbClr val="0217DC"/>
                      </a:solidFill>
                      <a:prstDash val="solid"/>
                      <a:round/>
                      <a:headEnd type="none" w="med" len="med"/>
                      <a:tailEnd type="none" w="med" len="med"/>
                    </a:lnL>
                    <a:lnR w="3810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3810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extLst>
                  <a:ext uri="{0D108BD9-81ED-4DB2-BD59-A6C34878D82A}">
                    <a16:rowId xmlns:a16="http://schemas.microsoft.com/office/drawing/2014/main" val="516145087"/>
                  </a:ext>
                </a:extLst>
              </a:tr>
            </a:tbl>
          </a:graphicData>
        </a:graphic>
      </p:graphicFrame>
    </p:spTree>
    <p:extLst>
      <p:ext uri="{BB962C8B-B14F-4D97-AF65-F5344CB8AC3E}">
        <p14:creationId xmlns:p14="http://schemas.microsoft.com/office/powerpoint/2010/main" val="7840362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4060CA-151B-40C0-9BFE-E05A897F04CA}"/>
              </a:ext>
            </a:extLst>
          </p:cNvPr>
          <p:cNvSpPr>
            <a:spLocks noGrp="1"/>
          </p:cNvSpPr>
          <p:nvPr>
            <p:ph type="title"/>
          </p:nvPr>
        </p:nvSpPr>
        <p:spPr>
          <a:xfrm>
            <a:off x="838200" y="365126"/>
            <a:ext cx="10515600" cy="579092"/>
          </a:xfrm>
        </p:spPr>
        <p:txBody>
          <a:bodyPr>
            <a:normAutofit fontScale="90000"/>
          </a:bodyPr>
          <a:lstStyle/>
          <a:p>
            <a:pPr algn="ctr"/>
            <a:r>
              <a:rPr lang="en-US" dirty="0"/>
              <a:t>Convolution</a:t>
            </a:r>
          </a:p>
        </p:txBody>
      </p:sp>
      <p:sp>
        <p:nvSpPr>
          <p:cNvPr id="9" name="Content Placeholder 8">
            <a:extLst>
              <a:ext uri="{FF2B5EF4-FFF2-40B4-BE49-F238E27FC236}">
                <a16:creationId xmlns:a16="http://schemas.microsoft.com/office/drawing/2014/main" id="{599C2834-0A08-453C-9EF5-AAFB4B6565FB}"/>
              </a:ext>
            </a:extLst>
          </p:cNvPr>
          <p:cNvSpPr>
            <a:spLocks noGrp="1"/>
          </p:cNvSpPr>
          <p:nvPr>
            <p:ph sz="half" idx="1"/>
          </p:nvPr>
        </p:nvSpPr>
        <p:spPr/>
        <p:txBody>
          <a:bodyPr/>
          <a:lstStyle/>
          <a:p>
            <a:r>
              <a:rPr lang="en-US" dirty="0"/>
              <a:t>In the 1D case, we slide a one dimensional filter over a one dimensional input</a:t>
            </a:r>
          </a:p>
          <a:p>
            <a:endParaRPr lang="en-US" dirty="0"/>
          </a:p>
        </p:txBody>
      </p:sp>
      <p:graphicFrame>
        <p:nvGraphicFramePr>
          <p:cNvPr id="10" name="Table 7">
            <a:extLst>
              <a:ext uri="{FF2B5EF4-FFF2-40B4-BE49-F238E27FC236}">
                <a16:creationId xmlns:a16="http://schemas.microsoft.com/office/drawing/2014/main" id="{BD7C9BC9-AE43-427F-8A14-8B19FD351FD7}"/>
              </a:ext>
            </a:extLst>
          </p:cNvPr>
          <p:cNvGraphicFramePr>
            <a:graphicFrameLocks/>
          </p:cNvGraphicFramePr>
          <p:nvPr/>
        </p:nvGraphicFramePr>
        <p:xfrm>
          <a:off x="5537983" y="1825625"/>
          <a:ext cx="5815817" cy="819101"/>
        </p:xfrm>
        <a:graphic>
          <a:graphicData uri="http://schemas.openxmlformats.org/drawingml/2006/table">
            <a:tbl>
              <a:tblPr firstRow="1" bandRow="1">
                <a:tableStyleId>{5940675A-B579-460E-94D1-54222C63F5DA}</a:tableStyleId>
              </a:tblPr>
              <a:tblGrid>
                <a:gridCol w="830831">
                  <a:extLst>
                    <a:ext uri="{9D8B030D-6E8A-4147-A177-3AD203B41FA5}">
                      <a16:colId xmlns:a16="http://schemas.microsoft.com/office/drawing/2014/main" val="3555124935"/>
                    </a:ext>
                  </a:extLst>
                </a:gridCol>
                <a:gridCol w="830831">
                  <a:extLst>
                    <a:ext uri="{9D8B030D-6E8A-4147-A177-3AD203B41FA5}">
                      <a16:colId xmlns:a16="http://schemas.microsoft.com/office/drawing/2014/main" val="4234059008"/>
                    </a:ext>
                  </a:extLst>
                </a:gridCol>
                <a:gridCol w="830831">
                  <a:extLst>
                    <a:ext uri="{9D8B030D-6E8A-4147-A177-3AD203B41FA5}">
                      <a16:colId xmlns:a16="http://schemas.microsoft.com/office/drawing/2014/main" val="3790790698"/>
                    </a:ext>
                  </a:extLst>
                </a:gridCol>
                <a:gridCol w="830831">
                  <a:extLst>
                    <a:ext uri="{9D8B030D-6E8A-4147-A177-3AD203B41FA5}">
                      <a16:colId xmlns:a16="http://schemas.microsoft.com/office/drawing/2014/main" val="4135970635"/>
                    </a:ext>
                  </a:extLst>
                </a:gridCol>
                <a:gridCol w="830831">
                  <a:extLst>
                    <a:ext uri="{9D8B030D-6E8A-4147-A177-3AD203B41FA5}">
                      <a16:colId xmlns:a16="http://schemas.microsoft.com/office/drawing/2014/main" val="4057735671"/>
                    </a:ext>
                  </a:extLst>
                </a:gridCol>
                <a:gridCol w="830831">
                  <a:extLst>
                    <a:ext uri="{9D8B030D-6E8A-4147-A177-3AD203B41FA5}">
                      <a16:colId xmlns:a16="http://schemas.microsoft.com/office/drawing/2014/main" val="1518962704"/>
                    </a:ext>
                  </a:extLst>
                </a:gridCol>
                <a:gridCol w="830831">
                  <a:extLst>
                    <a:ext uri="{9D8B030D-6E8A-4147-A177-3AD203B41FA5}">
                      <a16:colId xmlns:a16="http://schemas.microsoft.com/office/drawing/2014/main" val="3089979376"/>
                    </a:ext>
                  </a:extLst>
                </a:gridCol>
              </a:tblGrid>
              <a:tr h="819101">
                <a:tc>
                  <a:txBody>
                    <a:bodyPr/>
                    <a:lstStyle/>
                    <a:p>
                      <a:pPr algn="ctr"/>
                      <a:r>
                        <a:rPr lang="en-US" sz="3600" b="1" dirty="0"/>
                        <a:t>A</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sz="3600" b="1" dirty="0"/>
                        <a:t>B</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sz="3600" b="1" dirty="0"/>
                        <a:t>C</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sz="3600" b="1" dirty="0"/>
                        <a:t>B</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sz="3600" b="1" dirty="0"/>
                        <a:t>C</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sz="3600" b="1" dirty="0"/>
                        <a:t>A</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sz="3600" b="1" dirty="0"/>
                        <a:t>B</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6145087"/>
                  </a:ext>
                </a:extLst>
              </a:tr>
            </a:tbl>
          </a:graphicData>
        </a:graphic>
      </p:graphicFrame>
      <p:graphicFrame>
        <p:nvGraphicFramePr>
          <p:cNvPr id="11" name="Table 7">
            <a:extLst>
              <a:ext uri="{FF2B5EF4-FFF2-40B4-BE49-F238E27FC236}">
                <a16:creationId xmlns:a16="http://schemas.microsoft.com/office/drawing/2014/main" id="{51F94DEE-B8EB-4CF8-8C03-09E80CA124F4}"/>
              </a:ext>
            </a:extLst>
          </p:cNvPr>
          <p:cNvGraphicFramePr>
            <a:graphicFrameLocks/>
          </p:cNvGraphicFramePr>
          <p:nvPr>
            <p:extLst>
              <p:ext uri="{D42A27DB-BD31-4B8C-83A1-F6EECF244321}">
                <p14:modId xmlns:p14="http://schemas.microsoft.com/office/powerpoint/2010/main" val="1661343281"/>
              </p:ext>
            </p:extLst>
          </p:nvPr>
        </p:nvGraphicFramePr>
        <p:xfrm>
          <a:off x="6367980" y="1825625"/>
          <a:ext cx="2492493" cy="819101"/>
        </p:xfrm>
        <a:graphic>
          <a:graphicData uri="http://schemas.openxmlformats.org/drawingml/2006/table">
            <a:tbl>
              <a:tblPr firstRow="1" bandRow="1">
                <a:tableStyleId>{5940675A-B579-460E-94D1-54222C63F5DA}</a:tableStyleId>
              </a:tblPr>
              <a:tblGrid>
                <a:gridCol w="830831">
                  <a:extLst>
                    <a:ext uri="{9D8B030D-6E8A-4147-A177-3AD203B41FA5}">
                      <a16:colId xmlns:a16="http://schemas.microsoft.com/office/drawing/2014/main" val="3555124935"/>
                    </a:ext>
                  </a:extLst>
                </a:gridCol>
                <a:gridCol w="830831">
                  <a:extLst>
                    <a:ext uri="{9D8B030D-6E8A-4147-A177-3AD203B41FA5}">
                      <a16:colId xmlns:a16="http://schemas.microsoft.com/office/drawing/2014/main" val="4234059008"/>
                    </a:ext>
                  </a:extLst>
                </a:gridCol>
                <a:gridCol w="830831">
                  <a:extLst>
                    <a:ext uri="{9D8B030D-6E8A-4147-A177-3AD203B41FA5}">
                      <a16:colId xmlns:a16="http://schemas.microsoft.com/office/drawing/2014/main" val="3790790698"/>
                    </a:ext>
                  </a:extLst>
                </a:gridCol>
              </a:tblGrid>
              <a:tr h="819101">
                <a:tc>
                  <a:txBody>
                    <a:bodyPr/>
                    <a:lstStyle/>
                    <a:p>
                      <a:pPr algn="ctr"/>
                      <a:endParaRPr lang="en-US" dirty="0"/>
                    </a:p>
                  </a:txBody>
                  <a:tcPr anchor="ctr">
                    <a:lnL w="57150" cap="flat" cmpd="sng" algn="ctr">
                      <a:solidFill>
                        <a:srgbClr val="0217DC"/>
                      </a:solidFill>
                      <a:prstDash val="solid"/>
                      <a:round/>
                      <a:headEnd type="none" w="med" len="med"/>
                      <a:tailEnd type="none" w="med" len="med"/>
                    </a:lnL>
                    <a:lnR w="3810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3810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extLst>
                  <a:ext uri="{0D108BD9-81ED-4DB2-BD59-A6C34878D82A}">
                    <a16:rowId xmlns:a16="http://schemas.microsoft.com/office/drawing/2014/main" val="516145087"/>
                  </a:ext>
                </a:extLst>
              </a:tr>
            </a:tbl>
          </a:graphicData>
        </a:graphic>
      </p:graphicFrame>
    </p:spTree>
    <p:extLst>
      <p:ext uri="{BB962C8B-B14F-4D97-AF65-F5344CB8AC3E}">
        <p14:creationId xmlns:p14="http://schemas.microsoft.com/office/powerpoint/2010/main" val="2368960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4060CA-151B-40C0-9BFE-E05A897F04CA}"/>
              </a:ext>
            </a:extLst>
          </p:cNvPr>
          <p:cNvSpPr>
            <a:spLocks noGrp="1"/>
          </p:cNvSpPr>
          <p:nvPr>
            <p:ph type="title"/>
          </p:nvPr>
        </p:nvSpPr>
        <p:spPr>
          <a:xfrm>
            <a:off x="838200" y="365126"/>
            <a:ext cx="10515600" cy="539336"/>
          </a:xfrm>
        </p:spPr>
        <p:txBody>
          <a:bodyPr>
            <a:normAutofit fontScale="90000"/>
          </a:bodyPr>
          <a:lstStyle/>
          <a:p>
            <a:pPr algn="ctr"/>
            <a:r>
              <a:rPr lang="en-US" dirty="0"/>
              <a:t>Convolution</a:t>
            </a:r>
          </a:p>
        </p:txBody>
      </p:sp>
      <p:sp>
        <p:nvSpPr>
          <p:cNvPr id="9" name="Content Placeholder 8">
            <a:extLst>
              <a:ext uri="{FF2B5EF4-FFF2-40B4-BE49-F238E27FC236}">
                <a16:creationId xmlns:a16="http://schemas.microsoft.com/office/drawing/2014/main" id="{599C2834-0A08-453C-9EF5-AAFB4B6565FB}"/>
              </a:ext>
            </a:extLst>
          </p:cNvPr>
          <p:cNvSpPr>
            <a:spLocks noGrp="1"/>
          </p:cNvSpPr>
          <p:nvPr>
            <p:ph sz="half" idx="1"/>
          </p:nvPr>
        </p:nvSpPr>
        <p:spPr/>
        <p:txBody>
          <a:bodyPr/>
          <a:lstStyle/>
          <a:p>
            <a:r>
              <a:rPr lang="en-US" dirty="0"/>
              <a:t>In the 1D case, we slide a one dimensional filter over a one dimensional input</a:t>
            </a:r>
          </a:p>
          <a:p>
            <a:endParaRPr lang="en-US" dirty="0"/>
          </a:p>
        </p:txBody>
      </p:sp>
      <p:graphicFrame>
        <p:nvGraphicFramePr>
          <p:cNvPr id="10" name="Table 7">
            <a:extLst>
              <a:ext uri="{FF2B5EF4-FFF2-40B4-BE49-F238E27FC236}">
                <a16:creationId xmlns:a16="http://schemas.microsoft.com/office/drawing/2014/main" id="{BD7C9BC9-AE43-427F-8A14-8B19FD351FD7}"/>
              </a:ext>
            </a:extLst>
          </p:cNvPr>
          <p:cNvGraphicFramePr>
            <a:graphicFrameLocks/>
          </p:cNvGraphicFramePr>
          <p:nvPr/>
        </p:nvGraphicFramePr>
        <p:xfrm>
          <a:off x="5537983" y="1825625"/>
          <a:ext cx="5815817" cy="819101"/>
        </p:xfrm>
        <a:graphic>
          <a:graphicData uri="http://schemas.openxmlformats.org/drawingml/2006/table">
            <a:tbl>
              <a:tblPr firstRow="1" bandRow="1">
                <a:tableStyleId>{5940675A-B579-460E-94D1-54222C63F5DA}</a:tableStyleId>
              </a:tblPr>
              <a:tblGrid>
                <a:gridCol w="830831">
                  <a:extLst>
                    <a:ext uri="{9D8B030D-6E8A-4147-A177-3AD203B41FA5}">
                      <a16:colId xmlns:a16="http://schemas.microsoft.com/office/drawing/2014/main" val="3555124935"/>
                    </a:ext>
                  </a:extLst>
                </a:gridCol>
                <a:gridCol w="830831">
                  <a:extLst>
                    <a:ext uri="{9D8B030D-6E8A-4147-A177-3AD203B41FA5}">
                      <a16:colId xmlns:a16="http://schemas.microsoft.com/office/drawing/2014/main" val="4234059008"/>
                    </a:ext>
                  </a:extLst>
                </a:gridCol>
                <a:gridCol w="830831">
                  <a:extLst>
                    <a:ext uri="{9D8B030D-6E8A-4147-A177-3AD203B41FA5}">
                      <a16:colId xmlns:a16="http://schemas.microsoft.com/office/drawing/2014/main" val="3790790698"/>
                    </a:ext>
                  </a:extLst>
                </a:gridCol>
                <a:gridCol w="830831">
                  <a:extLst>
                    <a:ext uri="{9D8B030D-6E8A-4147-A177-3AD203B41FA5}">
                      <a16:colId xmlns:a16="http://schemas.microsoft.com/office/drawing/2014/main" val="4135970635"/>
                    </a:ext>
                  </a:extLst>
                </a:gridCol>
                <a:gridCol w="830831">
                  <a:extLst>
                    <a:ext uri="{9D8B030D-6E8A-4147-A177-3AD203B41FA5}">
                      <a16:colId xmlns:a16="http://schemas.microsoft.com/office/drawing/2014/main" val="4057735671"/>
                    </a:ext>
                  </a:extLst>
                </a:gridCol>
                <a:gridCol w="830831">
                  <a:extLst>
                    <a:ext uri="{9D8B030D-6E8A-4147-A177-3AD203B41FA5}">
                      <a16:colId xmlns:a16="http://schemas.microsoft.com/office/drawing/2014/main" val="1518962704"/>
                    </a:ext>
                  </a:extLst>
                </a:gridCol>
                <a:gridCol w="830831">
                  <a:extLst>
                    <a:ext uri="{9D8B030D-6E8A-4147-A177-3AD203B41FA5}">
                      <a16:colId xmlns:a16="http://schemas.microsoft.com/office/drawing/2014/main" val="3089979376"/>
                    </a:ext>
                  </a:extLst>
                </a:gridCol>
              </a:tblGrid>
              <a:tr h="819101">
                <a:tc>
                  <a:txBody>
                    <a:bodyPr/>
                    <a:lstStyle/>
                    <a:p>
                      <a:pPr algn="ctr"/>
                      <a:r>
                        <a:rPr lang="en-US" sz="3600" b="1" dirty="0"/>
                        <a:t>A</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sz="3600" b="1" dirty="0"/>
                        <a:t>B</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sz="3600" b="1" dirty="0"/>
                        <a:t>C</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sz="3600" b="1" dirty="0"/>
                        <a:t>B</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sz="3600" b="1" dirty="0"/>
                        <a:t>C</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sz="3600" b="1" dirty="0"/>
                        <a:t>A</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sz="3600" b="1" dirty="0"/>
                        <a:t>B</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6145087"/>
                  </a:ext>
                </a:extLst>
              </a:tr>
            </a:tbl>
          </a:graphicData>
        </a:graphic>
      </p:graphicFrame>
      <p:graphicFrame>
        <p:nvGraphicFramePr>
          <p:cNvPr id="11" name="Table 7">
            <a:extLst>
              <a:ext uri="{FF2B5EF4-FFF2-40B4-BE49-F238E27FC236}">
                <a16:creationId xmlns:a16="http://schemas.microsoft.com/office/drawing/2014/main" id="{51F94DEE-B8EB-4CF8-8C03-09E80CA124F4}"/>
              </a:ext>
            </a:extLst>
          </p:cNvPr>
          <p:cNvGraphicFramePr>
            <a:graphicFrameLocks/>
          </p:cNvGraphicFramePr>
          <p:nvPr>
            <p:extLst>
              <p:ext uri="{D42A27DB-BD31-4B8C-83A1-F6EECF244321}">
                <p14:modId xmlns:p14="http://schemas.microsoft.com/office/powerpoint/2010/main" val="4281249802"/>
              </p:ext>
            </p:extLst>
          </p:nvPr>
        </p:nvGraphicFramePr>
        <p:xfrm>
          <a:off x="7197973" y="1825625"/>
          <a:ext cx="2492493" cy="819101"/>
        </p:xfrm>
        <a:graphic>
          <a:graphicData uri="http://schemas.openxmlformats.org/drawingml/2006/table">
            <a:tbl>
              <a:tblPr firstRow="1" bandRow="1">
                <a:tableStyleId>{5940675A-B579-460E-94D1-54222C63F5DA}</a:tableStyleId>
              </a:tblPr>
              <a:tblGrid>
                <a:gridCol w="830831">
                  <a:extLst>
                    <a:ext uri="{9D8B030D-6E8A-4147-A177-3AD203B41FA5}">
                      <a16:colId xmlns:a16="http://schemas.microsoft.com/office/drawing/2014/main" val="3555124935"/>
                    </a:ext>
                  </a:extLst>
                </a:gridCol>
                <a:gridCol w="830831">
                  <a:extLst>
                    <a:ext uri="{9D8B030D-6E8A-4147-A177-3AD203B41FA5}">
                      <a16:colId xmlns:a16="http://schemas.microsoft.com/office/drawing/2014/main" val="4234059008"/>
                    </a:ext>
                  </a:extLst>
                </a:gridCol>
                <a:gridCol w="830831">
                  <a:extLst>
                    <a:ext uri="{9D8B030D-6E8A-4147-A177-3AD203B41FA5}">
                      <a16:colId xmlns:a16="http://schemas.microsoft.com/office/drawing/2014/main" val="3790790698"/>
                    </a:ext>
                  </a:extLst>
                </a:gridCol>
              </a:tblGrid>
              <a:tr h="819101">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extLst>
                  <a:ext uri="{0D108BD9-81ED-4DB2-BD59-A6C34878D82A}">
                    <a16:rowId xmlns:a16="http://schemas.microsoft.com/office/drawing/2014/main" val="516145087"/>
                  </a:ext>
                </a:extLst>
              </a:tr>
            </a:tbl>
          </a:graphicData>
        </a:graphic>
      </p:graphicFrame>
    </p:spTree>
    <p:extLst>
      <p:ext uri="{BB962C8B-B14F-4D97-AF65-F5344CB8AC3E}">
        <p14:creationId xmlns:p14="http://schemas.microsoft.com/office/powerpoint/2010/main" val="14032406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4060CA-151B-40C0-9BFE-E05A897F04CA}"/>
              </a:ext>
            </a:extLst>
          </p:cNvPr>
          <p:cNvSpPr>
            <a:spLocks noGrp="1"/>
          </p:cNvSpPr>
          <p:nvPr>
            <p:ph type="title"/>
          </p:nvPr>
        </p:nvSpPr>
        <p:spPr>
          <a:xfrm>
            <a:off x="838200" y="365126"/>
            <a:ext cx="10515600" cy="698362"/>
          </a:xfrm>
        </p:spPr>
        <p:txBody>
          <a:bodyPr/>
          <a:lstStyle/>
          <a:p>
            <a:pPr algn="ctr"/>
            <a:r>
              <a:rPr lang="en-US" dirty="0"/>
              <a:t>Convolution</a:t>
            </a:r>
          </a:p>
        </p:txBody>
      </p:sp>
      <p:sp>
        <p:nvSpPr>
          <p:cNvPr id="9" name="Content Placeholder 8">
            <a:extLst>
              <a:ext uri="{FF2B5EF4-FFF2-40B4-BE49-F238E27FC236}">
                <a16:creationId xmlns:a16="http://schemas.microsoft.com/office/drawing/2014/main" id="{599C2834-0A08-453C-9EF5-AAFB4B6565FB}"/>
              </a:ext>
            </a:extLst>
          </p:cNvPr>
          <p:cNvSpPr>
            <a:spLocks noGrp="1"/>
          </p:cNvSpPr>
          <p:nvPr>
            <p:ph sz="half" idx="1"/>
          </p:nvPr>
        </p:nvSpPr>
        <p:spPr/>
        <p:txBody>
          <a:bodyPr/>
          <a:lstStyle/>
          <a:p>
            <a:r>
              <a:rPr lang="en-US" dirty="0"/>
              <a:t>In the 1D case, we slide a one dimensional filter over a one dimensional input</a:t>
            </a:r>
          </a:p>
          <a:p>
            <a:endParaRPr lang="en-US" dirty="0"/>
          </a:p>
        </p:txBody>
      </p:sp>
      <p:graphicFrame>
        <p:nvGraphicFramePr>
          <p:cNvPr id="10" name="Table 7">
            <a:extLst>
              <a:ext uri="{FF2B5EF4-FFF2-40B4-BE49-F238E27FC236}">
                <a16:creationId xmlns:a16="http://schemas.microsoft.com/office/drawing/2014/main" id="{BD7C9BC9-AE43-427F-8A14-8B19FD351FD7}"/>
              </a:ext>
            </a:extLst>
          </p:cNvPr>
          <p:cNvGraphicFramePr>
            <a:graphicFrameLocks/>
          </p:cNvGraphicFramePr>
          <p:nvPr/>
        </p:nvGraphicFramePr>
        <p:xfrm>
          <a:off x="5537983" y="1825625"/>
          <a:ext cx="5815817" cy="819101"/>
        </p:xfrm>
        <a:graphic>
          <a:graphicData uri="http://schemas.openxmlformats.org/drawingml/2006/table">
            <a:tbl>
              <a:tblPr firstRow="1" bandRow="1">
                <a:tableStyleId>{5940675A-B579-460E-94D1-54222C63F5DA}</a:tableStyleId>
              </a:tblPr>
              <a:tblGrid>
                <a:gridCol w="830831">
                  <a:extLst>
                    <a:ext uri="{9D8B030D-6E8A-4147-A177-3AD203B41FA5}">
                      <a16:colId xmlns:a16="http://schemas.microsoft.com/office/drawing/2014/main" val="3555124935"/>
                    </a:ext>
                  </a:extLst>
                </a:gridCol>
                <a:gridCol w="830831">
                  <a:extLst>
                    <a:ext uri="{9D8B030D-6E8A-4147-A177-3AD203B41FA5}">
                      <a16:colId xmlns:a16="http://schemas.microsoft.com/office/drawing/2014/main" val="4234059008"/>
                    </a:ext>
                  </a:extLst>
                </a:gridCol>
                <a:gridCol w="830831">
                  <a:extLst>
                    <a:ext uri="{9D8B030D-6E8A-4147-A177-3AD203B41FA5}">
                      <a16:colId xmlns:a16="http://schemas.microsoft.com/office/drawing/2014/main" val="3790790698"/>
                    </a:ext>
                  </a:extLst>
                </a:gridCol>
                <a:gridCol w="830831">
                  <a:extLst>
                    <a:ext uri="{9D8B030D-6E8A-4147-A177-3AD203B41FA5}">
                      <a16:colId xmlns:a16="http://schemas.microsoft.com/office/drawing/2014/main" val="4135970635"/>
                    </a:ext>
                  </a:extLst>
                </a:gridCol>
                <a:gridCol w="830831">
                  <a:extLst>
                    <a:ext uri="{9D8B030D-6E8A-4147-A177-3AD203B41FA5}">
                      <a16:colId xmlns:a16="http://schemas.microsoft.com/office/drawing/2014/main" val="4057735671"/>
                    </a:ext>
                  </a:extLst>
                </a:gridCol>
                <a:gridCol w="830831">
                  <a:extLst>
                    <a:ext uri="{9D8B030D-6E8A-4147-A177-3AD203B41FA5}">
                      <a16:colId xmlns:a16="http://schemas.microsoft.com/office/drawing/2014/main" val="1518962704"/>
                    </a:ext>
                  </a:extLst>
                </a:gridCol>
                <a:gridCol w="830831">
                  <a:extLst>
                    <a:ext uri="{9D8B030D-6E8A-4147-A177-3AD203B41FA5}">
                      <a16:colId xmlns:a16="http://schemas.microsoft.com/office/drawing/2014/main" val="3089979376"/>
                    </a:ext>
                  </a:extLst>
                </a:gridCol>
              </a:tblGrid>
              <a:tr h="819101">
                <a:tc>
                  <a:txBody>
                    <a:bodyPr/>
                    <a:lstStyle/>
                    <a:p>
                      <a:pPr algn="ctr"/>
                      <a:r>
                        <a:rPr lang="en-US" sz="3600" b="1" dirty="0"/>
                        <a:t>A</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sz="3600" b="1" dirty="0"/>
                        <a:t>B</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sz="3600" b="1" dirty="0"/>
                        <a:t>C</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sz="3600" b="1" dirty="0"/>
                        <a:t>B</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sz="3600" b="1" dirty="0"/>
                        <a:t>C</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sz="3600" b="1" dirty="0"/>
                        <a:t>A</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sz="3600" b="1" dirty="0"/>
                        <a:t>B</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6145087"/>
                  </a:ext>
                </a:extLst>
              </a:tr>
            </a:tbl>
          </a:graphicData>
        </a:graphic>
      </p:graphicFrame>
      <p:graphicFrame>
        <p:nvGraphicFramePr>
          <p:cNvPr id="11" name="Table 7">
            <a:extLst>
              <a:ext uri="{FF2B5EF4-FFF2-40B4-BE49-F238E27FC236}">
                <a16:creationId xmlns:a16="http://schemas.microsoft.com/office/drawing/2014/main" id="{51F94DEE-B8EB-4CF8-8C03-09E80CA124F4}"/>
              </a:ext>
            </a:extLst>
          </p:cNvPr>
          <p:cNvGraphicFramePr>
            <a:graphicFrameLocks/>
          </p:cNvGraphicFramePr>
          <p:nvPr>
            <p:extLst>
              <p:ext uri="{D42A27DB-BD31-4B8C-83A1-F6EECF244321}">
                <p14:modId xmlns:p14="http://schemas.microsoft.com/office/powerpoint/2010/main" val="566470681"/>
              </p:ext>
            </p:extLst>
          </p:nvPr>
        </p:nvGraphicFramePr>
        <p:xfrm>
          <a:off x="8027972" y="1825625"/>
          <a:ext cx="2492493" cy="819101"/>
        </p:xfrm>
        <a:graphic>
          <a:graphicData uri="http://schemas.openxmlformats.org/drawingml/2006/table">
            <a:tbl>
              <a:tblPr firstRow="1" bandRow="1">
                <a:tableStyleId>{5940675A-B579-460E-94D1-54222C63F5DA}</a:tableStyleId>
              </a:tblPr>
              <a:tblGrid>
                <a:gridCol w="830831">
                  <a:extLst>
                    <a:ext uri="{9D8B030D-6E8A-4147-A177-3AD203B41FA5}">
                      <a16:colId xmlns:a16="http://schemas.microsoft.com/office/drawing/2014/main" val="3555124935"/>
                    </a:ext>
                  </a:extLst>
                </a:gridCol>
                <a:gridCol w="830831">
                  <a:extLst>
                    <a:ext uri="{9D8B030D-6E8A-4147-A177-3AD203B41FA5}">
                      <a16:colId xmlns:a16="http://schemas.microsoft.com/office/drawing/2014/main" val="4234059008"/>
                    </a:ext>
                  </a:extLst>
                </a:gridCol>
                <a:gridCol w="830831">
                  <a:extLst>
                    <a:ext uri="{9D8B030D-6E8A-4147-A177-3AD203B41FA5}">
                      <a16:colId xmlns:a16="http://schemas.microsoft.com/office/drawing/2014/main" val="3790790698"/>
                    </a:ext>
                  </a:extLst>
                </a:gridCol>
              </a:tblGrid>
              <a:tr h="819101">
                <a:tc>
                  <a:txBody>
                    <a:bodyPr/>
                    <a:lstStyle/>
                    <a:p>
                      <a:pPr algn="ctr"/>
                      <a:endParaRPr lang="en-US" dirty="0"/>
                    </a:p>
                  </a:txBody>
                  <a:tcPr anchor="ctr">
                    <a:lnL w="57150" cap="flat" cmpd="sng" algn="ctr">
                      <a:solidFill>
                        <a:srgbClr val="0217DC"/>
                      </a:solidFill>
                      <a:prstDash val="solid"/>
                      <a:round/>
                      <a:headEnd type="none" w="med" len="med"/>
                      <a:tailEnd type="none" w="med" len="med"/>
                    </a:lnL>
                    <a:lnR w="3810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3810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extLst>
                  <a:ext uri="{0D108BD9-81ED-4DB2-BD59-A6C34878D82A}">
                    <a16:rowId xmlns:a16="http://schemas.microsoft.com/office/drawing/2014/main" val="516145087"/>
                  </a:ext>
                </a:extLst>
              </a:tr>
            </a:tbl>
          </a:graphicData>
        </a:graphic>
      </p:graphicFrame>
    </p:spTree>
    <p:extLst>
      <p:ext uri="{BB962C8B-B14F-4D97-AF65-F5344CB8AC3E}">
        <p14:creationId xmlns:p14="http://schemas.microsoft.com/office/powerpoint/2010/main" val="33679352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4060CA-151B-40C0-9BFE-E05A897F04CA}"/>
              </a:ext>
            </a:extLst>
          </p:cNvPr>
          <p:cNvSpPr>
            <a:spLocks noGrp="1"/>
          </p:cNvSpPr>
          <p:nvPr>
            <p:ph type="title"/>
          </p:nvPr>
        </p:nvSpPr>
        <p:spPr>
          <a:xfrm>
            <a:off x="838200" y="365125"/>
            <a:ext cx="10515600" cy="728179"/>
          </a:xfrm>
        </p:spPr>
        <p:txBody>
          <a:bodyPr/>
          <a:lstStyle/>
          <a:p>
            <a:pPr algn="ctr"/>
            <a:r>
              <a:rPr lang="en-US" dirty="0"/>
              <a:t>Convolution</a:t>
            </a:r>
          </a:p>
        </p:txBody>
      </p:sp>
      <p:sp>
        <p:nvSpPr>
          <p:cNvPr id="9" name="Content Placeholder 8">
            <a:extLst>
              <a:ext uri="{FF2B5EF4-FFF2-40B4-BE49-F238E27FC236}">
                <a16:creationId xmlns:a16="http://schemas.microsoft.com/office/drawing/2014/main" id="{599C2834-0A08-453C-9EF5-AAFB4B6565FB}"/>
              </a:ext>
            </a:extLst>
          </p:cNvPr>
          <p:cNvSpPr>
            <a:spLocks noGrp="1"/>
          </p:cNvSpPr>
          <p:nvPr>
            <p:ph sz="half" idx="1"/>
          </p:nvPr>
        </p:nvSpPr>
        <p:spPr/>
        <p:txBody>
          <a:bodyPr/>
          <a:lstStyle/>
          <a:p>
            <a:r>
              <a:rPr lang="en-US" dirty="0"/>
              <a:t>In the 1D case, we slide a one dimensional filter over a one dimensional input</a:t>
            </a:r>
          </a:p>
          <a:p>
            <a:endParaRPr lang="en-US" dirty="0"/>
          </a:p>
        </p:txBody>
      </p:sp>
      <p:graphicFrame>
        <p:nvGraphicFramePr>
          <p:cNvPr id="10" name="Table 7">
            <a:extLst>
              <a:ext uri="{FF2B5EF4-FFF2-40B4-BE49-F238E27FC236}">
                <a16:creationId xmlns:a16="http://schemas.microsoft.com/office/drawing/2014/main" id="{BD7C9BC9-AE43-427F-8A14-8B19FD351FD7}"/>
              </a:ext>
            </a:extLst>
          </p:cNvPr>
          <p:cNvGraphicFramePr>
            <a:graphicFrameLocks/>
          </p:cNvGraphicFramePr>
          <p:nvPr/>
        </p:nvGraphicFramePr>
        <p:xfrm>
          <a:off x="5537983" y="1825625"/>
          <a:ext cx="5815817" cy="819101"/>
        </p:xfrm>
        <a:graphic>
          <a:graphicData uri="http://schemas.openxmlformats.org/drawingml/2006/table">
            <a:tbl>
              <a:tblPr firstRow="1" bandRow="1">
                <a:tableStyleId>{5940675A-B579-460E-94D1-54222C63F5DA}</a:tableStyleId>
              </a:tblPr>
              <a:tblGrid>
                <a:gridCol w="830831">
                  <a:extLst>
                    <a:ext uri="{9D8B030D-6E8A-4147-A177-3AD203B41FA5}">
                      <a16:colId xmlns:a16="http://schemas.microsoft.com/office/drawing/2014/main" val="3555124935"/>
                    </a:ext>
                  </a:extLst>
                </a:gridCol>
                <a:gridCol w="830831">
                  <a:extLst>
                    <a:ext uri="{9D8B030D-6E8A-4147-A177-3AD203B41FA5}">
                      <a16:colId xmlns:a16="http://schemas.microsoft.com/office/drawing/2014/main" val="4234059008"/>
                    </a:ext>
                  </a:extLst>
                </a:gridCol>
                <a:gridCol w="830831">
                  <a:extLst>
                    <a:ext uri="{9D8B030D-6E8A-4147-A177-3AD203B41FA5}">
                      <a16:colId xmlns:a16="http://schemas.microsoft.com/office/drawing/2014/main" val="3790790698"/>
                    </a:ext>
                  </a:extLst>
                </a:gridCol>
                <a:gridCol w="830831">
                  <a:extLst>
                    <a:ext uri="{9D8B030D-6E8A-4147-A177-3AD203B41FA5}">
                      <a16:colId xmlns:a16="http://schemas.microsoft.com/office/drawing/2014/main" val="4135970635"/>
                    </a:ext>
                  </a:extLst>
                </a:gridCol>
                <a:gridCol w="830831">
                  <a:extLst>
                    <a:ext uri="{9D8B030D-6E8A-4147-A177-3AD203B41FA5}">
                      <a16:colId xmlns:a16="http://schemas.microsoft.com/office/drawing/2014/main" val="4057735671"/>
                    </a:ext>
                  </a:extLst>
                </a:gridCol>
                <a:gridCol w="830831">
                  <a:extLst>
                    <a:ext uri="{9D8B030D-6E8A-4147-A177-3AD203B41FA5}">
                      <a16:colId xmlns:a16="http://schemas.microsoft.com/office/drawing/2014/main" val="1518962704"/>
                    </a:ext>
                  </a:extLst>
                </a:gridCol>
                <a:gridCol w="830831">
                  <a:extLst>
                    <a:ext uri="{9D8B030D-6E8A-4147-A177-3AD203B41FA5}">
                      <a16:colId xmlns:a16="http://schemas.microsoft.com/office/drawing/2014/main" val="3089979376"/>
                    </a:ext>
                  </a:extLst>
                </a:gridCol>
              </a:tblGrid>
              <a:tr h="819101">
                <a:tc>
                  <a:txBody>
                    <a:bodyPr/>
                    <a:lstStyle/>
                    <a:p>
                      <a:pPr algn="ctr"/>
                      <a:r>
                        <a:rPr lang="en-US" sz="3600" b="1" dirty="0"/>
                        <a:t>A</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sz="3600" b="1" dirty="0"/>
                        <a:t>B</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sz="3600" b="1" dirty="0"/>
                        <a:t>C</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sz="3600" b="1" dirty="0"/>
                        <a:t>B</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sz="3600" b="1" dirty="0"/>
                        <a:t>C</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sz="3600" b="1" dirty="0"/>
                        <a:t>A</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sz="3600" b="1" dirty="0"/>
                        <a:t>B</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6145087"/>
                  </a:ext>
                </a:extLst>
              </a:tr>
            </a:tbl>
          </a:graphicData>
        </a:graphic>
      </p:graphicFrame>
      <p:graphicFrame>
        <p:nvGraphicFramePr>
          <p:cNvPr id="11" name="Table 7">
            <a:extLst>
              <a:ext uri="{FF2B5EF4-FFF2-40B4-BE49-F238E27FC236}">
                <a16:creationId xmlns:a16="http://schemas.microsoft.com/office/drawing/2014/main" id="{51F94DEE-B8EB-4CF8-8C03-09E80CA124F4}"/>
              </a:ext>
            </a:extLst>
          </p:cNvPr>
          <p:cNvGraphicFramePr>
            <a:graphicFrameLocks/>
          </p:cNvGraphicFramePr>
          <p:nvPr>
            <p:extLst>
              <p:ext uri="{D42A27DB-BD31-4B8C-83A1-F6EECF244321}">
                <p14:modId xmlns:p14="http://schemas.microsoft.com/office/powerpoint/2010/main" val="839410299"/>
              </p:ext>
            </p:extLst>
          </p:nvPr>
        </p:nvGraphicFramePr>
        <p:xfrm>
          <a:off x="8857968" y="1825625"/>
          <a:ext cx="2492493" cy="819101"/>
        </p:xfrm>
        <a:graphic>
          <a:graphicData uri="http://schemas.openxmlformats.org/drawingml/2006/table">
            <a:tbl>
              <a:tblPr firstRow="1" bandRow="1">
                <a:tableStyleId>{5940675A-B579-460E-94D1-54222C63F5DA}</a:tableStyleId>
              </a:tblPr>
              <a:tblGrid>
                <a:gridCol w="830831">
                  <a:extLst>
                    <a:ext uri="{9D8B030D-6E8A-4147-A177-3AD203B41FA5}">
                      <a16:colId xmlns:a16="http://schemas.microsoft.com/office/drawing/2014/main" val="3555124935"/>
                    </a:ext>
                  </a:extLst>
                </a:gridCol>
                <a:gridCol w="830831">
                  <a:extLst>
                    <a:ext uri="{9D8B030D-6E8A-4147-A177-3AD203B41FA5}">
                      <a16:colId xmlns:a16="http://schemas.microsoft.com/office/drawing/2014/main" val="4234059008"/>
                    </a:ext>
                  </a:extLst>
                </a:gridCol>
                <a:gridCol w="830831">
                  <a:extLst>
                    <a:ext uri="{9D8B030D-6E8A-4147-A177-3AD203B41FA5}">
                      <a16:colId xmlns:a16="http://schemas.microsoft.com/office/drawing/2014/main" val="3790790698"/>
                    </a:ext>
                  </a:extLst>
                </a:gridCol>
              </a:tblGrid>
              <a:tr h="819101">
                <a:tc>
                  <a:txBody>
                    <a:bodyPr/>
                    <a:lstStyle/>
                    <a:p>
                      <a:pPr algn="ctr"/>
                      <a:endParaRPr lang="en-US" dirty="0"/>
                    </a:p>
                  </a:txBody>
                  <a:tcPr anchor="ctr">
                    <a:lnL w="57150" cap="flat" cmpd="sng" algn="ctr">
                      <a:solidFill>
                        <a:srgbClr val="0217DC"/>
                      </a:solidFill>
                      <a:prstDash val="solid"/>
                      <a:round/>
                      <a:headEnd type="none" w="med" len="med"/>
                      <a:tailEnd type="none" w="med" len="med"/>
                    </a:lnL>
                    <a:lnR w="3810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3810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extLst>
                  <a:ext uri="{0D108BD9-81ED-4DB2-BD59-A6C34878D82A}">
                    <a16:rowId xmlns:a16="http://schemas.microsoft.com/office/drawing/2014/main" val="516145087"/>
                  </a:ext>
                </a:extLst>
              </a:tr>
            </a:tbl>
          </a:graphicData>
        </a:graphic>
      </p:graphicFrame>
    </p:spTree>
    <p:extLst>
      <p:ext uri="{BB962C8B-B14F-4D97-AF65-F5344CB8AC3E}">
        <p14:creationId xmlns:p14="http://schemas.microsoft.com/office/powerpoint/2010/main" val="38097582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180B5-B108-491D-A7E0-3869132ED993}"/>
              </a:ext>
            </a:extLst>
          </p:cNvPr>
          <p:cNvSpPr>
            <a:spLocks noGrp="1"/>
          </p:cNvSpPr>
          <p:nvPr>
            <p:ph type="title"/>
          </p:nvPr>
        </p:nvSpPr>
        <p:spPr>
          <a:xfrm>
            <a:off x="1053548" y="365125"/>
            <a:ext cx="10300252" cy="688423"/>
          </a:xfrm>
        </p:spPr>
        <p:txBody>
          <a:bodyPr>
            <a:normAutofit fontScale="90000"/>
          </a:bodyPr>
          <a:lstStyle/>
          <a:p>
            <a:pPr algn="ctr"/>
            <a:r>
              <a:rPr lang="en-IN" dirty="0"/>
              <a:t>Convolution on 3-D</a:t>
            </a:r>
            <a:endParaRPr lang="en-US" dirty="0"/>
          </a:p>
        </p:txBody>
      </p:sp>
      <p:sp>
        <p:nvSpPr>
          <p:cNvPr id="4" name="Content Placeholder 3">
            <a:extLst>
              <a:ext uri="{FF2B5EF4-FFF2-40B4-BE49-F238E27FC236}">
                <a16:creationId xmlns:a16="http://schemas.microsoft.com/office/drawing/2014/main" id="{147DB2CA-29AE-4C65-971D-288D66AE0663}"/>
              </a:ext>
            </a:extLst>
          </p:cNvPr>
          <p:cNvSpPr>
            <a:spLocks noGrp="1"/>
          </p:cNvSpPr>
          <p:nvPr>
            <p:ph sz="half" idx="2"/>
          </p:nvPr>
        </p:nvSpPr>
        <p:spPr/>
        <p:txBody>
          <a:bodyPr>
            <a:normAutofit/>
          </a:bodyPr>
          <a:lstStyle/>
          <a:p>
            <a:r>
              <a:rPr lang="en-US" dirty="0"/>
              <a:t>What would a 3D filter look like?</a:t>
            </a:r>
          </a:p>
          <a:p>
            <a:endParaRPr lang="en-US" dirty="0"/>
          </a:p>
        </p:txBody>
      </p:sp>
      <p:pic>
        <p:nvPicPr>
          <p:cNvPr id="6" name="Picture 5">
            <a:extLst>
              <a:ext uri="{FF2B5EF4-FFF2-40B4-BE49-F238E27FC236}">
                <a16:creationId xmlns:a16="http://schemas.microsoft.com/office/drawing/2014/main" id="{D99F3E38-891B-4010-A141-D760C3D8A4D0}"/>
              </a:ext>
            </a:extLst>
          </p:cNvPr>
          <p:cNvPicPr>
            <a:picLocks noChangeAspect="1"/>
          </p:cNvPicPr>
          <p:nvPr/>
        </p:nvPicPr>
        <p:blipFill>
          <a:blip r:embed="rId2"/>
          <a:stretch>
            <a:fillRect/>
          </a:stretch>
        </p:blipFill>
        <p:spPr>
          <a:xfrm>
            <a:off x="2696817" y="1315071"/>
            <a:ext cx="2928731" cy="4999343"/>
          </a:xfrm>
          <a:prstGeom prst="rect">
            <a:avLst/>
          </a:prstGeom>
        </p:spPr>
      </p:pic>
    </p:spTree>
    <p:extLst>
      <p:ext uri="{BB962C8B-B14F-4D97-AF65-F5344CB8AC3E}">
        <p14:creationId xmlns:p14="http://schemas.microsoft.com/office/powerpoint/2010/main" val="15663649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A10E9-0B25-45BE-9023-9B92363DEE28}"/>
              </a:ext>
            </a:extLst>
          </p:cNvPr>
          <p:cNvSpPr>
            <a:spLocks noGrp="1"/>
          </p:cNvSpPr>
          <p:nvPr>
            <p:ph type="title"/>
          </p:nvPr>
        </p:nvSpPr>
        <p:spPr>
          <a:xfrm>
            <a:off x="838200" y="365125"/>
            <a:ext cx="10515600" cy="390249"/>
          </a:xfrm>
        </p:spPr>
        <p:txBody>
          <a:bodyPr>
            <a:normAutofit fontScale="90000"/>
          </a:bodyPr>
          <a:lstStyle/>
          <a:p>
            <a:pPr algn="ctr"/>
            <a:r>
              <a:rPr lang="en-IN" dirty="0"/>
              <a:t>Convolution on 3-D</a:t>
            </a:r>
            <a:endParaRPr lang="en-US" dirty="0"/>
          </a:p>
        </p:txBody>
      </p:sp>
      <p:sp>
        <p:nvSpPr>
          <p:cNvPr id="4" name="Content Placeholder 3">
            <a:extLst>
              <a:ext uri="{FF2B5EF4-FFF2-40B4-BE49-F238E27FC236}">
                <a16:creationId xmlns:a16="http://schemas.microsoft.com/office/drawing/2014/main" id="{8BC24130-B2D6-4DDD-9D81-C4260B565147}"/>
              </a:ext>
            </a:extLst>
          </p:cNvPr>
          <p:cNvSpPr>
            <a:spLocks noGrp="1"/>
          </p:cNvSpPr>
          <p:nvPr>
            <p:ph sz="half" idx="2"/>
          </p:nvPr>
        </p:nvSpPr>
        <p:spPr/>
        <p:txBody>
          <a:bodyPr>
            <a:normAutofit/>
          </a:bodyPr>
          <a:lstStyle/>
          <a:p>
            <a:r>
              <a:rPr lang="en-US" dirty="0"/>
              <a:t>What would a 3D filter look like?</a:t>
            </a:r>
          </a:p>
          <a:p>
            <a:r>
              <a:rPr lang="en-US" dirty="0"/>
              <a:t>It will be 3D and we will refer to it as a volume</a:t>
            </a:r>
          </a:p>
          <a:p>
            <a:endParaRPr lang="en-US" dirty="0"/>
          </a:p>
          <a:p>
            <a:endParaRPr lang="en-US" dirty="0"/>
          </a:p>
        </p:txBody>
      </p:sp>
      <p:pic>
        <p:nvPicPr>
          <p:cNvPr id="8" name="Picture 7">
            <a:extLst>
              <a:ext uri="{FF2B5EF4-FFF2-40B4-BE49-F238E27FC236}">
                <a16:creationId xmlns:a16="http://schemas.microsoft.com/office/drawing/2014/main" id="{11D893F0-909F-4167-B7C4-BB58E1058B43}"/>
              </a:ext>
            </a:extLst>
          </p:cNvPr>
          <p:cNvPicPr>
            <a:picLocks noChangeAspect="1"/>
          </p:cNvPicPr>
          <p:nvPr/>
        </p:nvPicPr>
        <p:blipFill>
          <a:blip r:embed="rId2"/>
          <a:stretch>
            <a:fillRect/>
          </a:stretch>
        </p:blipFill>
        <p:spPr>
          <a:xfrm>
            <a:off x="1379807" y="1184570"/>
            <a:ext cx="2516331" cy="4659639"/>
          </a:xfrm>
          <a:prstGeom prst="rect">
            <a:avLst/>
          </a:prstGeom>
        </p:spPr>
      </p:pic>
    </p:spTree>
    <p:extLst>
      <p:ext uri="{BB962C8B-B14F-4D97-AF65-F5344CB8AC3E}">
        <p14:creationId xmlns:p14="http://schemas.microsoft.com/office/powerpoint/2010/main" val="33265251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F1F59-F935-4678-B570-559455E0D01C}"/>
              </a:ext>
            </a:extLst>
          </p:cNvPr>
          <p:cNvSpPr>
            <a:spLocks noGrp="1"/>
          </p:cNvSpPr>
          <p:nvPr>
            <p:ph type="title"/>
          </p:nvPr>
        </p:nvSpPr>
        <p:spPr>
          <a:xfrm>
            <a:off x="838200" y="365125"/>
            <a:ext cx="10515600" cy="569153"/>
          </a:xfrm>
        </p:spPr>
        <p:txBody>
          <a:bodyPr>
            <a:normAutofit fontScale="90000"/>
          </a:bodyPr>
          <a:lstStyle/>
          <a:p>
            <a:pPr algn="ctr"/>
            <a:r>
              <a:rPr lang="en-IN" dirty="0"/>
              <a:t>Convolution on 3-D</a:t>
            </a:r>
            <a:endParaRPr lang="en-US" dirty="0"/>
          </a:p>
        </p:txBody>
      </p:sp>
      <p:sp>
        <p:nvSpPr>
          <p:cNvPr id="4" name="Content Placeholder 3">
            <a:extLst>
              <a:ext uri="{FF2B5EF4-FFF2-40B4-BE49-F238E27FC236}">
                <a16:creationId xmlns:a16="http://schemas.microsoft.com/office/drawing/2014/main" id="{62FF1049-58A9-4B71-B138-0E20F0560C9F}"/>
              </a:ext>
            </a:extLst>
          </p:cNvPr>
          <p:cNvSpPr>
            <a:spLocks noGrp="1"/>
          </p:cNvSpPr>
          <p:nvPr>
            <p:ph sz="half" idx="2"/>
          </p:nvPr>
        </p:nvSpPr>
        <p:spPr/>
        <p:txBody>
          <a:bodyPr>
            <a:normAutofit/>
          </a:bodyPr>
          <a:lstStyle/>
          <a:p>
            <a:r>
              <a:rPr lang="en-US" dirty="0"/>
              <a:t>What would a 3D filter look like?</a:t>
            </a:r>
          </a:p>
          <a:p>
            <a:r>
              <a:rPr lang="en-US" dirty="0"/>
              <a:t>It will be 3D and we will refer to it as a volume</a:t>
            </a:r>
          </a:p>
          <a:p>
            <a:r>
              <a:rPr lang="en-US" dirty="0"/>
              <a:t>Once again we will slide the volume over the 3D input and compute the convolution operation</a:t>
            </a:r>
          </a:p>
          <a:p>
            <a:endParaRPr lang="en-US" dirty="0"/>
          </a:p>
          <a:p>
            <a:endParaRPr lang="en-US" dirty="0"/>
          </a:p>
        </p:txBody>
      </p:sp>
      <p:pic>
        <p:nvPicPr>
          <p:cNvPr id="8" name="Picture 7">
            <a:extLst>
              <a:ext uri="{FF2B5EF4-FFF2-40B4-BE49-F238E27FC236}">
                <a16:creationId xmlns:a16="http://schemas.microsoft.com/office/drawing/2014/main" id="{CC4DDC4C-0ADE-426E-A8A3-683D6B79868E}"/>
              </a:ext>
            </a:extLst>
          </p:cNvPr>
          <p:cNvPicPr>
            <a:picLocks noChangeAspect="1"/>
          </p:cNvPicPr>
          <p:nvPr/>
        </p:nvPicPr>
        <p:blipFill>
          <a:blip r:embed="rId2"/>
          <a:stretch>
            <a:fillRect/>
          </a:stretch>
        </p:blipFill>
        <p:spPr>
          <a:xfrm>
            <a:off x="1329197" y="1542378"/>
            <a:ext cx="3590673" cy="4649700"/>
          </a:xfrm>
          <a:prstGeom prst="rect">
            <a:avLst/>
          </a:prstGeom>
        </p:spPr>
      </p:pic>
    </p:spTree>
    <p:extLst>
      <p:ext uri="{BB962C8B-B14F-4D97-AF65-F5344CB8AC3E}">
        <p14:creationId xmlns:p14="http://schemas.microsoft.com/office/powerpoint/2010/main" val="12978603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AD560-92C3-4502-A257-D6F76F7A2FA9}"/>
              </a:ext>
            </a:extLst>
          </p:cNvPr>
          <p:cNvSpPr>
            <a:spLocks noGrp="1"/>
          </p:cNvSpPr>
          <p:nvPr>
            <p:ph type="title"/>
          </p:nvPr>
        </p:nvSpPr>
        <p:spPr>
          <a:xfrm>
            <a:off x="838200" y="365126"/>
            <a:ext cx="10515600" cy="559214"/>
          </a:xfrm>
        </p:spPr>
        <p:txBody>
          <a:bodyPr>
            <a:normAutofit fontScale="90000"/>
          </a:bodyPr>
          <a:lstStyle/>
          <a:p>
            <a:pPr algn="ctr"/>
            <a:r>
              <a:rPr lang="en-IN" dirty="0"/>
              <a:t>Convolution on 3-D</a:t>
            </a:r>
            <a:endParaRPr lang="en-US" dirty="0"/>
          </a:p>
        </p:txBody>
      </p:sp>
      <p:sp>
        <p:nvSpPr>
          <p:cNvPr id="4" name="Content Placeholder 3">
            <a:extLst>
              <a:ext uri="{FF2B5EF4-FFF2-40B4-BE49-F238E27FC236}">
                <a16:creationId xmlns:a16="http://schemas.microsoft.com/office/drawing/2014/main" id="{9B435763-BEBE-423C-A52D-8EED4F929E32}"/>
              </a:ext>
            </a:extLst>
          </p:cNvPr>
          <p:cNvSpPr>
            <a:spLocks noGrp="1"/>
          </p:cNvSpPr>
          <p:nvPr>
            <p:ph sz="half" idx="2"/>
          </p:nvPr>
        </p:nvSpPr>
        <p:spPr/>
        <p:txBody>
          <a:bodyPr/>
          <a:lstStyle/>
          <a:p>
            <a:r>
              <a:rPr lang="en-US" dirty="0"/>
              <a:t>What would a 3D filter look like?</a:t>
            </a:r>
          </a:p>
          <a:p>
            <a:r>
              <a:rPr lang="en-US" dirty="0"/>
              <a:t>It will be 3D and we will refer to it as a volume</a:t>
            </a:r>
          </a:p>
          <a:p>
            <a:r>
              <a:rPr lang="en-US" dirty="0"/>
              <a:t>Once again we will slide the volume over the 3D input and compute the convolution operation</a:t>
            </a:r>
          </a:p>
          <a:p>
            <a:endParaRPr lang="en-US" dirty="0"/>
          </a:p>
          <a:p>
            <a:endParaRPr lang="en-US" dirty="0"/>
          </a:p>
          <a:p>
            <a:endParaRPr lang="en-US" dirty="0"/>
          </a:p>
        </p:txBody>
      </p:sp>
      <p:pic>
        <p:nvPicPr>
          <p:cNvPr id="6" name="Picture 5">
            <a:extLst>
              <a:ext uri="{FF2B5EF4-FFF2-40B4-BE49-F238E27FC236}">
                <a16:creationId xmlns:a16="http://schemas.microsoft.com/office/drawing/2014/main" id="{069EF473-7507-4E9A-9D58-4206B365DFDB}"/>
              </a:ext>
            </a:extLst>
          </p:cNvPr>
          <p:cNvPicPr>
            <a:picLocks noChangeAspect="1"/>
          </p:cNvPicPr>
          <p:nvPr/>
        </p:nvPicPr>
        <p:blipFill>
          <a:blip r:embed="rId2"/>
          <a:stretch>
            <a:fillRect/>
          </a:stretch>
        </p:blipFill>
        <p:spPr>
          <a:xfrm>
            <a:off x="1430270" y="1450115"/>
            <a:ext cx="4036252" cy="4433851"/>
          </a:xfrm>
          <a:prstGeom prst="rect">
            <a:avLst/>
          </a:prstGeom>
        </p:spPr>
      </p:pic>
    </p:spTree>
    <p:extLst>
      <p:ext uri="{BB962C8B-B14F-4D97-AF65-F5344CB8AC3E}">
        <p14:creationId xmlns:p14="http://schemas.microsoft.com/office/powerpoint/2010/main" val="17225855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71F95-F0B2-496F-9B39-D17D34971B52}"/>
              </a:ext>
            </a:extLst>
          </p:cNvPr>
          <p:cNvSpPr>
            <a:spLocks noGrp="1"/>
          </p:cNvSpPr>
          <p:nvPr>
            <p:ph type="title"/>
          </p:nvPr>
        </p:nvSpPr>
        <p:spPr>
          <a:xfrm>
            <a:off x="838200" y="365126"/>
            <a:ext cx="10515600" cy="559214"/>
          </a:xfrm>
        </p:spPr>
        <p:txBody>
          <a:bodyPr>
            <a:normAutofit fontScale="90000"/>
          </a:bodyPr>
          <a:lstStyle/>
          <a:p>
            <a:pPr algn="ctr"/>
            <a:r>
              <a:rPr lang="en-IN" dirty="0"/>
              <a:t>Convolution on 3-D</a:t>
            </a:r>
            <a:endParaRPr lang="en-US" dirty="0"/>
          </a:p>
        </p:txBody>
      </p:sp>
      <p:sp>
        <p:nvSpPr>
          <p:cNvPr id="4" name="Content Placeholder 3">
            <a:extLst>
              <a:ext uri="{FF2B5EF4-FFF2-40B4-BE49-F238E27FC236}">
                <a16:creationId xmlns:a16="http://schemas.microsoft.com/office/drawing/2014/main" id="{D065E21A-B94C-484A-A320-BDB6579459E4}"/>
              </a:ext>
            </a:extLst>
          </p:cNvPr>
          <p:cNvSpPr>
            <a:spLocks noGrp="1"/>
          </p:cNvSpPr>
          <p:nvPr>
            <p:ph sz="half" idx="2"/>
          </p:nvPr>
        </p:nvSpPr>
        <p:spPr/>
        <p:txBody>
          <a:bodyPr/>
          <a:lstStyle/>
          <a:p>
            <a:r>
              <a:rPr lang="en-US" dirty="0"/>
              <a:t>What would a 3D filter look like?</a:t>
            </a:r>
          </a:p>
          <a:p>
            <a:r>
              <a:rPr lang="en-US" dirty="0"/>
              <a:t>It will be 3D and we will refer to it as a volume</a:t>
            </a:r>
          </a:p>
          <a:p>
            <a:r>
              <a:rPr lang="en-US" dirty="0"/>
              <a:t>Once again we will slide the volume over the 3D input and compute the convolution operation</a:t>
            </a:r>
          </a:p>
          <a:p>
            <a:endParaRPr lang="en-US" dirty="0"/>
          </a:p>
          <a:p>
            <a:endParaRPr lang="en-US" dirty="0"/>
          </a:p>
          <a:p>
            <a:endParaRPr lang="en-US" dirty="0"/>
          </a:p>
        </p:txBody>
      </p:sp>
      <p:pic>
        <p:nvPicPr>
          <p:cNvPr id="6" name="Picture 5">
            <a:extLst>
              <a:ext uri="{FF2B5EF4-FFF2-40B4-BE49-F238E27FC236}">
                <a16:creationId xmlns:a16="http://schemas.microsoft.com/office/drawing/2014/main" id="{E011BCAF-CD0A-4D5C-BB4B-0F32880E0BF2}"/>
              </a:ext>
            </a:extLst>
          </p:cNvPr>
          <p:cNvPicPr>
            <a:picLocks noChangeAspect="1"/>
          </p:cNvPicPr>
          <p:nvPr/>
        </p:nvPicPr>
        <p:blipFill>
          <a:blip r:embed="rId2"/>
          <a:stretch>
            <a:fillRect/>
          </a:stretch>
        </p:blipFill>
        <p:spPr>
          <a:xfrm>
            <a:off x="1736701" y="1619605"/>
            <a:ext cx="3709943" cy="4552595"/>
          </a:xfrm>
          <a:prstGeom prst="rect">
            <a:avLst/>
          </a:prstGeom>
        </p:spPr>
      </p:pic>
    </p:spTree>
    <p:extLst>
      <p:ext uri="{BB962C8B-B14F-4D97-AF65-F5344CB8AC3E}">
        <p14:creationId xmlns:p14="http://schemas.microsoft.com/office/powerpoint/2010/main" val="10200598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34476-8789-46E4-AB99-31984AAD061C}"/>
              </a:ext>
            </a:extLst>
          </p:cNvPr>
          <p:cNvSpPr>
            <a:spLocks noGrp="1"/>
          </p:cNvSpPr>
          <p:nvPr>
            <p:ph type="title"/>
          </p:nvPr>
        </p:nvSpPr>
        <p:spPr>
          <a:xfrm>
            <a:off x="838200" y="365125"/>
            <a:ext cx="10515600" cy="658605"/>
          </a:xfrm>
        </p:spPr>
        <p:txBody>
          <a:bodyPr>
            <a:normAutofit fontScale="90000"/>
          </a:bodyPr>
          <a:lstStyle/>
          <a:p>
            <a:pPr algn="ctr"/>
            <a:r>
              <a:rPr lang="en-IN" dirty="0"/>
              <a:t>Convolution on 3-D</a:t>
            </a:r>
            <a:endParaRPr lang="en-US" dirty="0"/>
          </a:p>
        </p:txBody>
      </p:sp>
      <p:sp>
        <p:nvSpPr>
          <p:cNvPr id="4" name="Content Placeholder 3">
            <a:extLst>
              <a:ext uri="{FF2B5EF4-FFF2-40B4-BE49-F238E27FC236}">
                <a16:creationId xmlns:a16="http://schemas.microsoft.com/office/drawing/2014/main" id="{37B3820A-4294-4690-8656-EA2446B56102}"/>
              </a:ext>
            </a:extLst>
          </p:cNvPr>
          <p:cNvSpPr>
            <a:spLocks noGrp="1"/>
          </p:cNvSpPr>
          <p:nvPr>
            <p:ph sz="half" idx="2"/>
          </p:nvPr>
        </p:nvSpPr>
        <p:spPr>
          <a:xfrm>
            <a:off x="5021190" y="1453610"/>
            <a:ext cx="6372367" cy="4112303"/>
          </a:xfrm>
        </p:spPr>
        <p:txBody>
          <a:bodyPr>
            <a:normAutofit/>
          </a:bodyPr>
          <a:lstStyle/>
          <a:p>
            <a:r>
              <a:rPr lang="en-US" dirty="0"/>
              <a:t>In effect, we are doing a 2D convolution operation on a 3D input </a:t>
            </a:r>
          </a:p>
          <a:p>
            <a:r>
              <a:rPr lang="en-US" dirty="0"/>
              <a:t>Because the filter moves along the height and the width but not along the depth</a:t>
            </a:r>
          </a:p>
          <a:p>
            <a:r>
              <a:rPr lang="en-US" dirty="0"/>
              <a:t>As a result the output will be 2D (only width and height, no depth)</a:t>
            </a:r>
          </a:p>
          <a:p>
            <a:r>
              <a:rPr lang="en-US" dirty="0"/>
              <a:t>Once again we can apply multiple filters to get multiple feature maps</a:t>
            </a:r>
          </a:p>
          <a:p>
            <a:endParaRPr lang="en-US" dirty="0"/>
          </a:p>
        </p:txBody>
      </p:sp>
      <p:pic>
        <p:nvPicPr>
          <p:cNvPr id="6" name="Picture 5">
            <a:extLst>
              <a:ext uri="{FF2B5EF4-FFF2-40B4-BE49-F238E27FC236}">
                <a16:creationId xmlns:a16="http://schemas.microsoft.com/office/drawing/2014/main" id="{6DD8F718-33D7-4933-98C7-81FADEFCF5AB}"/>
              </a:ext>
            </a:extLst>
          </p:cNvPr>
          <p:cNvPicPr>
            <a:picLocks noChangeAspect="1"/>
          </p:cNvPicPr>
          <p:nvPr/>
        </p:nvPicPr>
        <p:blipFill>
          <a:blip r:embed="rId2"/>
          <a:stretch>
            <a:fillRect/>
          </a:stretch>
        </p:blipFill>
        <p:spPr>
          <a:xfrm>
            <a:off x="1030486" y="1212574"/>
            <a:ext cx="3273157" cy="4601002"/>
          </a:xfrm>
          <a:prstGeom prst="rect">
            <a:avLst/>
          </a:prstGeom>
        </p:spPr>
      </p:pic>
    </p:spTree>
    <p:extLst>
      <p:ext uri="{BB962C8B-B14F-4D97-AF65-F5344CB8AC3E}">
        <p14:creationId xmlns:p14="http://schemas.microsoft.com/office/powerpoint/2010/main" val="15484464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9D810-44B5-4569-92CA-597D1DCEDB7D}"/>
              </a:ext>
            </a:extLst>
          </p:cNvPr>
          <p:cNvSpPr>
            <a:spLocks noGrp="1"/>
          </p:cNvSpPr>
          <p:nvPr>
            <p:ph type="title"/>
          </p:nvPr>
        </p:nvSpPr>
        <p:spPr>
          <a:xfrm>
            <a:off x="838200" y="365126"/>
            <a:ext cx="10515600" cy="678484"/>
          </a:xfrm>
        </p:spPr>
        <p:txBody>
          <a:bodyPr>
            <a:normAutofit fontScale="90000"/>
          </a:bodyPr>
          <a:lstStyle/>
          <a:p>
            <a:pPr algn="ctr"/>
            <a:r>
              <a:rPr lang="en-IN" dirty="0"/>
              <a:t>Convolution on 3-D</a:t>
            </a:r>
            <a:endParaRPr lang="en-US" dirty="0"/>
          </a:p>
        </p:txBody>
      </p:sp>
      <p:sp>
        <p:nvSpPr>
          <p:cNvPr id="4" name="Content Placeholder 3">
            <a:extLst>
              <a:ext uri="{FF2B5EF4-FFF2-40B4-BE49-F238E27FC236}">
                <a16:creationId xmlns:a16="http://schemas.microsoft.com/office/drawing/2014/main" id="{91F810CC-33F2-48F2-A328-10E7E9B2569A}"/>
              </a:ext>
            </a:extLst>
          </p:cNvPr>
          <p:cNvSpPr>
            <a:spLocks noGrp="1"/>
          </p:cNvSpPr>
          <p:nvPr>
            <p:ph sz="half" idx="2"/>
          </p:nvPr>
        </p:nvSpPr>
        <p:spPr/>
        <p:txBody>
          <a:bodyPr/>
          <a:lstStyle/>
          <a:p>
            <a:r>
              <a:rPr lang="en-US" dirty="0"/>
              <a:t>Width (W</a:t>
            </a:r>
            <a:r>
              <a:rPr lang="en-US" baseline="-25000" dirty="0"/>
              <a:t>1</a:t>
            </a:r>
            <a:r>
              <a:rPr lang="en-US" dirty="0"/>
              <a:t>), Height (H</a:t>
            </a:r>
            <a:r>
              <a:rPr lang="en-US" baseline="-25000" dirty="0"/>
              <a:t>1</a:t>
            </a:r>
            <a:r>
              <a:rPr lang="en-US" dirty="0"/>
              <a:t>) and Depth (D</a:t>
            </a:r>
            <a:r>
              <a:rPr lang="en-US" baseline="-25000" dirty="0"/>
              <a:t>1</a:t>
            </a:r>
            <a:r>
              <a:rPr lang="en-US" dirty="0"/>
              <a:t>) of the original input</a:t>
            </a:r>
          </a:p>
        </p:txBody>
      </p:sp>
      <p:pic>
        <p:nvPicPr>
          <p:cNvPr id="6" name="Picture 5">
            <a:extLst>
              <a:ext uri="{FF2B5EF4-FFF2-40B4-BE49-F238E27FC236}">
                <a16:creationId xmlns:a16="http://schemas.microsoft.com/office/drawing/2014/main" id="{D4D4F058-87DF-4C35-986D-D4D162FE73BA}"/>
              </a:ext>
            </a:extLst>
          </p:cNvPr>
          <p:cNvPicPr>
            <a:picLocks noChangeAspect="1"/>
          </p:cNvPicPr>
          <p:nvPr/>
        </p:nvPicPr>
        <p:blipFill>
          <a:blip r:embed="rId2"/>
          <a:stretch>
            <a:fillRect/>
          </a:stretch>
        </p:blipFill>
        <p:spPr>
          <a:xfrm>
            <a:off x="1474304" y="1478653"/>
            <a:ext cx="3286539" cy="4673670"/>
          </a:xfrm>
          <a:prstGeom prst="rect">
            <a:avLst/>
          </a:prstGeom>
        </p:spPr>
      </p:pic>
    </p:spTree>
    <p:extLst>
      <p:ext uri="{BB962C8B-B14F-4D97-AF65-F5344CB8AC3E}">
        <p14:creationId xmlns:p14="http://schemas.microsoft.com/office/powerpoint/2010/main" val="18186182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36FA7-5B8F-484C-AE33-8A2D4D164416}"/>
              </a:ext>
            </a:extLst>
          </p:cNvPr>
          <p:cNvSpPr>
            <a:spLocks noGrp="1"/>
          </p:cNvSpPr>
          <p:nvPr>
            <p:ph type="title"/>
          </p:nvPr>
        </p:nvSpPr>
        <p:spPr>
          <a:xfrm>
            <a:off x="838200" y="365126"/>
            <a:ext cx="10515600" cy="648666"/>
          </a:xfrm>
        </p:spPr>
        <p:txBody>
          <a:bodyPr>
            <a:normAutofit fontScale="90000"/>
          </a:bodyPr>
          <a:lstStyle/>
          <a:p>
            <a:pPr algn="ctr"/>
            <a:r>
              <a:rPr lang="en-IN" dirty="0"/>
              <a:t>Convolution on 3-D</a:t>
            </a:r>
            <a:endParaRPr lang="en-US" dirty="0"/>
          </a:p>
        </p:txBody>
      </p:sp>
      <p:sp>
        <p:nvSpPr>
          <p:cNvPr id="4" name="Content Placeholder 3">
            <a:extLst>
              <a:ext uri="{FF2B5EF4-FFF2-40B4-BE49-F238E27FC236}">
                <a16:creationId xmlns:a16="http://schemas.microsoft.com/office/drawing/2014/main" id="{3662B3D7-6A9D-4ECD-B0FD-8084E6AD2742}"/>
              </a:ext>
            </a:extLst>
          </p:cNvPr>
          <p:cNvSpPr>
            <a:spLocks noGrp="1"/>
          </p:cNvSpPr>
          <p:nvPr>
            <p:ph sz="half" idx="2"/>
          </p:nvPr>
        </p:nvSpPr>
        <p:spPr/>
        <p:txBody>
          <a:bodyPr/>
          <a:lstStyle/>
          <a:p>
            <a:r>
              <a:rPr lang="en-US" dirty="0"/>
              <a:t>Width (W</a:t>
            </a:r>
            <a:r>
              <a:rPr lang="en-US" baseline="-25000" dirty="0"/>
              <a:t>1</a:t>
            </a:r>
            <a:r>
              <a:rPr lang="en-US" dirty="0"/>
              <a:t>), Height (H</a:t>
            </a:r>
            <a:r>
              <a:rPr lang="en-US" baseline="-25000" dirty="0"/>
              <a:t>1</a:t>
            </a:r>
            <a:r>
              <a:rPr lang="en-US" dirty="0"/>
              <a:t>) and Depth (D</a:t>
            </a:r>
            <a:r>
              <a:rPr lang="en-US" baseline="-25000" dirty="0"/>
              <a:t>1</a:t>
            </a:r>
            <a:r>
              <a:rPr lang="en-US" dirty="0"/>
              <a:t>) of the original input</a:t>
            </a:r>
          </a:p>
          <a:p>
            <a:r>
              <a:rPr lang="en-US" dirty="0"/>
              <a:t>The number of filters K</a:t>
            </a:r>
          </a:p>
          <a:p>
            <a:endParaRPr lang="en-US" dirty="0"/>
          </a:p>
        </p:txBody>
      </p:sp>
      <p:pic>
        <p:nvPicPr>
          <p:cNvPr id="6" name="Picture 5">
            <a:extLst>
              <a:ext uri="{FF2B5EF4-FFF2-40B4-BE49-F238E27FC236}">
                <a16:creationId xmlns:a16="http://schemas.microsoft.com/office/drawing/2014/main" id="{BF73F053-E681-4901-8E86-57B152D2044F}"/>
              </a:ext>
            </a:extLst>
          </p:cNvPr>
          <p:cNvPicPr>
            <a:picLocks noChangeAspect="1"/>
          </p:cNvPicPr>
          <p:nvPr/>
        </p:nvPicPr>
        <p:blipFill>
          <a:blip r:embed="rId2"/>
          <a:stretch>
            <a:fillRect/>
          </a:stretch>
        </p:blipFill>
        <p:spPr>
          <a:xfrm>
            <a:off x="954107" y="1421295"/>
            <a:ext cx="4313632" cy="4296396"/>
          </a:xfrm>
          <a:prstGeom prst="rect">
            <a:avLst/>
          </a:prstGeom>
        </p:spPr>
      </p:pic>
    </p:spTree>
    <p:extLst>
      <p:ext uri="{BB962C8B-B14F-4D97-AF65-F5344CB8AC3E}">
        <p14:creationId xmlns:p14="http://schemas.microsoft.com/office/powerpoint/2010/main" val="4024312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49502-3D06-4A20-960B-500FE1A32DA5}"/>
              </a:ext>
            </a:extLst>
          </p:cNvPr>
          <p:cNvSpPr>
            <a:spLocks noGrp="1"/>
          </p:cNvSpPr>
          <p:nvPr>
            <p:ph type="title"/>
          </p:nvPr>
        </p:nvSpPr>
        <p:spPr>
          <a:xfrm>
            <a:off x="838200" y="365125"/>
            <a:ext cx="10515600" cy="688423"/>
          </a:xfrm>
        </p:spPr>
        <p:txBody>
          <a:bodyPr>
            <a:normAutofit fontScale="90000"/>
          </a:bodyPr>
          <a:lstStyle/>
          <a:p>
            <a:pPr algn="ctr"/>
            <a:r>
              <a:rPr lang="en-IN" dirty="0"/>
              <a:t>Convolution on 3-D</a:t>
            </a:r>
            <a:endParaRPr lang="en-US" dirty="0"/>
          </a:p>
        </p:txBody>
      </p:sp>
      <p:sp>
        <p:nvSpPr>
          <p:cNvPr id="4" name="Content Placeholder 3">
            <a:extLst>
              <a:ext uri="{FF2B5EF4-FFF2-40B4-BE49-F238E27FC236}">
                <a16:creationId xmlns:a16="http://schemas.microsoft.com/office/drawing/2014/main" id="{DEAF8DF5-0FCF-49B4-A43F-E6F1307C41BA}"/>
              </a:ext>
            </a:extLst>
          </p:cNvPr>
          <p:cNvSpPr>
            <a:spLocks noGrp="1"/>
          </p:cNvSpPr>
          <p:nvPr>
            <p:ph sz="half" idx="2"/>
          </p:nvPr>
        </p:nvSpPr>
        <p:spPr>
          <a:xfrm>
            <a:off x="5923721" y="2203312"/>
            <a:ext cx="5181600" cy="3034610"/>
          </a:xfrm>
        </p:spPr>
        <p:txBody>
          <a:bodyPr>
            <a:normAutofit fontScale="92500" lnSpcReduction="10000"/>
          </a:bodyPr>
          <a:lstStyle/>
          <a:p>
            <a:r>
              <a:rPr lang="en-US" dirty="0"/>
              <a:t>Width (W</a:t>
            </a:r>
            <a:r>
              <a:rPr lang="en-US" baseline="-25000" dirty="0"/>
              <a:t>1</a:t>
            </a:r>
            <a:r>
              <a:rPr lang="en-US" dirty="0"/>
              <a:t>), Height (H</a:t>
            </a:r>
            <a:r>
              <a:rPr lang="en-US" baseline="-25000" dirty="0"/>
              <a:t>1</a:t>
            </a:r>
            <a:r>
              <a:rPr lang="en-US" dirty="0"/>
              <a:t>) and Depth (D</a:t>
            </a:r>
            <a:r>
              <a:rPr lang="en-US" baseline="-25000" dirty="0"/>
              <a:t>1</a:t>
            </a:r>
            <a:r>
              <a:rPr lang="en-US" dirty="0"/>
              <a:t>) of the original input</a:t>
            </a:r>
          </a:p>
          <a:p>
            <a:r>
              <a:rPr lang="en-US" dirty="0"/>
              <a:t>The number of filters K</a:t>
            </a:r>
          </a:p>
          <a:p>
            <a:r>
              <a:rPr lang="en-US" dirty="0"/>
              <a:t>The spatial extent (F) of each filter (the depth of each filter is same as the depth of each input)</a:t>
            </a:r>
          </a:p>
          <a:p>
            <a:r>
              <a:rPr lang="en-IN" dirty="0"/>
              <a:t>So, RGB image is W1 × H1 × D1 and kernel is F × F × D1</a:t>
            </a:r>
            <a:endParaRPr lang="en-US" dirty="0"/>
          </a:p>
          <a:p>
            <a:endParaRPr lang="en-US" dirty="0"/>
          </a:p>
          <a:p>
            <a:endParaRPr lang="en-US" dirty="0"/>
          </a:p>
        </p:txBody>
      </p:sp>
      <p:pic>
        <p:nvPicPr>
          <p:cNvPr id="6" name="Picture 5">
            <a:extLst>
              <a:ext uri="{FF2B5EF4-FFF2-40B4-BE49-F238E27FC236}">
                <a16:creationId xmlns:a16="http://schemas.microsoft.com/office/drawing/2014/main" id="{FA9563B4-1E55-4B11-B4E4-58773720E4CC}"/>
              </a:ext>
            </a:extLst>
          </p:cNvPr>
          <p:cNvPicPr>
            <a:picLocks noChangeAspect="1"/>
          </p:cNvPicPr>
          <p:nvPr/>
        </p:nvPicPr>
        <p:blipFill>
          <a:blip r:embed="rId2"/>
          <a:stretch>
            <a:fillRect/>
          </a:stretch>
        </p:blipFill>
        <p:spPr>
          <a:xfrm>
            <a:off x="894248" y="1888435"/>
            <a:ext cx="4214465" cy="4083959"/>
          </a:xfrm>
          <a:prstGeom prst="rect">
            <a:avLst/>
          </a:prstGeom>
        </p:spPr>
      </p:pic>
    </p:spTree>
    <p:extLst>
      <p:ext uri="{BB962C8B-B14F-4D97-AF65-F5344CB8AC3E}">
        <p14:creationId xmlns:p14="http://schemas.microsoft.com/office/powerpoint/2010/main" val="33696012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40540-AFEB-43D0-933E-35D89B6F20C2}"/>
              </a:ext>
            </a:extLst>
          </p:cNvPr>
          <p:cNvSpPr>
            <a:spLocks noGrp="1"/>
          </p:cNvSpPr>
          <p:nvPr>
            <p:ph type="title"/>
          </p:nvPr>
        </p:nvSpPr>
        <p:spPr>
          <a:xfrm>
            <a:off x="838200" y="365126"/>
            <a:ext cx="10515600" cy="539336"/>
          </a:xfrm>
        </p:spPr>
        <p:txBody>
          <a:bodyPr>
            <a:normAutofit fontScale="90000"/>
          </a:bodyPr>
          <a:lstStyle/>
          <a:p>
            <a:pPr algn="ctr"/>
            <a:r>
              <a:rPr lang="en-IN" dirty="0"/>
              <a:t>Convolution on 3-D</a:t>
            </a:r>
            <a:endParaRPr lang="en-US" dirty="0"/>
          </a:p>
        </p:txBody>
      </p:sp>
      <p:sp>
        <p:nvSpPr>
          <p:cNvPr id="4" name="Content Placeholder 3">
            <a:extLst>
              <a:ext uri="{FF2B5EF4-FFF2-40B4-BE49-F238E27FC236}">
                <a16:creationId xmlns:a16="http://schemas.microsoft.com/office/drawing/2014/main" id="{202B874B-6E4A-46A0-8853-F68256C6F42B}"/>
              </a:ext>
            </a:extLst>
          </p:cNvPr>
          <p:cNvSpPr>
            <a:spLocks noGrp="1"/>
          </p:cNvSpPr>
          <p:nvPr>
            <p:ph sz="half" idx="2"/>
          </p:nvPr>
        </p:nvSpPr>
        <p:spPr>
          <a:xfrm>
            <a:off x="6172200" y="1411357"/>
            <a:ext cx="5181600" cy="4765606"/>
          </a:xfrm>
        </p:spPr>
        <p:txBody>
          <a:bodyPr>
            <a:normAutofit lnSpcReduction="10000"/>
          </a:bodyPr>
          <a:lstStyle/>
          <a:p>
            <a:r>
              <a:rPr lang="en-US" dirty="0"/>
              <a:t>Width (W</a:t>
            </a:r>
            <a:r>
              <a:rPr lang="en-US" baseline="-25000" dirty="0"/>
              <a:t>1</a:t>
            </a:r>
            <a:r>
              <a:rPr lang="en-US" dirty="0"/>
              <a:t>), Height (H</a:t>
            </a:r>
            <a:r>
              <a:rPr lang="en-US" baseline="-25000" dirty="0"/>
              <a:t>1</a:t>
            </a:r>
            <a:r>
              <a:rPr lang="en-US" dirty="0"/>
              <a:t>) and Depth (D</a:t>
            </a:r>
            <a:r>
              <a:rPr lang="en-US" baseline="-25000" dirty="0"/>
              <a:t>1</a:t>
            </a:r>
            <a:r>
              <a:rPr lang="en-US" dirty="0"/>
              <a:t>) of the original input</a:t>
            </a:r>
          </a:p>
          <a:p>
            <a:r>
              <a:rPr lang="en-US" dirty="0"/>
              <a:t>The number of filters K</a:t>
            </a:r>
          </a:p>
          <a:p>
            <a:r>
              <a:rPr lang="en-US" dirty="0"/>
              <a:t>The spatial extent (F) of each filter (the depth of each filter is same as the depth of each input)</a:t>
            </a:r>
          </a:p>
          <a:p>
            <a:r>
              <a:rPr lang="en-IN" dirty="0"/>
              <a:t>So, RGB image is W1 × H1 × D1 and kernel is F × F × D1</a:t>
            </a:r>
            <a:endParaRPr lang="en-US" dirty="0"/>
          </a:p>
          <a:p>
            <a:r>
              <a:rPr lang="en-US" dirty="0"/>
              <a:t>The output is W</a:t>
            </a:r>
            <a:r>
              <a:rPr lang="en-US" baseline="-25000" dirty="0"/>
              <a:t>2 </a:t>
            </a:r>
            <a:r>
              <a:rPr lang="en-US" dirty="0"/>
              <a:t>x H</a:t>
            </a:r>
            <a:r>
              <a:rPr lang="en-US" baseline="-25000" dirty="0"/>
              <a:t>2</a:t>
            </a:r>
            <a:r>
              <a:rPr lang="en-US" dirty="0"/>
              <a:t> x D</a:t>
            </a:r>
            <a:r>
              <a:rPr lang="en-US" baseline="-25000" dirty="0"/>
              <a:t>2</a:t>
            </a:r>
            <a:r>
              <a:rPr lang="en-US" dirty="0"/>
              <a:t> (we will soon see a formula for computing W</a:t>
            </a:r>
            <a:r>
              <a:rPr lang="en-US" baseline="-25000" dirty="0"/>
              <a:t>2</a:t>
            </a:r>
            <a:r>
              <a:rPr lang="en-US" dirty="0"/>
              <a:t>, H</a:t>
            </a:r>
            <a:r>
              <a:rPr lang="en-US" baseline="-25000" dirty="0"/>
              <a:t>2</a:t>
            </a:r>
            <a:r>
              <a:rPr lang="en-US" dirty="0"/>
              <a:t> and D</a:t>
            </a:r>
            <a:r>
              <a:rPr lang="en-US" baseline="-25000" dirty="0"/>
              <a:t>2</a:t>
            </a:r>
            <a:r>
              <a:rPr lang="en-US" dirty="0"/>
              <a:t>)</a:t>
            </a:r>
          </a:p>
          <a:p>
            <a:endParaRPr lang="en-US" dirty="0"/>
          </a:p>
          <a:p>
            <a:endParaRPr lang="en-US" dirty="0"/>
          </a:p>
        </p:txBody>
      </p:sp>
      <p:pic>
        <p:nvPicPr>
          <p:cNvPr id="7" name="Picture 6">
            <a:extLst>
              <a:ext uri="{FF2B5EF4-FFF2-40B4-BE49-F238E27FC236}">
                <a16:creationId xmlns:a16="http://schemas.microsoft.com/office/drawing/2014/main" id="{68975216-A9F6-4351-B335-D31B83226B31}"/>
              </a:ext>
            </a:extLst>
          </p:cNvPr>
          <p:cNvPicPr>
            <a:picLocks noChangeAspect="1"/>
          </p:cNvPicPr>
          <p:nvPr/>
        </p:nvPicPr>
        <p:blipFill>
          <a:blip r:embed="rId2"/>
          <a:stretch>
            <a:fillRect/>
          </a:stretch>
        </p:blipFill>
        <p:spPr>
          <a:xfrm>
            <a:off x="826691" y="1709530"/>
            <a:ext cx="4371474" cy="4055166"/>
          </a:xfrm>
          <a:prstGeom prst="rect">
            <a:avLst/>
          </a:prstGeom>
        </p:spPr>
      </p:pic>
    </p:spTree>
    <p:extLst>
      <p:ext uri="{BB962C8B-B14F-4D97-AF65-F5344CB8AC3E}">
        <p14:creationId xmlns:p14="http://schemas.microsoft.com/office/powerpoint/2010/main" val="253954610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5A970-D3FC-4B0F-A9B9-55F8EB30EB8E}"/>
              </a:ext>
            </a:extLst>
          </p:cNvPr>
          <p:cNvSpPr>
            <a:spLocks noGrp="1"/>
          </p:cNvSpPr>
          <p:nvPr>
            <p:ph type="title"/>
          </p:nvPr>
        </p:nvSpPr>
        <p:spPr>
          <a:xfrm>
            <a:off x="838200" y="365126"/>
            <a:ext cx="10515600" cy="1016414"/>
          </a:xfrm>
        </p:spPr>
        <p:txBody>
          <a:bodyPr/>
          <a:lstStyle/>
          <a:p>
            <a:pPr algn="ctr"/>
            <a:r>
              <a:rPr lang="en-US" dirty="0"/>
              <a:t>Calculation of Output Dimension</a:t>
            </a:r>
          </a:p>
        </p:txBody>
      </p:sp>
      <p:graphicFrame>
        <p:nvGraphicFramePr>
          <p:cNvPr id="9" name="Table 9">
            <a:extLst>
              <a:ext uri="{FF2B5EF4-FFF2-40B4-BE49-F238E27FC236}">
                <a16:creationId xmlns:a16="http://schemas.microsoft.com/office/drawing/2014/main" id="{EA01B71A-6B5D-40C0-889A-126145B38D68}"/>
              </a:ext>
            </a:extLst>
          </p:cNvPr>
          <p:cNvGraphicFramePr>
            <a:graphicFrameLocks noGrp="1"/>
          </p:cNvGraphicFramePr>
          <p:nvPr>
            <p:ph sz="half" idx="1"/>
            <p:extLst>
              <p:ext uri="{D42A27DB-BD31-4B8C-83A1-F6EECF244321}">
                <p14:modId xmlns:p14="http://schemas.microsoft.com/office/powerpoint/2010/main" val="1287307469"/>
              </p:ext>
            </p:extLst>
          </p:nvPr>
        </p:nvGraphicFramePr>
        <p:xfrm>
          <a:off x="556843" y="1825624"/>
          <a:ext cx="2734991" cy="2676037"/>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gridCol w="390713">
                  <a:extLst>
                    <a:ext uri="{9D8B030D-6E8A-4147-A177-3AD203B41FA5}">
                      <a16:colId xmlns:a16="http://schemas.microsoft.com/office/drawing/2014/main" val="2185225175"/>
                    </a:ext>
                  </a:extLst>
                </a:gridCol>
                <a:gridCol w="390713">
                  <a:extLst>
                    <a:ext uri="{9D8B030D-6E8A-4147-A177-3AD203B41FA5}">
                      <a16:colId xmlns:a16="http://schemas.microsoft.com/office/drawing/2014/main" val="2001228772"/>
                    </a:ext>
                  </a:extLst>
                </a:gridCol>
                <a:gridCol w="390713">
                  <a:extLst>
                    <a:ext uri="{9D8B030D-6E8A-4147-A177-3AD203B41FA5}">
                      <a16:colId xmlns:a16="http://schemas.microsoft.com/office/drawing/2014/main" val="4010749547"/>
                    </a:ext>
                  </a:extLst>
                </a:gridCol>
                <a:gridCol w="390713">
                  <a:extLst>
                    <a:ext uri="{9D8B030D-6E8A-4147-A177-3AD203B41FA5}">
                      <a16:colId xmlns:a16="http://schemas.microsoft.com/office/drawing/2014/main" val="1701568956"/>
                    </a:ext>
                  </a:extLst>
                </a:gridCol>
              </a:tblGrid>
              <a:tr h="382291">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253089178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4686767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2307687"/>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327148248"/>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3807760174"/>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89591463"/>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844451045"/>
                  </a:ext>
                </a:extLst>
              </a:tr>
            </a:tbl>
          </a:graphicData>
        </a:graphic>
      </p:graphicFrame>
      <p:sp>
        <p:nvSpPr>
          <p:cNvPr id="4" name="Content Placeholder 3">
            <a:extLst>
              <a:ext uri="{FF2B5EF4-FFF2-40B4-BE49-F238E27FC236}">
                <a16:creationId xmlns:a16="http://schemas.microsoft.com/office/drawing/2014/main" id="{46FB4FF0-16D1-4449-ADC9-FCA09A730D4C}"/>
              </a:ext>
            </a:extLst>
          </p:cNvPr>
          <p:cNvSpPr>
            <a:spLocks noGrp="1"/>
          </p:cNvSpPr>
          <p:nvPr>
            <p:ph sz="half" idx="2"/>
          </p:nvPr>
        </p:nvSpPr>
        <p:spPr/>
        <p:txBody>
          <a:bodyPr/>
          <a:lstStyle/>
          <a:p>
            <a:r>
              <a:rPr lang="en-US" dirty="0"/>
              <a:t>Let us compute the dimension (W</a:t>
            </a:r>
            <a:r>
              <a:rPr lang="en-US" baseline="-25000" dirty="0"/>
              <a:t>2</a:t>
            </a:r>
            <a:r>
              <a:rPr lang="en-US" dirty="0"/>
              <a:t>, H</a:t>
            </a:r>
            <a:r>
              <a:rPr lang="en-US" baseline="-25000" dirty="0"/>
              <a:t>2</a:t>
            </a:r>
            <a:r>
              <a:rPr lang="en-US" dirty="0"/>
              <a:t>) of the output</a:t>
            </a:r>
          </a:p>
          <a:p>
            <a:endParaRPr lang="en-US" dirty="0"/>
          </a:p>
        </p:txBody>
      </p:sp>
      <p:graphicFrame>
        <p:nvGraphicFramePr>
          <p:cNvPr id="10" name="Table 9">
            <a:extLst>
              <a:ext uri="{FF2B5EF4-FFF2-40B4-BE49-F238E27FC236}">
                <a16:creationId xmlns:a16="http://schemas.microsoft.com/office/drawing/2014/main" id="{7371817D-5CEB-4254-B084-CDFA97547BF1}"/>
              </a:ext>
            </a:extLst>
          </p:cNvPr>
          <p:cNvGraphicFramePr>
            <a:graphicFrameLocks/>
          </p:cNvGraphicFramePr>
          <p:nvPr>
            <p:extLst>
              <p:ext uri="{D42A27DB-BD31-4B8C-83A1-F6EECF244321}">
                <p14:modId xmlns:p14="http://schemas.microsoft.com/office/powerpoint/2010/main" val="3718344282"/>
              </p:ext>
            </p:extLst>
          </p:nvPr>
        </p:nvGraphicFramePr>
        <p:xfrm>
          <a:off x="4034581" y="2207914"/>
          <a:ext cx="1953565" cy="1911455"/>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gridCol w="390713">
                  <a:extLst>
                    <a:ext uri="{9D8B030D-6E8A-4147-A177-3AD203B41FA5}">
                      <a16:colId xmlns:a16="http://schemas.microsoft.com/office/drawing/2014/main" val="2185225175"/>
                    </a:ext>
                  </a:extLst>
                </a:gridCol>
                <a:gridCol w="390713">
                  <a:extLst>
                    <a:ext uri="{9D8B030D-6E8A-4147-A177-3AD203B41FA5}">
                      <a16:colId xmlns:a16="http://schemas.microsoft.com/office/drawing/2014/main" val="2001228772"/>
                    </a:ext>
                  </a:extLst>
                </a:gridCol>
              </a:tblGrid>
              <a:tr h="382291">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253089178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246867671"/>
                  </a:ext>
                </a:extLst>
              </a:tr>
              <a:tr h="382291">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extLst>
                  <a:ext uri="{0D108BD9-81ED-4DB2-BD59-A6C34878D82A}">
                    <a16:rowId xmlns:a16="http://schemas.microsoft.com/office/drawing/2014/main" val="122307687"/>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327148248"/>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3807760174"/>
                  </a:ext>
                </a:extLst>
              </a:tr>
            </a:tbl>
          </a:graphicData>
        </a:graphic>
      </p:graphicFrame>
      <p:graphicFrame>
        <p:nvGraphicFramePr>
          <p:cNvPr id="11" name="Table 10">
            <a:extLst>
              <a:ext uri="{FF2B5EF4-FFF2-40B4-BE49-F238E27FC236}">
                <a16:creationId xmlns:a16="http://schemas.microsoft.com/office/drawing/2014/main" id="{2CF008FC-F4B5-408C-AED6-F56A478D2140}"/>
              </a:ext>
            </a:extLst>
          </p:cNvPr>
          <p:cNvGraphicFramePr>
            <a:graphicFrameLocks/>
          </p:cNvGraphicFramePr>
          <p:nvPr>
            <p:extLst>
              <p:ext uri="{D42A27DB-BD31-4B8C-83A1-F6EECF244321}">
                <p14:modId xmlns:p14="http://schemas.microsoft.com/office/powerpoint/2010/main" val="2143869126"/>
              </p:ext>
            </p:extLst>
          </p:nvPr>
        </p:nvGraphicFramePr>
        <p:xfrm>
          <a:off x="556843" y="1825624"/>
          <a:ext cx="1172139" cy="1146873"/>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tblGrid>
              <a:tr h="382291">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2530891781"/>
                  </a:ext>
                </a:extLst>
              </a:tr>
              <a:tr h="382291">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1246867671"/>
                  </a:ext>
                </a:extLst>
              </a:tr>
              <a:tr h="382291">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extLst>
                  <a:ext uri="{0D108BD9-81ED-4DB2-BD59-A6C34878D82A}">
                    <a16:rowId xmlns:a16="http://schemas.microsoft.com/office/drawing/2014/main" val="122307687"/>
                  </a:ext>
                </a:extLst>
              </a:tr>
            </a:tbl>
          </a:graphicData>
        </a:graphic>
      </p:graphicFrame>
      <p:sp>
        <p:nvSpPr>
          <p:cNvPr id="3" name="Oval 2">
            <a:extLst>
              <a:ext uri="{FF2B5EF4-FFF2-40B4-BE49-F238E27FC236}">
                <a16:creationId xmlns:a16="http://schemas.microsoft.com/office/drawing/2014/main" id="{5192DD35-6300-4A35-804B-30E5F3BEA32E}"/>
              </a:ext>
            </a:extLst>
          </p:cNvPr>
          <p:cNvSpPr/>
          <p:nvPr/>
        </p:nvSpPr>
        <p:spPr>
          <a:xfrm>
            <a:off x="4104921" y="2265417"/>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Equals 4">
            <a:extLst>
              <a:ext uri="{FF2B5EF4-FFF2-40B4-BE49-F238E27FC236}">
                <a16:creationId xmlns:a16="http://schemas.microsoft.com/office/drawing/2014/main" id="{038550AA-ED90-42C8-B086-5191944C3C92}"/>
              </a:ext>
            </a:extLst>
          </p:cNvPr>
          <p:cNvSpPr/>
          <p:nvPr/>
        </p:nvSpPr>
        <p:spPr>
          <a:xfrm>
            <a:off x="3362175" y="2972497"/>
            <a:ext cx="602064" cy="422031"/>
          </a:xfrm>
          <a:prstGeom prst="mathEqual">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6017099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5A970-D3FC-4B0F-A9B9-55F8EB30EB8E}"/>
              </a:ext>
            </a:extLst>
          </p:cNvPr>
          <p:cNvSpPr>
            <a:spLocks noGrp="1"/>
          </p:cNvSpPr>
          <p:nvPr>
            <p:ph type="title"/>
          </p:nvPr>
        </p:nvSpPr>
        <p:spPr>
          <a:xfrm>
            <a:off x="838200" y="365126"/>
            <a:ext cx="10515600" cy="857388"/>
          </a:xfrm>
        </p:spPr>
        <p:txBody>
          <a:bodyPr/>
          <a:lstStyle/>
          <a:p>
            <a:pPr algn="ctr"/>
            <a:r>
              <a:rPr lang="en-US" dirty="0"/>
              <a:t>Calculation of Output Dimension</a:t>
            </a:r>
          </a:p>
        </p:txBody>
      </p:sp>
      <p:graphicFrame>
        <p:nvGraphicFramePr>
          <p:cNvPr id="9" name="Table 9">
            <a:extLst>
              <a:ext uri="{FF2B5EF4-FFF2-40B4-BE49-F238E27FC236}">
                <a16:creationId xmlns:a16="http://schemas.microsoft.com/office/drawing/2014/main" id="{EA01B71A-6B5D-40C0-889A-126145B38D68}"/>
              </a:ext>
            </a:extLst>
          </p:cNvPr>
          <p:cNvGraphicFramePr>
            <a:graphicFrameLocks noGrp="1"/>
          </p:cNvGraphicFramePr>
          <p:nvPr>
            <p:ph sz="half" idx="1"/>
          </p:nvPr>
        </p:nvGraphicFramePr>
        <p:xfrm>
          <a:off x="556843" y="1825624"/>
          <a:ext cx="2734991" cy="2676037"/>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gridCol w="390713">
                  <a:extLst>
                    <a:ext uri="{9D8B030D-6E8A-4147-A177-3AD203B41FA5}">
                      <a16:colId xmlns:a16="http://schemas.microsoft.com/office/drawing/2014/main" val="2185225175"/>
                    </a:ext>
                  </a:extLst>
                </a:gridCol>
                <a:gridCol w="390713">
                  <a:extLst>
                    <a:ext uri="{9D8B030D-6E8A-4147-A177-3AD203B41FA5}">
                      <a16:colId xmlns:a16="http://schemas.microsoft.com/office/drawing/2014/main" val="2001228772"/>
                    </a:ext>
                  </a:extLst>
                </a:gridCol>
                <a:gridCol w="390713">
                  <a:extLst>
                    <a:ext uri="{9D8B030D-6E8A-4147-A177-3AD203B41FA5}">
                      <a16:colId xmlns:a16="http://schemas.microsoft.com/office/drawing/2014/main" val="4010749547"/>
                    </a:ext>
                  </a:extLst>
                </a:gridCol>
                <a:gridCol w="390713">
                  <a:extLst>
                    <a:ext uri="{9D8B030D-6E8A-4147-A177-3AD203B41FA5}">
                      <a16:colId xmlns:a16="http://schemas.microsoft.com/office/drawing/2014/main" val="1701568956"/>
                    </a:ext>
                  </a:extLst>
                </a:gridCol>
              </a:tblGrid>
              <a:tr h="382291">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253089178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4686767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2307687"/>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327148248"/>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3807760174"/>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89591463"/>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844451045"/>
                  </a:ext>
                </a:extLst>
              </a:tr>
            </a:tbl>
          </a:graphicData>
        </a:graphic>
      </p:graphicFrame>
      <p:sp>
        <p:nvSpPr>
          <p:cNvPr id="4" name="Content Placeholder 3">
            <a:extLst>
              <a:ext uri="{FF2B5EF4-FFF2-40B4-BE49-F238E27FC236}">
                <a16:creationId xmlns:a16="http://schemas.microsoft.com/office/drawing/2014/main" id="{46FB4FF0-16D1-4449-ADC9-FCA09A730D4C}"/>
              </a:ext>
            </a:extLst>
          </p:cNvPr>
          <p:cNvSpPr>
            <a:spLocks noGrp="1"/>
          </p:cNvSpPr>
          <p:nvPr>
            <p:ph sz="half" idx="2"/>
          </p:nvPr>
        </p:nvSpPr>
        <p:spPr/>
        <p:txBody>
          <a:bodyPr/>
          <a:lstStyle/>
          <a:p>
            <a:r>
              <a:rPr lang="en-US" dirty="0"/>
              <a:t>Let us compute the dimension (W</a:t>
            </a:r>
            <a:r>
              <a:rPr lang="en-US" baseline="-25000" dirty="0"/>
              <a:t>2</a:t>
            </a:r>
            <a:r>
              <a:rPr lang="en-US" dirty="0"/>
              <a:t>, H</a:t>
            </a:r>
            <a:r>
              <a:rPr lang="en-US" baseline="-25000" dirty="0"/>
              <a:t>2</a:t>
            </a:r>
            <a:r>
              <a:rPr lang="en-US" dirty="0"/>
              <a:t>) of the output</a:t>
            </a:r>
          </a:p>
          <a:p>
            <a:endParaRPr lang="en-US" dirty="0"/>
          </a:p>
        </p:txBody>
      </p:sp>
      <p:graphicFrame>
        <p:nvGraphicFramePr>
          <p:cNvPr id="10" name="Table 9">
            <a:extLst>
              <a:ext uri="{FF2B5EF4-FFF2-40B4-BE49-F238E27FC236}">
                <a16:creationId xmlns:a16="http://schemas.microsoft.com/office/drawing/2014/main" id="{7371817D-5CEB-4254-B084-CDFA97547BF1}"/>
              </a:ext>
            </a:extLst>
          </p:cNvPr>
          <p:cNvGraphicFramePr>
            <a:graphicFrameLocks/>
          </p:cNvGraphicFramePr>
          <p:nvPr/>
        </p:nvGraphicFramePr>
        <p:xfrm>
          <a:off x="4034581" y="2207914"/>
          <a:ext cx="1953565" cy="1911455"/>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gridCol w="390713">
                  <a:extLst>
                    <a:ext uri="{9D8B030D-6E8A-4147-A177-3AD203B41FA5}">
                      <a16:colId xmlns:a16="http://schemas.microsoft.com/office/drawing/2014/main" val="2185225175"/>
                    </a:ext>
                  </a:extLst>
                </a:gridCol>
                <a:gridCol w="390713">
                  <a:extLst>
                    <a:ext uri="{9D8B030D-6E8A-4147-A177-3AD203B41FA5}">
                      <a16:colId xmlns:a16="http://schemas.microsoft.com/office/drawing/2014/main" val="2001228772"/>
                    </a:ext>
                  </a:extLst>
                </a:gridCol>
              </a:tblGrid>
              <a:tr h="382291">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253089178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24686767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extLst>
                  <a:ext uri="{0D108BD9-81ED-4DB2-BD59-A6C34878D82A}">
                    <a16:rowId xmlns:a16="http://schemas.microsoft.com/office/drawing/2014/main" val="122307687"/>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327148248"/>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3807760174"/>
                  </a:ext>
                </a:extLst>
              </a:tr>
            </a:tbl>
          </a:graphicData>
        </a:graphic>
      </p:graphicFrame>
      <p:graphicFrame>
        <p:nvGraphicFramePr>
          <p:cNvPr id="11" name="Table 10">
            <a:extLst>
              <a:ext uri="{FF2B5EF4-FFF2-40B4-BE49-F238E27FC236}">
                <a16:creationId xmlns:a16="http://schemas.microsoft.com/office/drawing/2014/main" id="{2CF008FC-F4B5-408C-AED6-F56A478D2140}"/>
              </a:ext>
            </a:extLst>
          </p:cNvPr>
          <p:cNvGraphicFramePr>
            <a:graphicFrameLocks/>
          </p:cNvGraphicFramePr>
          <p:nvPr>
            <p:extLst>
              <p:ext uri="{D42A27DB-BD31-4B8C-83A1-F6EECF244321}">
                <p14:modId xmlns:p14="http://schemas.microsoft.com/office/powerpoint/2010/main" val="4069233581"/>
              </p:ext>
            </p:extLst>
          </p:nvPr>
        </p:nvGraphicFramePr>
        <p:xfrm>
          <a:off x="950739" y="1825624"/>
          <a:ext cx="1172139" cy="1146873"/>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tblGrid>
              <a:tr h="382291">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2530891781"/>
                  </a:ext>
                </a:extLst>
              </a:tr>
              <a:tr h="382291">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1246867671"/>
                  </a:ext>
                </a:extLst>
              </a:tr>
              <a:tr h="382291">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extLst>
                  <a:ext uri="{0D108BD9-81ED-4DB2-BD59-A6C34878D82A}">
                    <a16:rowId xmlns:a16="http://schemas.microsoft.com/office/drawing/2014/main" val="122307687"/>
                  </a:ext>
                </a:extLst>
              </a:tr>
            </a:tbl>
          </a:graphicData>
        </a:graphic>
      </p:graphicFrame>
      <p:sp>
        <p:nvSpPr>
          <p:cNvPr id="3" name="Oval 2">
            <a:extLst>
              <a:ext uri="{FF2B5EF4-FFF2-40B4-BE49-F238E27FC236}">
                <a16:creationId xmlns:a16="http://schemas.microsoft.com/office/drawing/2014/main" id="{5192DD35-6300-4A35-804B-30E5F3BEA32E}"/>
              </a:ext>
            </a:extLst>
          </p:cNvPr>
          <p:cNvSpPr/>
          <p:nvPr/>
        </p:nvSpPr>
        <p:spPr>
          <a:xfrm>
            <a:off x="4104921" y="2265417"/>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D9A79C18-8B04-49E6-8B7B-540AACA89FC1}"/>
              </a:ext>
            </a:extLst>
          </p:cNvPr>
          <p:cNvSpPr/>
          <p:nvPr/>
        </p:nvSpPr>
        <p:spPr>
          <a:xfrm>
            <a:off x="4482406" y="2263069"/>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Equals 11">
            <a:extLst>
              <a:ext uri="{FF2B5EF4-FFF2-40B4-BE49-F238E27FC236}">
                <a16:creationId xmlns:a16="http://schemas.microsoft.com/office/drawing/2014/main" id="{31048173-79D3-4CFD-AC04-D49B7EE38BE8}"/>
              </a:ext>
            </a:extLst>
          </p:cNvPr>
          <p:cNvSpPr/>
          <p:nvPr/>
        </p:nvSpPr>
        <p:spPr>
          <a:xfrm>
            <a:off x="3362175" y="2972497"/>
            <a:ext cx="602064" cy="422031"/>
          </a:xfrm>
          <a:prstGeom prst="mathEqual">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14849159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5A970-D3FC-4B0F-A9B9-55F8EB30EB8E}"/>
              </a:ext>
            </a:extLst>
          </p:cNvPr>
          <p:cNvSpPr>
            <a:spLocks noGrp="1"/>
          </p:cNvSpPr>
          <p:nvPr>
            <p:ph type="title"/>
          </p:nvPr>
        </p:nvSpPr>
        <p:spPr>
          <a:xfrm>
            <a:off x="838200" y="365125"/>
            <a:ext cx="10515600" cy="757997"/>
          </a:xfrm>
        </p:spPr>
        <p:txBody>
          <a:bodyPr/>
          <a:lstStyle/>
          <a:p>
            <a:pPr algn="ctr"/>
            <a:r>
              <a:rPr lang="en-US" dirty="0"/>
              <a:t>Calculation of Output Dimension</a:t>
            </a:r>
          </a:p>
        </p:txBody>
      </p:sp>
      <p:graphicFrame>
        <p:nvGraphicFramePr>
          <p:cNvPr id="9" name="Table 9">
            <a:extLst>
              <a:ext uri="{FF2B5EF4-FFF2-40B4-BE49-F238E27FC236}">
                <a16:creationId xmlns:a16="http://schemas.microsoft.com/office/drawing/2014/main" id="{EA01B71A-6B5D-40C0-889A-126145B38D68}"/>
              </a:ext>
            </a:extLst>
          </p:cNvPr>
          <p:cNvGraphicFramePr>
            <a:graphicFrameLocks noGrp="1"/>
          </p:cNvGraphicFramePr>
          <p:nvPr>
            <p:ph sz="half" idx="1"/>
          </p:nvPr>
        </p:nvGraphicFramePr>
        <p:xfrm>
          <a:off x="556843" y="1825624"/>
          <a:ext cx="2734991" cy="2676037"/>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gridCol w="390713">
                  <a:extLst>
                    <a:ext uri="{9D8B030D-6E8A-4147-A177-3AD203B41FA5}">
                      <a16:colId xmlns:a16="http://schemas.microsoft.com/office/drawing/2014/main" val="2185225175"/>
                    </a:ext>
                  </a:extLst>
                </a:gridCol>
                <a:gridCol w="390713">
                  <a:extLst>
                    <a:ext uri="{9D8B030D-6E8A-4147-A177-3AD203B41FA5}">
                      <a16:colId xmlns:a16="http://schemas.microsoft.com/office/drawing/2014/main" val="2001228772"/>
                    </a:ext>
                  </a:extLst>
                </a:gridCol>
                <a:gridCol w="390713">
                  <a:extLst>
                    <a:ext uri="{9D8B030D-6E8A-4147-A177-3AD203B41FA5}">
                      <a16:colId xmlns:a16="http://schemas.microsoft.com/office/drawing/2014/main" val="4010749547"/>
                    </a:ext>
                  </a:extLst>
                </a:gridCol>
                <a:gridCol w="390713">
                  <a:extLst>
                    <a:ext uri="{9D8B030D-6E8A-4147-A177-3AD203B41FA5}">
                      <a16:colId xmlns:a16="http://schemas.microsoft.com/office/drawing/2014/main" val="1701568956"/>
                    </a:ext>
                  </a:extLst>
                </a:gridCol>
              </a:tblGrid>
              <a:tr h="382291">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253089178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4686767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2307687"/>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327148248"/>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3807760174"/>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89591463"/>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844451045"/>
                  </a:ext>
                </a:extLst>
              </a:tr>
            </a:tbl>
          </a:graphicData>
        </a:graphic>
      </p:graphicFrame>
      <p:sp>
        <p:nvSpPr>
          <p:cNvPr id="4" name="Content Placeholder 3">
            <a:extLst>
              <a:ext uri="{FF2B5EF4-FFF2-40B4-BE49-F238E27FC236}">
                <a16:creationId xmlns:a16="http://schemas.microsoft.com/office/drawing/2014/main" id="{46FB4FF0-16D1-4449-ADC9-FCA09A730D4C}"/>
              </a:ext>
            </a:extLst>
          </p:cNvPr>
          <p:cNvSpPr>
            <a:spLocks noGrp="1"/>
          </p:cNvSpPr>
          <p:nvPr>
            <p:ph sz="half" idx="2"/>
          </p:nvPr>
        </p:nvSpPr>
        <p:spPr/>
        <p:txBody>
          <a:bodyPr/>
          <a:lstStyle/>
          <a:p>
            <a:r>
              <a:rPr lang="en-US" dirty="0"/>
              <a:t>Let us compute the dimension (W</a:t>
            </a:r>
            <a:r>
              <a:rPr lang="en-US" baseline="-25000" dirty="0"/>
              <a:t>2</a:t>
            </a:r>
            <a:r>
              <a:rPr lang="en-US" dirty="0"/>
              <a:t>, H</a:t>
            </a:r>
            <a:r>
              <a:rPr lang="en-US" baseline="-25000" dirty="0"/>
              <a:t>2</a:t>
            </a:r>
            <a:r>
              <a:rPr lang="en-US" dirty="0"/>
              <a:t>) of the output</a:t>
            </a:r>
          </a:p>
          <a:p>
            <a:endParaRPr lang="en-US" dirty="0"/>
          </a:p>
        </p:txBody>
      </p:sp>
      <p:graphicFrame>
        <p:nvGraphicFramePr>
          <p:cNvPr id="10" name="Table 9">
            <a:extLst>
              <a:ext uri="{FF2B5EF4-FFF2-40B4-BE49-F238E27FC236}">
                <a16:creationId xmlns:a16="http://schemas.microsoft.com/office/drawing/2014/main" id="{7371817D-5CEB-4254-B084-CDFA97547BF1}"/>
              </a:ext>
            </a:extLst>
          </p:cNvPr>
          <p:cNvGraphicFramePr>
            <a:graphicFrameLocks/>
          </p:cNvGraphicFramePr>
          <p:nvPr/>
        </p:nvGraphicFramePr>
        <p:xfrm>
          <a:off x="4034581" y="2207914"/>
          <a:ext cx="1953565" cy="1911455"/>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gridCol w="390713">
                  <a:extLst>
                    <a:ext uri="{9D8B030D-6E8A-4147-A177-3AD203B41FA5}">
                      <a16:colId xmlns:a16="http://schemas.microsoft.com/office/drawing/2014/main" val="2185225175"/>
                    </a:ext>
                  </a:extLst>
                </a:gridCol>
                <a:gridCol w="390713">
                  <a:extLst>
                    <a:ext uri="{9D8B030D-6E8A-4147-A177-3AD203B41FA5}">
                      <a16:colId xmlns:a16="http://schemas.microsoft.com/office/drawing/2014/main" val="2001228772"/>
                    </a:ext>
                  </a:extLst>
                </a:gridCol>
              </a:tblGrid>
              <a:tr h="382291">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253089178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24686767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extLst>
                  <a:ext uri="{0D108BD9-81ED-4DB2-BD59-A6C34878D82A}">
                    <a16:rowId xmlns:a16="http://schemas.microsoft.com/office/drawing/2014/main" val="122307687"/>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327148248"/>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3807760174"/>
                  </a:ext>
                </a:extLst>
              </a:tr>
            </a:tbl>
          </a:graphicData>
        </a:graphic>
      </p:graphicFrame>
      <p:graphicFrame>
        <p:nvGraphicFramePr>
          <p:cNvPr id="11" name="Table 10">
            <a:extLst>
              <a:ext uri="{FF2B5EF4-FFF2-40B4-BE49-F238E27FC236}">
                <a16:creationId xmlns:a16="http://schemas.microsoft.com/office/drawing/2014/main" id="{2CF008FC-F4B5-408C-AED6-F56A478D2140}"/>
              </a:ext>
            </a:extLst>
          </p:cNvPr>
          <p:cNvGraphicFramePr>
            <a:graphicFrameLocks/>
          </p:cNvGraphicFramePr>
          <p:nvPr>
            <p:extLst>
              <p:ext uri="{D42A27DB-BD31-4B8C-83A1-F6EECF244321}">
                <p14:modId xmlns:p14="http://schemas.microsoft.com/office/powerpoint/2010/main" val="3321924273"/>
              </p:ext>
            </p:extLst>
          </p:nvPr>
        </p:nvGraphicFramePr>
        <p:xfrm>
          <a:off x="1330570" y="1825624"/>
          <a:ext cx="1172139" cy="1146873"/>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tblGrid>
              <a:tr h="382291">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2530891781"/>
                  </a:ext>
                </a:extLst>
              </a:tr>
              <a:tr h="382291">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1246867671"/>
                  </a:ext>
                </a:extLst>
              </a:tr>
              <a:tr h="382291">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extLst>
                  <a:ext uri="{0D108BD9-81ED-4DB2-BD59-A6C34878D82A}">
                    <a16:rowId xmlns:a16="http://schemas.microsoft.com/office/drawing/2014/main" val="122307687"/>
                  </a:ext>
                </a:extLst>
              </a:tr>
            </a:tbl>
          </a:graphicData>
        </a:graphic>
      </p:graphicFrame>
      <p:sp>
        <p:nvSpPr>
          <p:cNvPr id="3" name="Oval 2">
            <a:extLst>
              <a:ext uri="{FF2B5EF4-FFF2-40B4-BE49-F238E27FC236}">
                <a16:creationId xmlns:a16="http://schemas.microsoft.com/office/drawing/2014/main" id="{5192DD35-6300-4A35-804B-30E5F3BEA32E}"/>
              </a:ext>
            </a:extLst>
          </p:cNvPr>
          <p:cNvSpPr/>
          <p:nvPr/>
        </p:nvSpPr>
        <p:spPr>
          <a:xfrm>
            <a:off x="4104921" y="2265417"/>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D9A79C18-8B04-49E6-8B7B-540AACA89FC1}"/>
              </a:ext>
            </a:extLst>
          </p:cNvPr>
          <p:cNvSpPr/>
          <p:nvPr/>
        </p:nvSpPr>
        <p:spPr>
          <a:xfrm>
            <a:off x="4482406" y="2263069"/>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5CAD40B-8161-42BA-A0C3-C275B76B8C45}"/>
              </a:ext>
            </a:extLst>
          </p:cNvPr>
          <p:cNvSpPr/>
          <p:nvPr/>
        </p:nvSpPr>
        <p:spPr>
          <a:xfrm>
            <a:off x="4902093" y="2260721"/>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Equals 12">
            <a:extLst>
              <a:ext uri="{FF2B5EF4-FFF2-40B4-BE49-F238E27FC236}">
                <a16:creationId xmlns:a16="http://schemas.microsoft.com/office/drawing/2014/main" id="{0A9FD62E-067B-4EBB-870E-6BCA52BFC77B}"/>
              </a:ext>
            </a:extLst>
          </p:cNvPr>
          <p:cNvSpPr/>
          <p:nvPr/>
        </p:nvSpPr>
        <p:spPr>
          <a:xfrm>
            <a:off x="3362175" y="2972497"/>
            <a:ext cx="602064" cy="422031"/>
          </a:xfrm>
          <a:prstGeom prst="mathEqual">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26206468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5A970-D3FC-4B0F-A9B9-55F8EB30EB8E}"/>
              </a:ext>
            </a:extLst>
          </p:cNvPr>
          <p:cNvSpPr>
            <a:spLocks noGrp="1"/>
          </p:cNvSpPr>
          <p:nvPr>
            <p:ph type="title"/>
          </p:nvPr>
        </p:nvSpPr>
        <p:spPr>
          <a:xfrm>
            <a:off x="838200" y="365126"/>
            <a:ext cx="10515600" cy="767936"/>
          </a:xfrm>
        </p:spPr>
        <p:txBody>
          <a:bodyPr/>
          <a:lstStyle/>
          <a:p>
            <a:pPr algn="ctr"/>
            <a:r>
              <a:rPr lang="en-US" dirty="0"/>
              <a:t>Calculation of Output Dimension</a:t>
            </a:r>
          </a:p>
        </p:txBody>
      </p:sp>
      <p:graphicFrame>
        <p:nvGraphicFramePr>
          <p:cNvPr id="9" name="Table 9">
            <a:extLst>
              <a:ext uri="{FF2B5EF4-FFF2-40B4-BE49-F238E27FC236}">
                <a16:creationId xmlns:a16="http://schemas.microsoft.com/office/drawing/2014/main" id="{EA01B71A-6B5D-40C0-889A-126145B38D68}"/>
              </a:ext>
            </a:extLst>
          </p:cNvPr>
          <p:cNvGraphicFramePr>
            <a:graphicFrameLocks noGrp="1"/>
          </p:cNvGraphicFramePr>
          <p:nvPr>
            <p:ph sz="half" idx="1"/>
          </p:nvPr>
        </p:nvGraphicFramePr>
        <p:xfrm>
          <a:off x="556843" y="1825624"/>
          <a:ext cx="2734991" cy="2676037"/>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gridCol w="390713">
                  <a:extLst>
                    <a:ext uri="{9D8B030D-6E8A-4147-A177-3AD203B41FA5}">
                      <a16:colId xmlns:a16="http://schemas.microsoft.com/office/drawing/2014/main" val="2185225175"/>
                    </a:ext>
                  </a:extLst>
                </a:gridCol>
                <a:gridCol w="390713">
                  <a:extLst>
                    <a:ext uri="{9D8B030D-6E8A-4147-A177-3AD203B41FA5}">
                      <a16:colId xmlns:a16="http://schemas.microsoft.com/office/drawing/2014/main" val="2001228772"/>
                    </a:ext>
                  </a:extLst>
                </a:gridCol>
                <a:gridCol w="390713">
                  <a:extLst>
                    <a:ext uri="{9D8B030D-6E8A-4147-A177-3AD203B41FA5}">
                      <a16:colId xmlns:a16="http://schemas.microsoft.com/office/drawing/2014/main" val="4010749547"/>
                    </a:ext>
                  </a:extLst>
                </a:gridCol>
                <a:gridCol w="390713">
                  <a:extLst>
                    <a:ext uri="{9D8B030D-6E8A-4147-A177-3AD203B41FA5}">
                      <a16:colId xmlns:a16="http://schemas.microsoft.com/office/drawing/2014/main" val="1701568956"/>
                    </a:ext>
                  </a:extLst>
                </a:gridCol>
              </a:tblGrid>
              <a:tr h="382291">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253089178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4686767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2307687"/>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327148248"/>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3807760174"/>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89591463"/>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844451045"/>
                  </a:ext>
                </a:extLst>
              </a:tr>
            </a:tbl>
          </a:graphicData>
        </a:graphic>
      </p:graphicFrame>
      <p:sp>
        <p:nvSpPr>
          <p:cNvPr id="4" name="Content Placeholder 3">
            <a:extLst>
              <a:ext uri="{FF2B5EF4-FFF2-40B4-BE49-F238E27FC236}">
                <a16:creationId xmlns:a16="http://schemas.microsoft.com/office/drawing/2014/main" id="{46FB4FF0-16D1-4449-ADC9-FCA09A730D4C}"/>
              </a:ext>
            </a:extLst>
          </p:cNvPr>
          <p:cNvSpPr>
            <a:spLocks noGrp="1"/>
          </p:cNvSpPr>
          <p:nvPr>
            <p:ph sz="half" idx="2"/>
          </p:nvPr>
        </p:nvSpPr>
        <p:spPr/>
        <p:txBody>
          <a:bodyPr/>
          <a:lstStyle/>
          <a:p>
            <a:r>
              <a:rPr lang="en-US" dirty="0"/>
              <a:t>Let us compute the dimension (W</a:t>
            </a:r>
            <a:r>
              <a:rPr lang="en-US" baseline="-25000" dirty="0"/>
              <a:t>2</a:t>
            </a:r>
            <a:r>
              <a:rPr lang="en-US" dirty="0"/>
              <a:t>, H</a:t>
            </a:r>
            <a:r>
              <a:rPr lang="en-US" baseline="-25000" dirty="0"/>
              <a:t>2</a:t>
            </a:r>
            <a:r>
              <a:rPr lang="en-US" dirty="0"/>
              <a:t>) of the output</a:t>
            </a:r>
          </a:p>
          <a:p>
            <a:endParaRPr lang="en-US" dirty="0"/>
          </a:p>
        </p:txBody>
      </p:sp>
      <p:graphicFrame>
        <p:nvGraphicFramePr>
          <p:cNvPr id="10" name="Table 9">
            <a:extLst>
              <a:ext uri="{FF2B5EF4-FFF2-40B4-BE49-F238E27FC236}">
                <a16:creationId xmlns:a16="http://schemas.microsoft.com/office/drawing/2014/main" id="{7371817D-5CEB-4254-B084-CDFA97547BF1}"/>
              </a:ext>
            </a:extLst>
          </p:cNvPr>
          <p:cNvGraphicFramePr>
            <a:graphicFrameLocks/>
          </p:cNvGraphicFramePr>
          <p:nvPr/>
        </p:nvGraphicFramePr>
        <p:xfrm>
          <a:off x="4034581" y="2207914"/>
          <a:ext cx="1953565" cy="1911455"/>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gridCol w="390713">
                  <a:extLst>
                    <a:ext uri="{9D8B030D-6E8A-4147-A177-3AD203B41FA5}">
                      <a16:colId xmlns:a16="http://schemas.microsoft.com/office/drawing/2014/main" val="2185225175"/>
                    </a:ext>
                  </a:extLst>
                </a:gridCol>
                <a:gridCol w="390713">
                  <a:extLst>
                    <a:ext uri="{9D8B030D-6E8A-4147-A177-3AD203B41FA5}">
                      <a16:colId xmlns:a16="http://schemas.microsoft.com/office/drawing/2014/main" val="2001228772"/>
                    </a:ext>
                  </a:extLst>
                </a:gridCol>
              </a:tblGrid>
              <a:tr h="382291">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253089178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24686767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extLst>
                  <a:ext uri="{0D108BD9-81ED-4DB2-BD59-A6C34878D82A}">
                    <a16:rowId xmlns:a16="http://schemas.microsoft.com/office/drawing/2014/main" val="122307687"/>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327148248"/>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3807760174"/>
                  </a:ext>
                </a:extLst>
              </a:tr>
            </a:tbl>
          </a:graphicData>
        </a:graphic>
      </p:graphicFrame>
      <p:graphicFrame>
        <p:nvGraphicFramePr>
          <p:cNvPr id="11" name="Table 10">
            <a:extLst>
              <a:ext uri="{FF2B5EF4-FFF2-40B4-BE49-F238E27FC236}">
                <a16:creationId xmlns:a16="http://schemas.microsoft.com/office/drawing/2014/main" id="{2CF008FC-F4B5-408C-AED6-F56A478D2140}"/>
              </a:ext>
            </a:extLst>
          </p:cNvPr>
          <p:cNvGraphicFramePr>
            <a:graphicFrameLocks/>
          </p:cNvGraphicFramePr>
          <p:nvPr>
            <p:extLst>
              <p:ext uri="{D42A27DB-BD31-4B8C-83A1-F6EECF244321}">
                <p14:modId xmlns:p14="http://schemas.microsoft.com/office/powerpoint/2010/main" val="251109939"/>
              </p:ext>
            </p:extLst>
          </p:nvPr>
        </p:nvGraphicFramePr>
        <p:xfrm>
          <a:off x="1724470" y="1825624"/>
          <a:ext cx="1172139" cy="1146873"/>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tblGrid>
              <a:tr h="382291">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2530891781"/>
                  </a:ext>
                </a:extLst>
              </a:tr>
              <a:tr h="382291">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1246867671"/>
                  </a:ext>
                </a:extLst>
              </a:tr>
              <a:tr h="382291">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extLst>
                  <a:ext uri="{0D108BD9-81ED-4DB2-BD59-A6C34878D82A}">
                    <a16:rowId xmlns:a16="http://schemas.microsoft.com/office/drawing/2014/main" val="122307687"/>
                  </a:ext>
                </a:extLst>
              </a:tr>
            </a:tbl>
          </a:graphicData>
        </a:graphic>
      </p:graphicFrame>
      <p:sp>
        <p:nvSpPr>
          <p:cNvPr id="3" name="Oval 2">
            <a:extLst>
              <a:ext uri="{FF2B5EF4-FFF2-40B4-BE49-F238E27FC236}">
                <a16:creationId xmlns:a16="http://schemas.microsoft.com/office/drawing/2014/main" id="{5192DD35-6300-4A35-804B-30E5F3BEA32E}"/>
              </a:ext>
            </a:extLst>
          </p:cNvPr>
          <p:cNvSpPr/>
          <p:nvPr/>
        </p:nvSpPr>
        <p:spPr>
          <a:xfrm>
            <a:off x="4104921" y="2265417"/>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D9A79C18-8B04-49E6-8B7B-540AACA89FC1}"/>
              </a:ext>
            </a:extLst>
          </p:cNvPr>
          <p:cNvSpPr/>
          <p:nvPr/>
        </p:nvSpPr>
        <p:spPr>
          <a:xfrm>
            <a:off x="4482406" y="2263069"/>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5CAD40B-8161-42BA-A0C3-C275B76B8C45}"/>
              </a:ext>
            </a:extLst>
          </p:cNvPr>
          <p:cNvSpPr/>
          <p:nvPr/>
        </p:nvSpPr>
        <p:spPr>
          <a:xfrm>
            <a:off x="4902093" y="2260721"/>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F2FBC6A-8356-49AD-9D7E-DDFA46E4328A}"/>
              </a:ext>
            </a:extLst>
          </p:cNvPr>
          <p:cNvSpPr/>
          <p:nvPr/>
        </p:nvSpPr>
        <p:spPr>
          <a:xfrm>
            <a:off x="5279577" y="2258373"/>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Equals 13">
            <a:extLst>
              <a:ext uri="{FF2B5EF4-FFF2-40B4-BE49-F238E27FC236}">
                <a16:creationId xmlns:a16="http://schemas.microsoft.com/office/drawing/2014/main" id="{DC3AD636-B477-48CA-931A-8529627C8946}"/>
              </a:ext>
            </a:extLst>
          </p:cNvPr>
          <p:cNvSpPr/>
          <p:nvPr/>
        </p:nvSpPr>
        <p:spPr>
          <a:xfrm>
            <a:off x="3362175" y="2972497"/>
            <a:ext cx="602064" cy="422031"/>
          </a:xfrm>
          <a:prstGeom prst="mathEqual">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1210921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5A970-D3FC-4B0F-A9B9-55F8EB30EB8E}"/>
              </a:ext>
            </a:extLst>
          </p:cNvPr>
          <p:cNvSpPr>
            <a:spLocks noGrp="1"/>
          </p:cNvSpPr>
          <p:nvPr>
            <p:ph type="title"/>
          </p:nvPr>
        </p:nvSpPr>
        <p:spPr>
          <a:xfrm>
            <a:off x="838200" y="365126"/>
            <a:ext cx="10515600" cy="648666"/>
          </a:xfrm>
        </p:spPr>
        <p:txBody>
          <a:bodyPr>
            <a:normAutofit fontScale="90000"/>
          </a:bodyPr>
          <a:lstStyle/>
          <a:p>
            <a:pPr algn="ctr"/>
            <a:r>
              <a:rPr lang="en-US" dirty="0"/>
              <a:t>Calculation of Output Dimension</a:t>
            </a:r>
          </a:p>
        </p:txBody>
      </p:sp>
      <p:graphicFrame>
        <p:nvGraphicFramePr>
          <p:cNvPr id="9" name="Table 9">
            <a:extLst>
              <a:ext uri="{FF2B5EF4-FFF2-40B4-BE49-F238E27FC236}">
                <a16:creationId xmlns:a16="http://schemas.microsoft.com/office/drawing/2014/main" id="{EA01B71A-6B5D-40C0-889A-126145B38D68}"/>
              </a:ext>
            </a:extLst>
          </p:cNvPr>
          <p:cNvGraphicFramePr>
            <a:graphicFrameLocks noGrp="1"/>
          </p:cNvGraphicFramePr>
          <p:nvPr>
            <p:ph sz="half" idx="1"/>
          </p:nvPr>
        </p:nvGraphicFramePr>
        <p:xfrm>
          <a:off x="556843" y="1825624"/>
          <a:ext cx="2734991" cy="2676037"/>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gridCol w="390713">
                  <a:extLst>
                    <a:ext uri="{9D8B030D-6E8A-4147-A177-3AD203B41FA5}">
                      <a16:colId xmlns:a16="http://schemas.microsoft.com/office/drawing/2014/main" val="2185225175"/>
                    </a:ext>
                  </a:extLst>
                </a:gridCol>
                <a:gridCol w="390713">
                  <a:extLst>
                    <a:ext uri="{9D8B030D-6E8A-4147-A177-3AD203B41FA5}">
                      <a16:colId xmlns:a16="http://schemas.microsoft.com/office/drawing/2014/main" val="2001228772"/>
                    </a:ext>
                  </a:extLst>
                </a:gridCol>
                <a:gridCol w="390713">
                  <a:extLst>
                    <a:ext uri="{9D8B030D-6E8A-4147-A177-3AD203B41FA5}">
                      <a16:colId xmlns:a16="http://schemas.microsoft.com/office/drawing/2014/main" val="4010749547"/>
                    </a:ext>
                  </a:extLst>
                </a:gridCol>
                <a:gridCol w="390713">
                  <a:extLst>
                    <a:ext uri="{9D8B030D-6E8A-4147-A177-3AD203B41FA5}">
                      <a16:colId xmlns:a16="http://schemas.microsoft.com/office/drawing/2014/main" val="1701568956"/>
                    </a:ext>
                  </a:extLst>
                </a:gridCol>
              </a:tblGrid>
              <a:tr h="382291">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253089178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4686767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2307687"/>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327148248"/>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3807760174"/>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89591463"/>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844451045"/>
                  </a:ext>
                </a:extLst>
              </a:tr>
            </a:tbl>
          </a:graphicData>
        </a:graphic>
      </p:graphicFrame>
      <p:sp>
        <p:nvSpPr>
          <p:cNvPr id="4" name="Content Placeholder 3">
            <a:extLst>
              <a:ext uri="{FF2B5EF4-FFF2-40B4-BE49-F238E27FC236}">
                <a16:creationId xmlns:a16="http://schemas.microsoft.com/office/drawing/2014/main" id="{46FB4FF0-16D1-4449-ADC9-FCA09A730D4C}"/>
              </a:ext>
            </a:extLst>
          </p:cNvPr>
          <p:cNvSpPr>
            <a:spLocks noGrp="1"/>
          </p:cNvSpPr>
          <p:nvPr>
            <p:ph sz="half" idx="2"/>
          </p:nvPr>
        </p:nvSpPr>
        <p:spPr/>
        <p:txBody>
          <a:bodyPr/>
          <a:lstStyle/>
          <a:p>
            <a:r>
              <a:rPr lang="en-US" dirty="0"/>
              <a:t>Let us compute the dimension (W</a:t>
            </a:r>
            <a:r>
              <a:rPr lang="en-US" baseline="-25000" dirty="0"/>
              <a:t>2</a:t>
            </a:r>
            <a:r>
              <a:rPr lang="en-US" dirty="0"/>
              <a:t>, H</a:t>
            </a:r>
            <a:r>
              <a:rPr lang="en-US" baseline="-25000" dirty="0"/>
              <a:t>2</a:t>
            </a:r>
            <a:r>
              <a:rPr lang="en-US" dirty="0"/>
              <a:t>) of the output</a:t>
            </a:r>
          </a:p>
          <a:p>
            <a:endParaRPr lang="en-US" dirty="0"/>
          </a:p>
        </p:txBody>
      </p:sp>
      <p:graphicFrame>
        <p:nvGraphicFramePr>
          <p:cNvPr id="10" name="Table 9">
            <a:extLst>
              <a:ext uri="{FF2B5EF4-FFF2-40B4-BE49-F238E27FC236}">
                <a16:creationId xmlns:a16="http://schemas.microsoft.com/office/drawing/2014/main" id="{7371817D-5CEB-4254-B084-CDFA97547BF1}"/>
              </a:ext>
            </a:extLst>
          </p:cNvPr>
          <p:cNvGraphicFramePr>
            <a:graphicFrameLocks/>
          </p:cNvGraphicFramePr>
          <p:nvPr/>
        </p:nvGraphicFramePr>
        <p:xfrm>
          <a:off x="4034581" y="2207914"/>
          <a:ext cx="1953565" cy="1911455"/>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gridCol w="390713">
                  <a:extLst>
                    <a:ext uri="{9D8B030D-6E8A-4147-A177-3AD203B41FA5}">
                      <a16:colId xmlns:a16="http://schemas.microsoft.com/office/drawing/2014/main" val="2185225175"/>
                    </a:ext>
                  </a:extLst>
                </a:gridCol>
                <a:gridCol w="390713">
                  <a:extLst>
                    <a:ext uri="{9D8B030D-6E8A-4147-A177-3AD203B41FA5}">
                      <a16:colId xmlns:a16="http://schemas.microsoft.com/office/drawing/2014/main" val="2001228772"/>
                    </a:ext>
                  </a:extLst>
                </a:gridCol>
              </a:tblGrid>
              <a:tr h="382291">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253089178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24686767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extLst>
                  <a:ext uri="{0D108BD9-81ED-4DB2-BD59-A6C34878D82A}">
                    <a16:rowId xmlns:a16="http://schemas.microsoft.com/office/drawing/2014/main" val="122307687"/>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327148248"/>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3807760174"/>
                  </a:ext>
                </a:extLst>
              </a:tr>
            </a:tbl>
          </a:graphicData>
        </a:graphic>
      </p:graphicFrame>
      <p:graphicFrame>
        <p:nvGraphicFramePr>
          <p:cNvPr id="11" name="Table 10">
            <a:extLst>
              <a:ext uri="{FF2B5EF4-FFF2-40B4-BE49-F238E27FC236}">
                <a16:creationId xmlns:a16="http://schemas.microsoft.com/office/drawing/2014/main" id="{2CF008FC-F4B5-408C-AED6-F56A478D2140}"/>
              </a:ext>
            </a:extLst>
          </p:cNvPr>
          <p:cNvGraphicFramePr>
            <a:graphicFrameLocks/>
          </p:cNvGraphicFramePr>
          <p:nvPr>
            <p:extLst>
              <p:ext uri="{D42A27DB-BD31-4B8C-83A1-F6EECF244321}">
                <p14:modId xmlns:p14="http://schemas.microsoft.com/office/powerpoint/2010/main" val="1894830930"/>
              </p:ext>
            </p:extLst>
          </p:nvPr>
        </p:nvGraphicFramePr>
        <p:xfrm>
          <a:off x="2118367" y="1825624"/>
          <a:ext cx="1172139" cy="1146873"/>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tblGrid>
              <a:tr h="382291">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2530891781"/>
                  </a:ext>
                </a:extLst>
              </a:tr>
              <a:tr h="382291">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1246867671"/>
                  </a:ext>
                </a:extLst>
              </a:tr>
              <a:tr h="382291">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extLst>
                  <a:ext uri="{0D108BD9-81ED-4DB2-BD59-A6C34878D82A}">
                    <a16:rowId xmlns:a16="http://schemas.microsoft.com/office/drawing/2014/main" val="122307687"/>
                  </a:ext>
                </a:extLst>
              </a:tr>
            </a:tbl>
          </a:graphicData>
        </a:graphic>
      </p:graphicFrame>
      <p:sp>
        <p:nvSpPr>
          <p:cNvPr id="3" name="Oval 2">
            <a:extLst>
              <a:ext uri="{FF2B5EF4-FFF2-40B4-BE49-F238E27FC236}">
                <a16:creationId xmlns:a16="http://schemas.microsoft.com/office/drawing/2014/main" id="{5192DD35-6300-4A35-804B-30E5F3BEA32E}"/>
              </a:ext>
            </a:extLst>
          </p:cNvPr>
          <p:cNvSpPr/>
          <p:nvPr/>
        </p:nvSpPr>
        <p:spPr>
          <a:xfrm>
            <a:off x="4104921" y="2265417"/>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D9A79C18-8B04-49E6-8B7B-540AACA89FC1}"/>
              </a:ext>
            </a:extLst>
          </p:cNvPr>
          <p:cNvSpPr/>
          <p:nvPr/>
        </p:nvSpPr>
        <p:spPr>
          <a:xfrm>
            <a:off x="4482406" y="2263069"/>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5CAD40B-8161-42BA-A0C3-C275B76B8C45}"/>
              </a:ext>
            </a:extLst>
          </p:cNvPr>
          <p:cNvSpPr/>
          <p:nvPr/>
        </p:nvSpPr>
        <p:spPr>
          <a:xfrm>
            <a:off x="4902093" y="2260721"/>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F2FBC6A-8356-49AD-9D7E-DDFA46E4328A}"/>
              </a:ext>
            </a:extLst>
          </p:cNvPr>
          <p:cNvSpPr/>
          <p:nvPr/>
        </p:nvSpPr>
        <p:spPr>
          <a:xfrm>
            <a:off x="5279577" y="2258373"/>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10917E4E-9A23-4F40-8237-F5EDD303267D}"/>
              </a:ext>
            </a:extLst>
          </p:cNvPr>
          <p:cNvSpPr/>
          <p:nvPr/>
        </p:nvSpPr>
        <p:spPr>
          <a:xfrm>
            <a:off x="5671130" y="2270096"/>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Equals 14">
            <a:extLst>
              <a:ext uri="{FF2B5EF4-FFF2-40B4-BE49-F238E27FC236}">
                <a16:creationId xmlns:a16="http://schemas.microsoft.com/office/drawing/2014/main" id="{758D6566-7461-41A5-B512-A1DB025BF79A}"/>
              </a:ext>
            </a:extLst>
          </p:cNvPr>
          <p:cNvSpPr/>
          <p:nvPr/>
        </p:nvSpPr>
        <p:spPr>
          <a:xfrm>
            <a:off x="3362175" y="2972497"/>
            <a:ext cx="602064" cy="422031"/>
          </a:xfrm>
          <a:prstGeom prst="mathEqual">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21691190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5A970-D3FC-4B0F-A9B9-55F8EB30EB8E}"/>
              </a:ext>
            </a:extLst>
          </p:cNvPr>
          <p:cNvSpPr>
            <a:spLocks noGrp="1"/>
          </p:cNvSpPr>
          <p:nvPr>
            <p:ph type="title"/>
          </p:nvPr>
        </p:nvSpPr>
        <p:spPr>
          <a:xfrm>
            <a:off x="838200" y="365126"/>
            <a:ext cx="10515600" cy="648666"/>
          </a:xfrm>
        </p:spPr>
        <p:txBody>
          <a:bodyPr>
            <a:normAutofit fontScale="90000"/>
          </a:bodyPr>
          <a:lstStyle/>
          <a:p>
            <a:pPr algn="ctr"/>
            <a:r>
              <a:rPr lang="en-US" dirty="0"/>
              <a:t>Calculation of Output Dimension</a:t>
            </a:r>
          </a:p>
        </p:txBody>
      </p:sp>
      <p:graphicFrame>
        <p:nvGraphicFramePr>
          <p:cNvPr id="9" name="Table 9">
            <a:extLst>
              <a:ext uri="{FF2B5EF4-FFF2-40B4-BE49-F238E27FC236}">
                <a16:creationId xmlns:a16="http://schemas.microsoft.com/office/drawing/2014/main" id="{EA01B71A-6B5D-40C0-889A-126145B38D68}"/>
              </a:ext>
            </a:extLst>
          </p:cNvPr>
          <p:cNvGraphicFramePr>
            <a:graphicFrameLocks noGrp="1"/>
          </p:cNvGraphicFramePr>
          <p:nvPr>
            <p:ph sz="half" idx="1"/>
          </p:nvPr>
        </p:nvGraphicFramePr>
        <p:xfrm>
          <a:off x="556843" y="1825624"/>
          <a:ext cx="2734991" cy="2676037"/>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gridCol w="390713">
                  <a:extLst>
                    <a:ext uri="{9D8B030D-6E8A-4147-A177-3AD203B41FA5}">
                      <a16:colId xmlns:a16="http://schemas.microsoft.com/office/drawing/2014/main" val="2185225175"/>
                    </a:ext>
                  </a:extLst>
                </a:gridCol>
                <a:gridCol w="390713">
                  <a:extLst>
                    <a:ext uri="{9D8B030D-6E8A-4147-A177-3AD203B41FA5}">
                      <a16:colId xmlns:a16="http://schemas.microsoft.com/office/drawing/2014/main" val="2001228772"/>
                    </a:ext>
                  </a:extLst>
                </a:gridCol>
                <a:gridCol w="390713">
                  <a:extLst>
                    <a:ext uri="{9D8B030D-6E8A-4147-A177-3AD203B41FA5}">
                      <a16:colId xmlns:a16="http://schemas.microsoft.com/office/drawing/2014/main" val="4010749547"/>
                    </a:ext>
                  </a:extLst>
                </a:gridCol>
                <a:gridCol w="390713">
                  <a:extLst>
                    <a:ext uri="{9D8B030D-6E8A-4147-A177-3AD203B41FA5}">
                      <a16:colId xmlns:a16="http://schemas.microsoft.com/office/drawing/2014/main" val="1701568956"/>
                    </a:ext>
                  </a:extLst>
                </a:gridCol>
              </a:tblGrid>
              <a:tr h="382291">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253089178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4686767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2307687"/>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327148248"/>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3807760174"/>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89591463"/>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844451045"/>
                  </a:ext>
                </a:extLst>
              </a:tr>
            </a:tbl>
          </a:graphicData>
        </a:graphic>
      </p:graphicFrame>
      <p:sp>
        <p:nvSpPr>
          <p:cNvPr id="4" name="Content Placeholder 3">
            <a:extLst>
              <a:ext uri="{FF2B5EF4-FFF2-40B4-BE49-F238E27FC236}">
                <a16:creationId xmlns:a16="http://schemas.microsoft.com/office/drawing/2014/main" id="{46FB4FF0-16D1-4449-ADC9-FCA09A730D4C}"/>
              </a:ext>
            </a:extLst>
          </p:cNvPr>
          <p:cNvSpPr>
            <a:spLocks noGrp="1"/>
          </p:cNvSpPr>
          <p:nvPr>
            <p:ph sz="half" idx="2"/>
          </p:nvPr>
        </p:nvSpPr>
        <p:spPr/>
        <p:txBody>
          <a:bodyPr/>
          <a:lstStyle/>
          <a:p>
            <a:r>
              <a:rPr lang="en-US" dirty="0"/>
              <a:t>Let us compute the dimension (W</a:t>
            </a:r>
            <a:r>
              <a:rPr lang="en-US" baseline="-25000" dirty="0"/>
              <a:t>2</a:t>
            </a:r>
            <a:r>
              <a:rPr lang="en-US" dirty="0"/>
              <a:t>, H</a:t>
            </a:r>
            <a:r>
              <a:rPr lang="en-US" baseline="-25000" dirty="0"/>
              <a:t>2</a:t>
            </a:r>
            <a:r>
              <a:rPr lang="en-US" dirty="0"/>
              <a:t>) of the output</a:t>
            </a:r>
          </a:p>
          <a:p>
            <a:endParaRPr lang="en-US" dirty="0"/>
          </a:p>
        </p:txBody>
      </p:sp>
      <p:graphicFrame>
        <p:nvGraphicFramePr>
          <p:cNvPr id="10" name="Table 9">
            <a:extLst>
              <a:ext uri="{FF2B5EF4-FFF2-40B4-BE49-F238E27FC236}">
                <a16:creationId xmlns:a16="http://schemas.microsoft.com/office/drawing/2014/main" id="{7371817D-5CEB-4254-B084-CDFA97547BF1}"/>
              </a:ext>
            </a:extLst>
          </p:cNvPr>
          <p:cNvGraphicFramePr>
            <a:graphicFrameLocks/>
          </p:cNvGraphicFramePr>
          <p:nvPr/>
        </p:nvGraphicFramePr>
        <p:xfrm>
          <a:off x="4034581" y="2207914"/>
          <a:ext cx="1953565" cy="1911455"/>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gridCol w="390713">
                  <a:extLst>
                    <a:ext uri="{9D8B030D-6E8A-4147-A177-3AD203B41FA5}">
                      <a16:colId xmlns:a16="http://schemas.microsoft.com/office/drawing/2014/main" val="2185225175"/>
                    </a:ext>
                  </a:extLst>
                </a:gridCol>
                <a:gridCol w="390713">
                  <a:extLst>
                    <a:ext uri="{9D8B030D-6E8A-4147-A177-3AD203B41FA5}">
                      <a16:colId xmlns:a16="http://schemas.microsoft.com/office/drawing/2014/main" val="2001228772"/>
                    </a:ext>
                  </a:extLst>
                </a:gridCol>
              </a:tblGrid>
              <a:tr h="382291">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253089178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24686767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extLst>
                  <a:ext uri="{0D108BD9-81ED-4DB2-BD59-A6C34878D82A}">
                    <a16:rowId xmlns:a16="http://schemas.microsoft.com/office/drawing/2014/main" val="122307687"/>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327148248"/>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3807760174"/>
                  </a:ext>
                </a:extLst>
              </a:tr>
            </a:tbl>
          </a:graphicData>
        </a:graphic>
      </p:graphicFrame>
      <p:graphicFrame>
        <p:nvGraphicFramePr>
          <p:cNvPr id="11" name="Table 10">
            <a:extLst>
              <a:ext uri="{FF2B5EF4-FFF2-40B4-BE49-F238E27FC236}">
                <a16:creationId xmlns:a16="http://schemas.microsoft.com/office/drawing/2014/main" id="{2CF008FC-F4B5-408C-AED6-F56A478D2140}"/>
              </a:ext>
            </a:extLst>
          </p:cNvPr>
          <p:cNvGraphicFramePr>
            <a:graphicFrameLocks/>
          </p:cNvGraphicFramePr>
          <p:nvPr>
            <p:extLst>
              <p:ext uri="{D42A27DB-BD31-4B8C-83A1-F6EECF244321}">
                <p14:modId xmlns:p14="http://schemas.microsoft.com/office/powerpoint/2010/main" val="2324650540"/>
              </p:ext>
            </p:extLst>
          </p:nvPr>
        </p:nvGraphicFramePr>
        <p:xfrm>
          <a:off x="570923" y="2219522"/>
          <a:ext cx="1172139" cy="1146873"/>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tblGrid>
              <a:tr h="382291">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2530891781"/>
                  </a:ext>
                </a:extLst>
              </a:tr>
              <a:tr h="382291">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1246867671"/>
                  </a:ext>
                </a:extLst>
              </a:tr>
              <a:tr h="382291">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extLst>
                  <a:ext uri="{0D108BD9-81ED-4DB2-BD59-A6C34878D82A}">
                    <a16:rowId xmlns:a16="http://schemas.microsoft.com/office/drawing/2014/main" val="122307687"/>
                  </a:ext>
                </a:extLst>
              </a:tr>
            </a:tbl>
          </a:graphicData>
        </a:graphic>
      </p:graphicFrame>
      <p:sp>
        <p:nvSpPr>
          <p:cNvPr id="3" name="Oval 2">
            <a:extLst>
              <a:ext uri="{FF2B5EF4-FFF2-40B4-BE49-F238E27FC236}">
                <a16:creationId xmlns:a16="http://schemas.microsoft.com/office/drawing/2014/main" id="{5192DD35-6300-4A35-804B-30E5F3BEA32E}"/>
              </a:ext>
            </a:extLst>
          </p:cNvPr>
          <p:cNvSpPr/>
          <p:nvPr/>
        </p:nvSpPr>
        <p:spPr>
          <a:xfrm>
            <a:off x="4104921" y="2265417"/>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D9A79C18-8B04-49E6-8B7B-540AACA89FC1}"/>
              </a:ext>
            </a:extLst>
          </p:cNvPr>
          <p:cNvSpPr/>
          <p:nvPr/>
        </p:nvSpPr>
        <p:spPr>
          <a:xfrm>
            <a:off x="4482406" y="2263069"/>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5CAD40B-8161-42BA-A0C3-C275B76B8C45}"/>
              </a:ext>
            </a:extLst>
          </p:cNvPr>
          <p:cNvSpPr/>
          <p:nvPr/>
        </p:nvSpPr>
        <p:spPr>
          <a:xfrm>
            <a:off x="4902093" y="2260721"/>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F2FBC6A-8356-49AD-9D7E-DDFA46E4328A}"/>
              </a:ext>
            </a:extLst>
          </p:cNvPr>
          <p:cNvSpPr/>
          <p:nvPr/>
        </p:nvSpPr>
        <p:spPr>
          <a:xfrm>
            <a:off x="5279577" y="2258373"/>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10917E4E-9A23-4F40-8237-F5EDD303267D}"/>
              </a:ext>
            </a:extLst>
          </p:cNvPr>
          <p:cNvSpPr/>
          <p:nvPr/>
        </p:nvSpPr>
        <p:spPr>
          <a:xfrm>
            <a:off x="5671130" y="2270096"/>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ED667BD2-817F-4A38-8A6F-CF4687287014}"/>
              </a:ext>
            </a:extLst>
          </p:cNvPr>
          <p:cNvSpPr/>
          <p:nvPr/>
        </p:nvSpPr>
        <p:spPr>
          <a:xfrm>
            <a:off x="4102575" y="2642903"/>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Equals 15">
            <a:extLst>
              <a:ext uri="{FF2B5EF4-FFF2-40B4-BE49-F238E27FC236}">
                <a16:creationId xmlns:a16="http://schemas.microsoft.com/office/drawing/2014/main" id="{6D1BC903-5A37-43C3-AC40-7FD7155F25D2}"/>
              </a:ext>
            </a:extLst>
          </p:cNvPr>
          <p:cNvSpPr/>
          <p:nvPr/>
        </p:nvSpPr>
        <p:spPr>
          <a:xfrm>
            <a:off x="3362175" y="2972497"/>
            <a:ext cx="602064" cy="422031"/>
          </a:xfrm>
          <a:prstGeom prst="mathEqual">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90546305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5A970-D3FC-4B0F-A9B9-55F8EB30EB8E}"/>
              </a:ext>
            </a:extLst>
          </p:cNvPr>
          <p:cNvSpPr>
            <a:spLocks noGrp="1"/>
          </p:cNvSpPr>
          <p:nvPr>
            <p:ph type="title"/>
          </p:nvPr>
        </p:nvSpPr>
        <p:spPr>
          <a:xfrm>
            <a:off x="838200" y="365126"/>
            <a:ext cx="10515600" cy="767936"/>
          </a:xfrm>
        </p:spPr>
        <p:txBody>
          <a:bodyPr/>
          <a:lstStyle/>
          <a:p>
            <a:pPr algn="ctr"/>
            <a:r>
              <a:rPr lang="en-US" dirty="0"/>
              <a:t>Calculation of Output Dimension</a:t>
            </a:r>
          </a:p>
        </p:txBody>
      </p:sp>
      <p:graphicFrame>
        <p:nvGraphicFramePr>
          <p:cNvPr id="9" name="Table 9">
            <a:extLst>
              <a:ext uri="{FF2B5EF4-FFF2-40B4-BE49-F238E27FC236}">
                <a16:creationId xmlns:a16="http://schemas.microsoft.com/office/drawing/2014/main" id="{EA01B71A-6B5D-40C0-889A-126145B38D68}"/>
              </a:ext>
            </a:extLst>
          </p:cNvPr>
          <p:cNvGraphicFramePr>
            <a:graphicFrameLocks noGrp="1"/>
          </p:cNvGraphicFramePr>
          <p:nvPr>
            <p:ph sz="half" idx="1"/>
          </p:nvPr>
        </p:nvGraphicFramePr>
        <p:xfrm>
          <a:off x="556843" y="1825624"/>
          <a:ext cx="2734991" cy="2676037"/>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gridCol w="390713">
                  <a:extLst>
                    <a:ext uri="{9D8B030D-6E8A-4147-A177-3AD203B41FA5}">
                      <a16:colId xmlns:a16="http://schemas.microsoft.com/office/drawing/2014/main" val="2185225175"/>
                    </a:ext>
                  </a:extLst>
                </a:gridCol>
                <a:gridCol w="390713">
                  <a:extLst>
                    <a:ext uri="{9D8B030D-6E8A-4147-A177-3AD203B41FA5}">
                      <a16:colId xmlns:a16="http://schemas.microsoft.com/office/drawing/2014/main" val="2001228772"/>
                    </a:ext>
                  </a:extLst>
                </a:gridCol>
                <a:gridCol w="390713">
                  <a:extLst>
                    <a:ext uri="{9D8B030D-6E8A-4147-A177-3AD203B41FA5}">
                      <a16:colId xmlns:a16="http://schemas.microsoft.com/office/drawing/2014/main" val="4010749547"/>
                    </a:ext>
                  </a:extLst>
                </a:gridCol>
                <a:gridCol w="390713">
                  <a:extLst>
                    <a:ext uri="{9D8B030D-6E8A-4147-A177-3AD203B41FA5}">
                      <a16:colId xmlns:a16="http://schemas.microsoft.com/office/drawing/2014/main" val="1701568956"/>
                    </a:ext>
                  </a:extLst>
                </a:gridCol>
              </a:tblGrid>
              <a:tr h="382291">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253089178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4686767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2307687"/>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327148248"/>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3807760174"/>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89591463"/>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844451045"/>
                  </a:ext>
                </a:extLst>
              </a:tr>
            </a:tbl>
          </a:graphicData>
        </a:graphic>
      </p:graphicFrame>
      <p:sp>
        <p:nvSpPr>
          <p:cNvPr id="4" name="Content Placeholder 3">
            <a:extLst>
              <a:ext uri="{FF2B5EF4-FFF2-40B4-BE49-F238E27FC236}">
                <a16:creationId xmlns:a16="http://schemas.microsoft.com/office/drawing/2014/main" id="{46FB4FF0-16D1-4449-ADC9-FCA09A730D4C}"/>
              </a:ext>
            </a:extLst>
          </p:cNvPr>
          <p:cNvSpPr>
            <a:spLocks noGrp="1"/>
          </p:cNvSpPr>
          <p:nvPr>
            <p:ph sz="half" idx="2"/>
          </p:nvPr>
        </p:nvSpPr>
        <p:spPr/>
        <p:txBody>
          <a:bodyPr/>
          <a:lstStyle/>
          <a:p>
            <a:r>
              <a:rPr lang="en-US" dirty="0"/>
              <a:t>Let us compute the dimension (W</a:t>
            </a:r>
            <a:r>
              <a:rPr lang="en-US" baseline="-25000" dirty="0"/>
              <a:t>2</a:t>
            </a:r>
            <a:r>
              <a:rPr lang="en-US" dirty="0"/>
              <a:t>, H</a:t>
            </a:r>
            <a:r>
              <a:rPr lang="en-US" baseline="-25000" dirty="0"/>
              <a:t>2</a:t>
            </a:r>
            <a:r>
              <a:rPr lang="en-US" dirty="0"/>
              <a:t>) of the output</a:t>
            </a:r>
          </a:p>
          <a:p>
            <a:endParaRPr lang="en-US" dirty="0"/>
          </a:p>
        </p:txBody>
      </p:sp>
      <p:graphicFrame>
        <p:nvGraphicFramePr>
          <p:cNvPr id="10" name="Table 9">
            <a:extLst>
              <a:ext uri="{FF2B5EF4-FFF2-40B4-BE49-F238E27FC236}">
                <a16:creationId xmlns:a16="http://schemas.microsoft.com/office/drawing/2014/main" id="{7371817D-5CEB-4254-B084-CDFA97547BF1}"/>
              </a:ext>
            </a:extLst>
          </p:cNvPr>
          <p:cNvGraphicFramePr>
            <a:graphicFrameLocks/>
          </p:cNvGraphicFramePr>
          <p:nvPr>
            <p:extLst>
              <p:ext uri="{D42A27DB-BD31-4B8C-83A1-F6EECF244321}">
                <p14:modId xmlns:p14="http://schemas.microsoft.com/office/powerpoint/2010/main" val="952614584"/>
              </p:ext>
            </p:extLst>
          </p:nvPr>
        </p:nvGraphicFramePr>
        <p:xfrm>
          <a:off x="4034581" y="2207914"/>
          <a:ext cx="1953565" cy="1911455"/>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gridCol w="390713">
                  <a:extLst>
                    <a:ext uri="{9D8B030D-6E8A-4147-A177-3AD203B41FA5}">
                      <a16:colId xmlns:a16="http://schemas.microsoft.com/office/drawing/2014/main" val="2185225175"/>
                    </a:ext>
                  </a:extLst>
                </a:gridCol>
                <a:gridCol w="390713">
                  <a:extLst>
                    <a:ext uri="{9D8B030D-6E8A-4147-A177-3AD203B41FA5}">
                      <a16:colId xmlns:a16="http://schemas.microsoft.com/office/drawing/2014/main" val="2001228772"/>
                    </a:ext>
                  </a:extLst>
                </a:gridCol>
              </a:tblGrid>
              <a:tr h="382291">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2530891781"/>
                  </a:ext>
                </a:extLst>
              </a:tr>
              <a:tr h="382291">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246867671"/>
                  </a:ext>
                </a:extLst>
              </a:tr>
              <a:tr h="382291">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22307687"/>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327148248"/>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3807760174"/>
                  </a:ext>
                </a:extLst>
              </a:tr>
            </a:tbl>
          </a:graphicData>
        </a:graphic>
      </p:graphicFrame>
      <p:graphicFrame>
        <p:nvGraphicFramePr>
          <p:cNvPr id="11" name="Table 10">
            <a:extLst>
              <a:ext uri="{FF2B5EF4-FFF2-40B4-BE49-F238E27FC236}">
                <a16:creationId xmlns:a16="http://schemas.microsoft.com/office/drawing/2014/main" id="{2CF008FC-F4B5-408C-AED6-F56A478D2140}"/>
              </a:ext>
            </a:extLst>
          </p:cNvPr>
          <p:cNvGraphicFramePr>
            <a:graphicFrameLocks/>
          </p:cNvGraphicFramePr>
          <p:nvPr>
            <p:extLst>
              <p:ext uri="{D42A27DB-BD31-4B8C-83A1-F6EECF244321}">
                <p14:modId xmlns:p14="http://schemas.microsoft.com/office/powerpoint/2010/main" val="4104384716"/>
              </p:ext>
            </p:extLst>
          </p:nvPr>
        </p:nvGraphicFramePr>
        <p:xfrm>
          <a:off x="1738541" y="3344946"/>
          <a:ext cx="1172139" cy="1146873"/>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tblGrid>
              <a:tr h="382291">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2530891781"/>
                  </a:ext>
                </a:extLst>
              </a:tr>
              <a:tr h="382291">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1246867671"/>
                  </a:ext>
                </a:extLst>
              </a:tr>
              <a:tr h="382291">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extLst>
                  <a:ext uri="{0D108BD9-81ED-4DB2-BD59-A6C34878D82A}">
                    <a16:rowId xmlns:a16="http://schemas.microsoft.com/office/drawing/2014/main" val="122307687"/>
                  </a:ext>
                </a:extLst>
              </a:tr>
            </a:tbl>
          </a:graphicData>
        </a:graphic>
      </p:graphicFrame>
      <p:sp>
        <p:nvSpPr>
          <p:cNvPr id="3" name="Oval 2">
            <a:extLst>
              <a:ext uri="{FF2B5EF4-FFF2-40B4-BE49-F238E27FC236}">
                <a16:creationId xmlns:a16="http://schemas.microsoft.com/office/drawing/2014/main" id="{5192DD35-6300-4A35-804B-30E5F3BEA32E}"/>
              </a:ext>
            </a:extLst>
          </p:cNvPr>
          <p:cNvSpPr/>
          <p:nvPr/>
        </p:nvSpPr>
        <p:spPr>
          <a:xfrm>
            <a:off x="4104921" y="2265417"/>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D9A79C18-8B04-49E6-8B7B-540AACA89FC1}"/>
              </a:ext>
            </a:extLst>
          </p:cNvPr>
          <p:cNvSpPr/>
          <p:nvPr/>
        </p:nvSpPr>
        <p:spPr>
          <a:xfrm>
            <a:off x="4482406" y="2263069"/>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5CAD40B-8161-42BA-A0C3-C275B76B8C45}"/>
              </a:ext>
            </a:extLst>
          </p:cNvPr>
          <p:cNvSpPr/>
          <p:nvPr/>
        </p:nvSpPr>
        <p:spPr>
          <a:xfrm>
            <a:off x="4902093" y="2260721"/>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F2FBC6A-8356-49AD-9D7E-DDFA46E4328A}"/>
              </a:ext>
            </a:extLst>
          </p:cNvPr>
          <p:cNvSpPr/>
          <p:nvPr/>
        </p:nvSpPr>
        <p:spPr>
          <a:xfrm>
            <a:off x="5279577" y="2258373"/>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10917E4E-9A23-4F40-8237-F5EDD303267D}"/>
              </a:ext>
            </a:extLst>
          </p:cNvPr>
          <p:cNvSpPr/>
          <p:nvPr/>
        </p:nvSpPr>
        <p:spPr>
          <a:xfrm>
            <a:off x="5671130" y="2270096"/>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4652F6D0-DBDB-4AC6-BDC5-92D85B022F95}"/>
              </a:ext>
            </a:extLst>
          </p:cNvPr>
          <p:cNvSpPr/>
          <p:nvPr/>
        </p:nvSpPr>
        <p:spPr>
          <a:xfrm>
            <a:off x="4116644" y="2642905"/>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97C752A-49A5-4307-B70D-AC24646D31BE}"/>
              </a:ext>
            </a:extLst>
          </p:cNvPr>
          <p:cNvSpPr/>
          <p:nvPr/>
        </p:nvSpPr>
        <p:spPr>
          <a:xfrm>
            <a:off x="4494129" y="2640557"/>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9FF475D8-2AC9-40E5-95E6-F59979F9D833}"/>
              </a:ext>
            </a:extLst>
          </p:cNvPr>
          <p:cNvSpPr/>
          <p:nvPr/>
        </p:nvSpPr>
        <p:spPr>
          <a:xfrm>
            <a:off x="4913816" y="2638209"/>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B18F9FC6-36ED-40B7-A3E2-96F8F0645796}"/>
              </a:ext>
            </a:extLst>
          </p:cNvPr>
          <p:cNvSpPr/>
          <p:nvPr/>
        </p:nvSpPr>
        <p:spPr>
          <a:xfrm>
            <a:off x="5291300" y="2635861"/>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597B6128-1474-4F85-9DFD-17C2B36A63A5}"/>
              </a:ext>
            </a:extLst>
          </p:cNvPr>
          <p:cNvSpPr/>
          <p:nvPr/>
        </p:nvSpPr>
        <p:spPr>
          <a:xfrm>
            <a:off x="5682853" y="2647584"/>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63D71B15-077B-4A11-931C-C1E1144C8141}"/>
              </a:ext>
            </a:extLst>
          </p:cNvPr>
          <p:cNvSpPr/>
          <p:nvPr/>
        </p:nvSpPr>
        <p:spPr>
          <a:xfrm>
            <a:off x="4102574" y="3022725"/>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65E80699-FD64-4DB5-BC7A-931D53B1E151}"/>
              </a:ext>
            </a:extLst>
          </p:cNvPr>
          <p:cNvSpPr/>
          <p:nvPr/>
        </p:nvSpPr>
        <p:spPr>
          <a:xfrm>
            <a:off x="4480059" y="3020377"/>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8F96CD79-4681-4787-9A48-2699A4F43E1F}"/>
              </a:ext>
            </a:extLst>
          </p:cNvPr>
          <p:cNvSpPr/>
          <p:nvPr/>
        </p:nvSpPr>
        <p:spPr>
          <a:xfrm>
            <a:off x="4899746" y="3018029"/>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539B05E8-4FD3-4635-B42D-6CFE4EA2B2FE}"/>
              </a:ext>
            </a:extLst>
          </p:cNvPr>
          <p:cNvSpPr/>
          <p:nvPr/>
        </p:nvSpPr>
        <p:spPr>
          <a:xfrm>
            <a:off x="5277230" y="3015681"/>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19B5030A-68BA-4113-948E-8646DB3B2351}"/>
              </a:ext>
            </a:extLst>
          </p:cNvPr>
          <p:cNvSpPr/>
          <p:nvPr/>
        </p:nvSpPr>
        <p:spPr>
          <a:xfrm>
            <a:off x="5668783" y="3027404"/>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A97821E7-33CD-45AC-94FD-84C127C55077}"/>
              </a:ext>
            </a:extLst>
          </p:cNvPr>
          <p:cNvSpPr/>
          <p:nvPr/>
        </p:nvSpPr>
        <p:spPr>
          <a:xfrm>
            <a:off x="4114297" y="3400213"/>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4AE018A4-9641-4952-98CF-9B7281B0E105}"/>
              </a:ext>
            </a:extLst>
          </p:cNvPr>
          <p:cNvSpPr/>
          <p:nvPr/>
        </p:nvSpPr>
        <p:spPr>
          <a:xfrm>
            <a:off x="4491782" y="3397865"/>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0CE52E8C-A8EC-4BFB-80EE-B66C1DFD661D}"/>
              </a:ext>
            </a:extLst>
          </p:cNvPr>
          <p:cNvSpPr/>
          <p:nvPr/>
        </p:nvSpPr>
        <p:spPr>
          <a:xfrm>
            <a:off x="4911469" y="3395517"/>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C5BFDF09-E22B-4392-AB0F-0B0B840C24DA}"/>
              </a:ext>
            </a:extLst>
          </p:cNvPr>
          <p:cNvSpPr/>
          <p:nvPr/>
        </p:nvSpPr>
        <p:spPr>
          <a:xfrm>
            <a:off x="5288953" y="3393169"/>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C716F820-A2CF-487F-81F3-4C888D524635}"/>
              </a:ext>
            </a:extLst>
          </p:cNvPr>
          <p:cNvSpPr/>
          <p:nvPr/>
        </p:nvSpPr>
        <p:spPr>
          <a:xfrm>
            <a:off x="5680506" y="3404892"/>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71062F9B-5BE5-4976-8E35-FB8A05AB2BDF}"/>
              </a:ext>
            </a:extLst>
          </p:cNvPr>
          <p:cNvSpPr/>
          <p:nvPr/>
        </p:nvSpPr>
        <p:spPr>
          <a:xfrm>
            <a:off x="4126017" y="3791762"/>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460A6BDC-C1FB-490D-9419-7D900C3BD1EB}"/>
              </a:ext>
            </a:extLst>
          </p:cNvPr>
          <p:cNvSpPr/>
          <p:nvPr/>
        </p:nvSpPr>
        <p:spPr>
          <a:xfrm>
            <a:off x="4503502" y="3789414"/>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09817614-9071-4ABA-87EF-A39445868683}"/>
              </a:ext>
            </a:extLst>
          </p:cNvPr>
          <p:cNvSpPr/>
          <p:nvPr/>
        </p:nvSpPr>
        <p:spPr>
          <a:xfrm>
            <a:off x="4923189" y="3787066"/>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F633D039-7B4C-4DD7-97C5-B778BE08DFE5}"/>
              </a:ext>
            </a:extLst>
          </p:cNvPr>
          <p:cNvSpPr/>
          <p:nvPr/>
        </p:nvSpPr>
        <p:spPr>
          <a:xfrm>
            <a:off x="5300673" y="3784718"/>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5" name="Equals 34">
            <a:extLst>
              <a:ext uri="{FF2B5EF4-FFF2-40B4-BE49-F238E27FC236}">
                <a16:creationId xmlns:a16="http://schemas.microsoft.com/office/drawing/2014/main" id="{A2E63102-B477-4173-A81C-350B55C5B51B}"/>
              </a:ext>
            </a:extLst>
          </p:cNvPr>
          <p:cNvSpPr/>
          <p:nvPr/>
        </p:nvSpPr>
        <p:spPr>
          <a:xfrm>
            <a:off x="3362175" y="2972497"/>
            <a:ext cx="602064" cy="422031"/>
          </a:xfrm>
          <a:prstGeom prst="mathEqual">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46173942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5A970-D3FC-4B0F-A9B9-55F8EB30EB8E}"/>
              </a:ext>
            </a:extLst>
          </p:cNvPr>
          <p:cNvSpPr>
            <a:spLocks noGrp="1"/>
          </p:cNvSpPr>
          <p:nvPr>
            <p:ph type="title"/>
          </p:nvPr>
        </p:nvSpPr>
        <p:spPr>
          <a:xfrm>
            <a:off x="838200" y="365125"/>
            <a:ext cx="10515600" cy="618849"/>
          </a:xfrm>
        </p:spPr>
        <p:txBody>
          <a:bodyPr>
            <a:normAutofit fontScale="90000"/>
          </a:bodyPr>
          <a:lstStyle/>
          <a:p>
            <a:pPr algn="ctr"/>
            <a:r>
              <a:rPr lang="en-US" dirty="0"/>
              <a:t>Calculation of Output Dimension</a:t>
            </a:r>
          </a:p>
        </p:txBody>
      </p:sp>
      <p:graphicFrame>
        <p:nvGraphicFramePr>
          <p:cNvPr id="9" name="Table 9">
            <a:extLst>
              <a:ext uri="{FF2B5EF4-FFF2-40B4-BE49-F238E27FC236}">
                <a16:creationId xmlns:a16="http://schemas.microsoft.com/office/drawing/2014/main" id="{EA01B71A-6B5D-40C0-889A-126145B38D68}"/>
              </a:ext>
            </a:extLst>
          </p:cNvPr>
          <p:cNvGraphicFramePr>
            <a:graphicFrameLocks noGrp="1"/>
          </p:cNvGraphicFramePr>
          <p:nvPr>
            <p:ph sz="half" idx="1"/>
          </p:nvPr>
        </p:nvGraphicFramePr>
        <p:xfrm>
          <a:off x="556843" y="1825624"/>
          <a:ext cx="2734991" cy="2676037"/>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gridCol w="390713">
                  <a:extLst>
                    <a:ext uri="{9D8B030D-6E8A-4147-A177-3AD203B41FA5}">
                      <a16:colId xmlns:a16="http://schemas.microsoft.com/office/drawing/2014/main" val="2185225175"/>
                    </a:ext>
                  </a:extLst>
                </a:gridCol>
                <a:gridCol w="390713">
                  <a:extLst>
                    <a:ext uri="{9D8B030D-6E8A-4147-A177-3AD203B41FA5}">
                      <a16:colId xmlns:a16="http://schemas.microsoft.com/office/drawing/2014/main" val="2001228772"/>
                    </a:ext>
                  </a:extLst>
                </a:gridCol>
                <a:gridCol w="390713">
                  <a:extLst>
                    <a:ext uri="{9D8B030D-6E8A-4147-A177-3AD203B41FA5}">
                      <a16:colId xmlns:a16="http://schemas.microsoft.com/office/drawing/2014/main" val="4010749547"/>
                    </a:ext>
                  </a:extLst>
                </a:gridCol>
                <a:gridCol w="390713">
                  <a:extLst>
                    <a:ext uri="{9D8B030D-6E8A-4147-A177-3AD203B41FA5}">
                      <a16:colId xmlns:a16="http://schemas.microsoft.com/office/drawing/2014/main" val="1701568956"/>
                    </a:ext>
                  </a:extLst>
                </a:gridCol>
              </a:tblGrid>
              <a:tr h="382291">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253089178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4686767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2307687"/>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327148248"/>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3807760174"/>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89591463"/>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844451045"/>
                  </a:ext>
                </a:extLst>
              </a:tr>
            </a:tbl>
          </a:graphicData>
        </a:graphic>
      </p:graphicFrame>
      <p:sp>
        <p:nvSpPr>
          <p:cNvPr id="4" name="Content Placeholder 3">
            <a:extLst>
              <a:ext uri="{FF2B5EF4-FFF2-40B4-BE49-F238E27FC236}">
                <a16:creationId xmlns:a16="http://schemas.microsoft.com/office/drawing/2014/main" id="{46FB4FF0-16D1-4449-ADC9-FCA09A730D4C}"/>
              </a:ext>
            </a:extLst>
          </p:cNvPr>
          <p:cNvSpPr>
            <a:spLocks noGrp="1"/>
          </p:cNvSpPr>
          <p:nvPr>
            <p:ph sz="half" idx="2"/>
          </p:nvPr>
        </p:nvSpPr>
        <p:spPr/>
        <p:txBody>
          <a:bodyPr/>
          <a:lstStyle/>
          <a:p>
            <a:r>
              <a:rPr lang="en-US" dirty="0"/>
              <a:t>Let us compute the dimension (W</a:t>
            </a:r>
            <a:r>
              <a:rPr lang="en-US" baseline="-25000" dirty="0"/>
              <a:t>2</a:t>
            </a:r>
            <a:r>
              <a:rPr lang="en-US" dirty="0"/>
              <a:t>, H</a:t>
            </a:r>
            <a:r>
              <a:rPr lang="en-US" baseline="-25000" dirty="0"/>
              <a:t>2</a:t>
            </a:r>
            <a:r>
              <a:rPr lang="en-US" dirty="0"/>
              <a:t>) of the output</a:t>
            </a:r>
          </a:p>
          <a:p>
            <a:endParaRPr lang="en-US" dirty="0"/>
          </a:p>
        </p:txBody>
      </p:sp>
      <p:graphicFrame>
        <p:nvGraphicFramePr>
          <p:cNvPr id="10" name="Table 9">
            <a:extLst>
              <a:ext uri="{FF2B5EF4-FFF2-40B4-BE49-F238E27FC236}">
                <a16:creationId xmlns:a16="http://schemas.microsoft.com/office/drawing/2014/main" id="{7371817D-5CEB-4254-B084-CDFA97547BF1}"/>
              </a:ext>
            </a:extLst>
          </p:cNvPr>
          <p:cNvGraphicFramePr>
            <a:graphicFrameLocks/>
          </p:cNvGraphicFramePr>
          <p:nvPr/>
        </p:nvGraphicFramePr>
        <p:xfrm>
          <a:off x="4034581" y="2207914"/>
          <a:ext cx="1953565" cy="1911455"/>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gridCol w="390713">
                  <a:extLst>
                    <a:ext uri="{9D8B030D-6E8A-4147-A177-3AD203B41FA5}">
                      <a16:colId xmlns:a16="http://schemas.microsoft.com/office/drawing/2014/main" val="2185225175"/>
                    </a:ext>
                  </a:extLst>
                </a:gridCol>
                <a:gridCol w="390713">
                  <a:extLst>
                    <a:ext uri="{9D8B030D-6E8A-4147-A177-3AD203B41FA5}">
                      <a16:colId xmlns:a16="http://schemas.microsoft.com/office/drawing/2014/main" val="2001228772"/>
                    </a:ext>
                  </a:extLst>
                </a:gridCol>
              </a:tblGrid>
              <a:tr h="382291">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2530891781"/>
                  </a:ext>
                </a:extLst>
              </a:tr>
              <a:tr h="382291">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246867671"/>
                  </a:ext>
                </a:extLst>
              </a:tr>
              <a:tr h="382291">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22307687"/>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327148248"/>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3807760174"/>
                  </a:ext>
                </a:extLst>
              </a:tr>
            </a:tbl>
          </a:graphicData>
        </a:graphic>
      </p:graphicFrame>
      <p:graphicFrame>
        <p:nvGraphicFramePr>
          <p:cNvPr id="11" name="Table 10">
            <a:extLst>
              <a:ext uri="{FF2B5EF4-FFF2-40B4-BE49-F238E27FC236}">
                <a16:creationId xmlns:a16="http://schemas.microsoft.com/office/drawing/2014/main" id="{2CF008FC-F4B5-408C-AED6-F56A478D2140}"/>
              </a:ext>
            </a:extLst>
          </p:cNvPr>
          <p:cNvGraphicFramePr>
            <a:graphicFrameLocks/>
          </p:cNvGraphicFramePr>
          <p:nvPr>
            <p:extLst>
              <p:ext uri="{D42A27DB-BD31-4B8C-83A1-F6EECF244321}">
                <p14:modId xmlns:p14="http://schemas.microsoft.com/office/powerpoint/2010/main" val="17897445"/>
              </p:ext>
            </p:extLst>
          </p:nvPr>
        </p:nvGraphicFramePr>
        <p:xfrm>
          <a:off x="2118369" y="3344946"/>
          <a:ext cx="1172139" cy="1146873"/>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tblGrid>
              <a:tr h="382291">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2530891781"/>
                  </a:ext>
                </a:extLst>
              </a:tr>
              <a:tr h="382291">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1246867671"/>
                  </a:ext>
                </a:extLst>
              </a:tr>
              <a:tr h="382291">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extLst>
                  <a:ext uri="{0D108BD9-81ED-4DB2-BD59-A6C34878D82A}">
                    <a16:rowId xmlns:a16="http://schemas.microsoft.com/office/drawing/2014/main" val="122307687"/>
                  </a:ext>
                </a:extLst>
              </a:tr>
            </a:tbl>
          </a:graphicData>
        </a:graphic>
      </p:graphicFrame>
      <p:sp>
        <p:nvSpPr>
          <p:cNvPr id="3" name="Oval 2">
            <a:extLst>
              <a:ext uri="{FF2B5EF4-FFF2-40B4-BE49-F238E27FC236}">
                <a16:creationId xmlns:a16="http://schemas.microsoft.com/office/drawing/2014/main" id="{5192DD35-6300-4A35-804B-30E5F3BEA32E}"/>
              </a:ext>
            </a:extLst>
          </p:cNvPr>
          <p:cNvSpPr/>
          <p:nvPr/>
        </p:nvSpPr>
        <p:spPr>
          <a:xfrm>
            <a:off x="4104921" y="2265417"/>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D9A79C18-8B04-49E6-8B7B-540AACA89FC1}"/>
              </a:ext>
            </a:extLst>
          </p:cNvPr>
          <p:cNvSpPr/>
          <p:nvPr/>
        </p:nvSpPr>
        <p:spPr>
          <a:xfrm>
            <a:off x="4482406" y="2263069"/>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5CAD40B-8161-42BA-A0C3-C275B76B8C45}"/>
              </a:ext>
            </a:extLst>
          </p:cNvPr>
          <p:cNvSpPr/>
          <p:nvPr/>
        </p:nvSpPr>
        <p:spPr>
          <a:xfrm>
            <a:off x="4902093" y="2260721"/>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F2FBC6A-8356-49AD-9D7E-DDFA46E4328A}"/>
              </a:ext>
            </a:extLst>
          </p:cNvPr>
          <p:cNvSpPr/>
          <p:nvPr/>
        </p:nvSpPr>
        <p:spPr>
          <a:xfrm>
            <a:off x="5279577" y="2258373"/>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10917E4E-9A23-4F40-8237-F5EDD303267D}"/>
              </a:ext>
            </a:extLst>
          </p:cNvPr>
          <p:cNvSpPr/>
          <p:nvPr/>
        </p:nvSpPr>
        <p:spPr>
          <a:xfrm>
            <a:off x="5671130" y="2270096"/>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4652F6D0-DBDB-4AC6-BDC5-92D85B022F95}"/>
              </a:ext>
            </a:extLst>
          </p:cNvPr>
          <p:cNvSpPr/>
          <p:nvPr/>
        </p:nvSpPr>
        <p:spPr>
          <a:xfrm>
            <a:off x="4116644" y="2642905"/>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97C752A-49A5-4307-B70D-AC24646D31BE}"/>
              </a:ext>
            </a:extLst>
          </p:cNvPr>
          <p:cNvSpPr/>
          <p:nvPr/>
        </p:nvSpPr>
        <p:spPr>
          <a:xfrm>
            <a:off x="4494129" y="2640557"/>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9FF475D8-2AC9-40E5-95E6-F59979F9D833}"/>
              </a:ext>
            </a:extLst>
          </p:cNvPr>
          <p:cNvSpPr/>
          <p:nvPr/>
        </p:nvSpPr>
        <p:spPr>
          <a:xfrm>
            <a:off x="4913816" y="2638209"/>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B18F9FC6-36ED-40B7-A3E2-96F8F0645796}"/>
              </a:ext>
            </a:extLst>
          </p:cNvPr>
          <p:cNvSpPr/>
          <p:nvPr/>
        </p:nvSpPr>
        <p:spPr>
          <a:xfrm>
            <a:off x="5291300" y="2635861"/>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597B6128-1474-4F85-9DFD-17C2B36A63A5}"/>
              </a:ext>
            </a:extLst>
          </p:cNvPr>
          <p:cNvSpPr/>
          <p:nvPr/>
        </p:nvSpPr>
        <p:spPr>
          <a:xfrm>
            <a:off x="5682853" y="2647584"/>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63D71B15-077B-4A11-931C-C1E1144C8141}"/>
              </a:ext>
            </a:extLst>
          </p:cNvPr>
          <p:cNvSpPr/>
          <p:nvPr/>
        </p:nvSpPr>
        <p:spPr>
          <a:xfrm>
            <a:off x="4102574" y="3022725"/>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65E80699-FD64-4DB5-BC7A-931D53B1E151}"/>
              </a:ext>
            </a:extLst>
          </p:cNvPr>
          <p:cNvSpPr/>
          <p:nvPr/>
        </p:nvSpPr>
        <p:spPr>
          <a:xfrm>
            <a:off x="4480059" y="3020377"/>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8F96CD79-4681-4787-9A48-2699A4F43E1F}"/>
              </a:ext>
            </a:extLst>
          </p:cNvPr>
          <p:cNvSpPr/>
          <p:nvPr/>
        </p:nvSpPr>
        <p:spPr>
          <a:xfrm>
            <a:off x="4899746" y="3018029"/>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539B05E8-4FD3-4635-B42D-6CFE4EA2B2FE}"/>
              </a:ext>
            </a:extLst>
          </p:cNvPr>
          <p:cNvSpPr/>
          <p:nvPr/>
        </p:nvSpPr>
        <p:spPr>
          <a:xfrm>
            <a:off x="5277230" y="3015681"/>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19B5030A-68BA-4113-948E-8646DB3B2351}"/>
              </a:ext>
            </a:extLst>
          </p:cNvPr>
          <p:cNvSpPr/>
          <p:nvPr/>
        </p:nvSpPr>
        <p:spPr>
          <a:xfrm>
            <a:off x="5668783" y="3027404"/>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A97821E7-33CD-45AC-94FD-84C127C55077}"/>
              </a:ext>
            </a:extLst>
          </p:cNvPr>
          <p:cNvSpPr/>
          <p:nvPr/>
        </p:nvSpPr>
        <p:spPr>
          <a:xfrm>
            <a:off x="4114297" y="3400213"/>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4AE018A4-9641-4952-98CF-9B7281B0E105}"/>
              </a:ext>
            </a:extLst>
          </p:cNvPr>
          <p:cNvSpPr/>
          <p:nvPr/>
        </p:nvSpPr>
        <p:spPr>
          <a:xfrm>
            <a:off x="4491782" y="3397865"/>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0CE52E8C-A8EC-4BFB-80EE-B66C1DFD661D}"/>
              </a:ext>
            </a:extLst>
          </p:cNvPr>
          <p:cNvSpPr/>
          <p:nvPr/>
        </p:nvSpPr>
        <p:spPr>
          <a:xfrm>
            <a:off x="4911469" y="3395517"/>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C5BFDF09-E22B-4392-AB0F-0B0B840C24DA}"/>
              </a:ext>
            </a:extLst>
          </p:cNvPr>
          <p:cNvSpPr/>
          <p:nvPr/>
        </p:nvSpPr>
        <p:spPr>
          <a:xfrm>
            <a:off x="5288953" y="3393169"/>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C716F820-A2CF-487F-81F3-4C888D524635}"/>
              </a:ext>
            </a:extLst>
          </p:cNvPr>
          <p:cNvSpPr/>
          <p:nvPr/>
        </p:nvSpPr>
        <p:spPr>
          <a:xfrm>
            <a:off x="5680506" y="3404892"/>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71062F9B-5BE5-4976-8E35-FB8A05AB2BDF}"/>
              </a:ext>
            </a:extLst>
          </p:cNvPr>
          <p:cNvSpPr/>
          <p:nvPr/>
        </p:nvSpPr>
        <p:spPr>
          <a:xfrm>
            <a:off x="4126017" y="3791762"/>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460A6BDC-C1FB-490D-9419-7D900C3BD1EB}"/>
              </a:ext>
            </a:extLst>
          </p:cNvPr>
          <p:cNvSpPr/>
          <p:nvPr/>
        </p:nvSpPr>
        <p:spPr>
          <a:xfrm>
            <a:off x="4503502" y="3789414"/>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09817614-9071-4ABA-87EF-A39445868683}"/>
              </a:ext>
            </a:extLst>
          </p:cNvPr>
          <p:cNvSpPr/>
          <p:nvPr/>
        </p:nvSpPr>
        <p:spPr>
          <a:xfrm>
            <a:off x="4923189" y="3787066"/>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F633D039-7B4C-4DD7-97C5-B778BE08DFE5}"/>
              </a:ext>
            </a:extLst>
          </p:cNvPr>
          <p:cNvSpPr/>
          <p:nvPr/>
        </p:nvSpPr>
        <p:spPr>
          <a:xfrm>
            <a:off x="5300673" y="3784718"/>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30CF740D-5294-4C96-A7EC-0DF41A9A6471}"/>
              </a:ext>
            </a:extLst>
          </p:cNvPr>
          <p:cNvSpPr/>
          <p:nvPr/>
        </p:nvSpPr>
        <p:spPr>
          <a:xfrm>
            <a:off x="5678156" y="3796439"/>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6" name="Equals 35">
            <a:extLst>
              <a:ext uri="{FF2B5EF4-FFF2-40B4-BE49-F238E27FC236}">
                <a16:creationId xmlns:a16="http://schemas.microsoft.com/office/drawing/2014/main" id="{7C1D1D5B-0650-4A42-9886-23202B05D7BD}"/>
              </a:ext>
            </a:extLst>
          </p:cNvPr>
          <p:cNvSpPr/>
          <p:nvPr/>
        </p:nvSpPr>
        <p:spPr>
          <a:xfrm>
            <a:off x="3362175" y="2972497"/>
            <a:ext cx="602064" cy="422031"/>
          </a:xfrm>
          <a:prstGeom prst="mathEqual">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5575840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5A970-D3FC-4B0F-A9B9-55F8EB30EB8E}"/>
              </a:ext>
            </a:extLst>
          </p:cNvPr>
          <p:cNvSpPr>
            <a:spLocks noGrp="1"/>
          </p:cNvSpPr>
          <p:nvPr>
            <p:ph type="title"/>
          </p:nvPr>
        </p:nvSpPr>
        <p:spPr>
          <a:xfrm>
            <a:off x="838200" y="365126"/>
            <a:ext cx="10515600" cy="589032"/>
          </a:xfrm>
        </p:spPr>
        <p:txBody>
          <a:bodyPr>
            <a:normAutofit fontScale="90000"/>
          </a:bodyPr>
          <a:lstStyle/>
          <a:p>
            <a:pPr algn="ctr"/>
            <a:r>
              <a:rPr lang="en-US" dirty="0"/>
              <a:t>Calculation of Output Dimension</a:t>
            </a:r>
          </a:p>
        </p:txBody>
      </p:sp>
      <p:graphicFrame>
        <p:nvGraphicFramePr>
          <p:cNvPr id="9" name="Table 9">
            <a:extLst>
              <a:ext uri="{FF2B5EF4-FFF2-40B4-BE49-F238E27FC236}">
                <a16:creationId xmlns:a16="http://schemas.microsoft.com/office/drawing/2014/main" id="{EA01B71A-6B5D-40C0-889A-126145B38D68}"/>
              </a:ext>
            </a:extLst>
          </p:cNvPr>
          <p:cNvGraphicFramePr>
            <a:graphicFrameLocks noGrp="1"/>
          </p:cNvGraphicFramePr>
          <p:nvPr>
            <p:ph sz="half" idx="1"/>
          </p:nvPr>
        </p:nvGraphicFramePr>
        <p:xfrm>
          <a:off x="556843" y="1825624"/>
          <a:ext cx="2734991" cy="2676037"/>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gridCol w="390713">
                  <a:extLst>
                    <a:ext uri="{9D8B030D-6E8A-4147-A177-3AD203B41FA5}">
                      <a16:colId xmlns:a16="http://schemas.microsoft.com/office/drawing/2014/main" val="2185225175"/>
                    </a:ext>
                  </a:extLst>
                </a:gridCol>
                <a:gridCol w="390713">
                  <a:extLst>
                    <a:ext uri="{9D8B030D-6E8A-4147-A177-3AD203B41FA5}">
                      <a16:colId xmlns:a16="http://schemas.microsoft.com/office/drawing/2014/main" val="2001228772"/>
                    </a:ext>
                  </a:extLst>
                </a:gridCol>
                <a:gridCol w="390713">
                  <a:extLst>
                    <a:ext uri="{9D8B030D-6E8A-4147-A177-3AD203B41FA5}">
                      <a16:colId xmlns:a16="http://schemas.microsoft.com/office/drawing/2014/main" val="4010749547"/>
                    </a:ext>
                  </a:extLst>
                </a:gridCol>
                <a:gridCol w="390713">
                  <a:extLst>
                    <a:ext uri="{9D8B030D-6E8A-4147-A177-3AD203B41FA5}">
                      <a16:colId xmlns:a16="http://schemas.microsoft.com/office/drawing/2014/main" val="1701568956"/>
                    </a:ext>
                  </a:extLst>
                </a:gridCol>
              </a:tblGrid>
              <a:tr h="382291">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253089178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4686767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2307687"/>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327148248"/>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3807760174"/>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89591463"/>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844451045"/>
                  </a:ext>
                </a:extLst>
              </a:tr>
            </a:tbl>
          </a:graphicData>
        </a:graphic>
      </p:graphicFrame>
      <p:sp>
        <p:nvSpPr>
          <p:cNvPr id="4" name="Content Placeholder 3">
            <a:extLst>
              <a:ext uri="{FF2B5EF4-FFF2-40B4-BE49-F238E27FC236}">
                <a16:creationId xmlns:a16="http://schemas.microsoft.com/office/drawing/2014/main" id="{46FB4FF0-16D1-4449-ADC9-FCA09A730D4C}"/>
              </a:ext>
            </a:extLst>
          </p:cNvPr>
          <p:cNvSpPr>
            <a:spLocks noGrp="1"/>
          </p:cNvSpPr>
          <p:nvPr>
            <p:ph sz="half" idx="2"/>
          </p:nvPr>
        </p:nvSpPr>
        <p:spPr/>
        <p:txBody>
          <a:bodyPr/>
          <a:lstStyle/>
          <a:p>
            <a:r>
              <a:rPr lang="en-US" dirty="0"/>
              <a:t>Let us compute the dimension (W</a:t>
            </a:r>
            <a:r>
              <a:rPr lang="en-US" baseline="-25000" dirty="0"/>
              <a:t>2</a:t>
            </a:r>
            <a:r>
              <a:rPr lang="en-US" dirty="0"/>
              <a:t>, H</a:t>
            </a:r>
            <a:r>
              <a:rPr lang="en-US" baseline="-25000" dirty="0"/>
              <a:t>2</a:t>
            </a:r>
            <a:r>
              <a:rPr lang="en-US" dirty="0"/>
              <a:t>) of the output</a:t>
            </a:r>
          </a:p>
          <a:p>
            <a:r>
              <a:rPr lang="en-US" dirty="0"/>
              <a:t>Notice that we can't place the kernel at the corners as it will cross the input boundary</a:t>
            </a:r>
          </a:p>
        </p:txBody>
      </p:sp>
      <p:graphicFrame>
        <p:nvGraphicFramePr>
          <p:cNvPr id="10" name="Table 9">
            <a:extLst>
              <a:ext uri="{FF2B5EF4-FFF2-40B4-BE49-F238E27FC236}">
                <a16:creationId xmlns:a16="http://schemas.microsoft.com/office/drawing/2014/main" id="{7371817D-5CEB-4254-B084-CDFA97547BF1}"/>
              </a:ext>
            </a:extLst>
          </p:cNvPr>
          <p:cNvGraphicFramePr>
            <a:graphicFrameLocks/>
          </p:cNvGraphicFramePr>
          <p:nvPr/>
        </p:nvGraphicFramePr>
        <p:xfrm>
          <a:off x="4034581" y="2207914"/>
          <a:ext cx="1953565" cy="1911455"/>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gridCol w="390713">
                  <a:extLst>
                    <a:ext uri="{9D8B030D-6E8A-4147-A177-3AD203B41FA5}">
                      <a16:colId xmlns:a16="http://schemas.microsoft.com/office/drawing/2014/main" val="2185225175"/>
                    </a:ext>
                  </a:extLst>
                </a:gridCol>
                <a:gridCol w="390713">
                  <a:extLst>
                    <a:ext uri="{9D8B030D-6E8A-4147-A177-3AD203B41FA5}">
                      <a16:colId xmlns:a16="http://schemas.microsoft.com/office/drawing/2014/main" val="2001228772"/>
                    </a:ext>
                  </a:extLst>
                </a:gridCol>
              </a:tblGrid>
              <a:tr h="382291">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2530891781"/>
                  </a:ext>
                </a:extLst>
              </a:tr>
              <a:tr h="382291">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246867671"/>
                  </a:ext>
                </a:extLst>
              </a:tr>
              <a:tr h="382291">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22307687"/>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327148248"/>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3807760174"/>
                  </a:ext>
                </a:extLst>
              </a:tr>
            </a:tbl>
          </a:graphicData>
        </a:graphic>
      </p:graphicFrame>
      <p:graphicFrame>
        <p:nvGraphicFramePr>
          <p:cNvPr id="11" name="Table 10">
            <a:extLst>
              <a:ext uri="{FF2B5EF4-FFF2-40B4-BE49-F238E27FC236}">
                <a16:creationId xmlns:a16="http://schemas.microsoft.com/office/drawing/2014/main" id="{2CF008FC-F4B5-408C-AED6-F56A478D2140}"/>
              </a:ext>
            </a:extLst>
          </p:cNvPr>
          <p:cNvGraphicFramePr>
            <a:graphicFrameLocks/>
          </p:cNvGraphicFramePr>
          <p:nvPr>
            <p:extLst>
              <p:ext uri="{D42A27DB-BD31-4B8C-83A1-F6EECF244321}">
                <p14:modId xmlns:p14="http://schemas.microsoft.com/office/powerpoint/2010/main" val="4029208273"/>
              </p:ext>
            </p:extLst>
          </p:nvPr>
        </p:nvGraphicFramePr>
        <p:xfrm>
          <a:off x="2512269" y="3724774"/>
          <a:ext cx="1172139" cy="1146873"/>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tblGrid>
              <a:tr h="382291">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extLst>
                  <a:ext uri="{0D108BD9-81ED-4DB2-BD59-A6C34878D82A}">
                    <a16:rowId xmlns:a16="http://schemas.microsoft.com/office/drawing/2014/main" val="2530891781"/>
                  </a:ext>
                </a:extLst>
              </a:tr>
              <a:tr h="382291">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extLst>
                  <a:ext uri="{0D108BD9-81ED-4DB2-BD59-A6C34878D82A}">
                    <a16:rowId xmlns:a16="http://schemas.microsoft.com/office/drawing/2014/main" val="1246867671"/>
                  </a:ext>
                </a:extLst>
              </a:tr>
              <a:tr h="382291">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extLst>
                  <a:ext uri="{0D108BD9-81ED-4DB2-BD59-A6C34878D82A}">
                    <a16:rowId xmlns:a16="http://schemas.microsoft.com/office/drawing/2014/main" val="122307687"/>
                  </a:ext>
                </a:extLst>
              </a:tr>
            </a:tbl>
          </a:graphicData>
        </a:graphic>
      </p:graphicFrame>
      <p:sp>
        <p:nvSpPr>
          <p:cNvPr id="3" name="Oval 2">
            <a:extLst>
              <a:ext uri="{FF2B5EF4-FFF2-40B4-BE49-F238E27FC236}">
                <a16:creationId xmlns:a16="http://schemas.microsoft.com/office/drawing/2014/main" id="{5192DD35-6300-4A35-804B-30E5F3BEA32E}"/>
              </a:ext>
            </a:extLst>
          </p:cNvPr>
          <p:cNvSpPr/>
          <p:nvPr/>
        </p:nvSpPr>
        <p:spPr>
          <a:xfrm>
            <a:off x="4104921" y="2265417"/>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D9A79C18-8B04-49E6-8B7B-540AACA89FC1}"/>
              </a:ext>
            </a:extLst>
          </p:cNvPr>
          <p:cNvSpPr/>
          <p:nvPr/>
        </p:nvSpPr>
        <p:spPr>
          <a:xfrm>
            <a:off x="4482406" y="2263069"/>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5CAD40B-8161-42BA-A0C3-C275B76B8C45}"/>
              </a:ext>
            </a:extLst>
          </p:cNvPr>
          <p:cNvSpPr/>
          <p:nvPr/>
        </p:nvSpPr>
        <p:spPr>
          <a:xfrm>
            <a:off x="4902093" y="2260721"/>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F2FBC6A-8356-49AD-9D7E-DDFA46E4328A}"/>
              </a:ext>
            </a:extLst>
          </p:cNvPr>
          <p:cNvSpPr/>
          <p:nvPr/>
        </p:nvSpPr>
        <p:spPr>
          <a:xfrm>
            <a:off x="5279577" y="2258373"/>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10917E4E-9A23-4F40-8237-F5EDD303267D}"/>
              </a:ext>
            </a:extLst>
          </p:cNvPr>
          <p:cNvSpPr/>
          <p:nvPr/>
        </p:nvSpPr>
        <p:spPr>
          <a:xfrm>
            <a:off x="5671130" y="2270096"/>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4652F6D0-DBDB-4AC6-BDC5-92D85B022F95}"/>
              </a:ext>
            </a:extLst>
          </p:cNvPr>
          <p:cNvSpPr/>
          <p:nvPr/>
        </p:nvSpPr>
        <p:spPr>
          <a:xfrm>
            <a:off x="4116644" y="2642905"/>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97C752A-49A5-4307-B70D-AC24646D31BE}"/>
              </a:ext>
            </a:extLst>
          </p:cNvPr>
          <p:cNvSpPr/>
          <p:nvPr/>
        </p:nvSpPr>
        <p:spPr>
          <a:xfrm>
            <a:off x="4494129" y="2640557"/>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9FF475D8-2AC9-40E5-95E6-F59979F9D833}"/>
              </a:ext>
            </a:extLst>
          </p:cNvPr>
          <p:cNvSpPr/>
          <p:nvPr/>
        </p:nvSpPr>
        <p:spPr>
          <a:xfrm>
            <a:off x="4913816" y="2638209"/>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B18F9FC6-36ED-40B7-A3E2-96F8F0645796}"/>
              </a:ext>
            </a:extLst>
          </p:cNvPr>
          <p:cNvSpPr/>
          <p:nvPr/>
        </p:nvSpPr>
        <p:spPr>
          <a:xfrm>
            <a:off x="5291300" y="2635861"/>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597B6128-1474-4F85-9DFD-17C2B36A63A5}"/>
              </a:ext>
            </a:extLst>
          </p:cNvPr>
          <p:cNvSpPr/>
          <p:nvPr/>
        </p:nvSpPr>
        <p:spPr>
          <a:xfrm>
            <a:off x="5682853" y="2647584"/>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63D71B15-077B-4A11-931C-C1E1144C8141}"/>
              </a:ext>
            </a:extLst>
          </p:cNvPr>
          <p:cNvSpPr/>
          <p:nvPr/>
        </p:nvSpPr>
        <p:spPr>
          <a:xfrm>
            <a:off x="4102574" y="3022725"/>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65E80699-FD64-4DB5-BC7A-931D53B1E151}"/>
              </a:ext>
            </a:extLst>
          </p:cNvPr>
          <p:cNvSpPr/>
          <p:nvPr/>
        </p:nvSpPr>
        <p:spPr>
          <a:xfrm>
            <a:off x="4480059" y="3020377"/>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8F96CD79-4681-4787-9A48-2699A4F43E1F}"/>
              </a:ext>
            </a:extLst>
          </p:cNvPr>
          <p:cNvSpPr/>
          <p:nvPr/>
        </p:nvSpPr>
        <p:spPr>
          <a:xfrm>
            <a:off x="4899746" y="3018029"/>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539B05E8-4FD3-4635-B42D-6CFE4EA2B2FE}"/>
              </a:ext>
            </a:extLst>
          </p:cNvPr>
          <p:cNvSpPr/>
          <p:nvPr/>
        </p:nvSpPr>
        <p:spPr>
          <a:xfrm>
            <a:off x="5277230" y="3015681"/>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19B5030A-68BA-4113-948E-8646DB3B2351}"/>
              </a:ext>
            </a:extLst>
          </p:cNvPr>
          <p:cNvSpPr/>
          <p:nvPr/>
        </p:nvSpPr>
        <p:spPr>
          <a:xfrm>
            <a:off x="5668783" y="3027404"/>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A97821E7-33CD-45AC-94FD-84C127C55077}"/>
              </a:ext>
            </a:extLst>
          </p:cNvPr>
          <p:cNvSpPr/>
          <p:nvPr/>
        </p:nvSpPr>
        <p:spPr>
          <a:xfrm>
            <a:off x="4114297" y="3400213"/>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4AE018A4-9641-4952-98CF-9B7281B0E105}"/>
              </a:ext>
            </a:extLst>
          </p:cNvPr>
          <p:cNvSpPr/>
          <p:nvPr/>
        </p:nvSpPr>
        <p:spPr>
          <a:xfrm>
            <a:off x="4491782" y="3397865"/>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0CE52E8C-A8EC-4BFB-80EE-B66C1DFD661D}"/>
              </a:ext>
            </a:extLst>
          </p:cNvPr>
          <p:cNvSpPr/>
          <p:nvPr/>
        </p:nvSpPr>
        <p:spPr>
          <a:xfrm>
            <a:off x="4911469" y="3395517"/>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C5BFDF09-E22B-4392-AB0F-0B0B840C24DA}"/>
              </a:ext>
            </a:extLst>
          </p:cNvPr>
          <p:cNvSpPr/>
          <p:nvPr/>
        </p:nvSpPr>
        <p:spPr>
          <a:xfrm>
            <a:off x="5288953" y="3393169"/>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C716F820-A2CF-487F-81F3-4C888D524635}"/>
              </a:ext>
            </a:extLst>
          </p:cNvPr>
          <p:cNvSpPr/>
          <p:nvPr/>
        </p:nvSpPr>
        <p:spPr>
          <a:xfrm>
            <a:off x="5680506" y="3404892"/>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71062F9B-5BE5-4976-8E35-FB8A05AB2BDF}"/>
              </a:ext>
            </a:extLst>
          </p:cNvPr>
          <p:cNvSpPr/>
          <p:nvPr/>
        </p:nvSpPr>
        <p:spPr>
          <a:xfrm>
            <a:off x="4126017" y="3791762"/>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460A6BDC-C1FB-490D-9419-7D900C3BD1EB}"/>
              </a:ext>
            </a:extLst>
          </p:cNvPr>
          <p:cNvSpPr/>
          <p:nvPr/>
        </p:nvSpPr>
        <p:spPr>
          <a:xfrm>
            <a:off x="4503502" y="3789414"/>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09817614-9071-4ABA-87EF-A39445868683}"/>
              </a:ext>
            </a:extLst>
          </p:cNvPr>
          <p:cNvSpPr/>
          <p:nvPr/>
        </p:nvSpPr>
        <p:spPr>
          <a:xfrm>
            <a:off x="4923189" y="3787066"/>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F633D039-7B4C-4DD7-97C5-B778BE08DFE5}"/>
              </a:ext>
            </a:extLst>
          </p:cNvPr>
          <p:cNvSpPr/>
          <p:nvPr/>
        </p:nvSpPr>
        <p:spPr>
          <a:xfrm>
            <a:off x="5300673" y="3784718"/>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30CF740D-5294-4C96-A7EC-0DF41A9A6471}"/>
              </a:ext>
            </a:extLst>
          </p:cNvPr>
          <p:cNvSpPr/>
          <p:nvPr/>
        </p:nvSpPr>
        <p:spPr>
          <a:xfrm>
            <a:off x="5678156" y="3796439"/>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6" name="Equals 35">
            <a:extLst>
              <a:ext uri="{FF2B5EF4-FFF2-40B4-BE49-F238E27FC236}">
                <a16:creationId xmlns:a16="http://schemas.microsoft.com/office/drawing/2014/main" id="{6738576F-0425-44EA-BB7C-55C33313FC9B}"/>
              </a:ext>
            </a:extLst>
          </p:cNvPr>
          <p:cNvSpPr/>
          <p:nvPr/>
        </p:nvSpPr>
        <p:spPr>
          <a:xfrm>
            <a:off x="3362175" y="2972497"/>
            <a:ext cx="602064" cy="422031"/>
          </a:xfrm>
          <a:prstGeom prst="mathEqual">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5309738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5A970-D3FC-4B0F-A9B9-55F8EB30EB8E}"/>
              </a:ext>
            </a:extLst>
          </p:cNvPr>
          <p:cNvSpPr>
            <a:spLocks noGrp="1"/>
          </p:cNvSpPr>
          <p:nvPr>
            <p:ph type="title"/>
          </p:nvPr>
        </p:nvSpPr>
        <p:spPr/>
        <p:txBody>
          <a:bodyPr/>
          <a:lstStyle/>
          <a:p>
            <a:pPr algn="ctr"/>
            <a:r>
              <a:rPr lang="en-US" dirty="0"/>
              <a:t>Calculation of Output Dimension</a:t>
            </a:r>
          </a:p>
        </p:txBody>
      </p:sp>
      <p:graphicFrame>
        <p:nvGraphicFramePr>
          <p:cNvPr id="9" name="Table 9">
            <a:extLst>
              <a:ext uri="{FF2B5EF4-FFF2-40B4-BE49-F238E27FC236}">
                <a16:creationId xmlns:a16="http://schemas.microsoft.com/office/drawing/2014/main" id="{EA01B71A-6B5D-40C0-889A-126145B38D68}"/>
              </a:ext>
            </a:extLst>
          </p:cNvPr>
          <p:cNvGraphicFramePr>
            <a:graphicFrameLocks noGrp="1"/>
          </p:cNvGraphicFramePr>
          <p:nvPr>
            <p:ph sz="half" idx="1"/>
            <p:extLst>
              <p:ext uri="{D42A27DB-BD31-4B8C-83A1-F6EECF244321}">
                <p14:modId xmlns:p14="http://schemas.microsoft.com/office/powerpoint/2010/main" val="597269632"/>
              </p:ext>
            </p:extLst>
          </p:nvPr>
        </p:nvGraphicFramePr>
        <p:xfrm>
          <a:off x="556843" y="1825624"/>
          <a:ext cx="2734991" cy="2676037"/>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gridCol w="390713">
                  <a:extLst>
                    <a:ext uri="{9D8B030D-6E8A-4147-A177-3AD203B41FA5}">
                      <a16:colId xmlns:a16="http://schemas.microsoft.com/office/drawing/2014/main" val="2185225175"/>
                    </a:ext>
                  </a:extLst>
                </a:gridCol>
                <a:gridCol w="390713">
                  <a:extLst>
                    <a:ext uri="{9D8B030D-6E8A-4147-A177-3AD203B41FA5}">
                      <a16:colId xmlns:a16="http://schemas.microsoft.com/office/drawing/2014/main" val="2001228772"/>
                    </a:ext>
                  </a:extLst>
                </a:gridCol>
                <a:gridCol w="390713">
                  <a:extLst>
                    <a:ext uri="{9D8B030D-6E8A-4147-A177-3AD203B41FA5}">
                      <a16:colId xmlns:a16="http://schemas.microsoft.com/office/drawing/2014/main" val="4010749547"/>
                    </a:ext>
                  </a:extLst>
                </a:gridCol>
                <a:gridCol w="390713">
                  <a:extLst>
                    <a:ext uri="{9D8B030D-6E8A-4147-A177-3AD203B41FA5}">
                      <a16:colId xmlns:a16="http://schemas.microsoft.com/office/drawing/2014/main" val="1701568956"/>
                    </a:ext>
                  </a:extLst>
                </a:gridCol>
              </a:tblGrid>
              <a:tr h="382291">
                <a:tc>
                  <a:txBody>
                    <a:bodyPr/>
                    <a:lstStyle/>
                    <a:p>
                      <a:pPr algn="ctr"/>
                      <a:endParaRPr lang="en-US" dirty="0"/>
                    </a:p>
                  </a:txBody>
                  <a:tcPr anchor="ctr">
                    <a:solidFill>
                      <a:schemeClr val="bg1">
                        <a:lumMod val="65000"/>
                      </a:schemeClr>
                    </a:solidFill>
                  </a:tcPr>
                </a:tc>
                <a:tc>
                  <a:txBody>
                    <a:bodyPr/>
                    <a:lstStyle/>
                    <a:p>
                      <a:pPr algn="ctr"/>
                      <a:endParaRPr lang="en-US" dirty="0"/>
                    </a:p>
                  </a:txBody>
                  <a:tcPr anchor="ctr">
                    <a:solidFill>
                      <a:schemeClr val="bg1">
                        <a:lumMod val="65000"/>
                      </a:schemeClr>
                    </a:solidFill>
                  </a:tcPr>
                </a:tc>
                <a:tc>
                  <a:txBody>
                    <a:bodyPr/>
                    <a:lstStyle/>
                    <a:p>
                      <a:pPr algn="ctr"/>
                      <a:endParaRPr lang="en-US" dirty="0"/>
                    </a:p>
                  </a:txBody>
                  <a:tcPr anchor="ctr">
                    <a:solidFill>
                      <a:schemeClr val="bg1">
                        <a:lumMod val="65000"/>
                      </a:schemeClr>
                    </a:solidFill>
                  </a:tcPr>
                </a:tc>
                <a:tc>
                  <a:txBody>
                    <a:bodyPr/>
                    <a:lstStyle/>
                    <a:p>
                      <a:pPr algn="ctr"/>
                      <a:endParaRPr lang="en-US" dirty="0"/>
                    </a:p>
                  </a:txBody>
                  <a:tcPr anchor="ctr">
                    <a:solidFill>
                      <a:schemeClr val="bg1">
                        <a:lumMod val="65000"/>
                      </a:schemeClr>
                    </a:solidFill>
                  </a:tcPr>
                </a:tc>
                <a:tc>
                  <a:txBody>
                    <a:bodyPr/>
                    <a:lstStyle/>
                    <a:p>
                      <a:pPr algn="ctr"/>
                      <a:endParaRPr lang="en-US" dirty="0"/>
                    </a:p>
                  </a:txBody>
                  <a:tcPr anchor="ctr">
                    <a:solidFill>
                      <a:schemeClr val="bg1">
                        <a:lumMod val="65000"/>
                      </a:schemeClr>
                    </a:solidFill>
                  </a:tcPr>
                </a:tc>
                <a:tc>
                  <a:txBody>
                    <a:bodyPr/>
                    <a:lstStyle/>
                    <a:p>
                      <a:pPr algn="ctr"/>
                      <a:endParaRPr lang="en-US" dirty="0"/>
                    </a:p>
                  </a:txBody>
                  <a:tcPr anchor="ctr">
                    <a:solidFill>
                      <a:schemeClr val="bg1">
                        <a:lumMod val="65000"/>
                      </a:schemeClr>
                    </a:solidFill>
                  </a:tcPr>
                </a:tc>
                <a:tc>
                  <a:txBody>
                    <a:bodyPr/>
                    <a:lstStyle/>
                    <a:p>
                      <a:pPr algn="ctr"/>
                      <a:endParaRPr lang="en-US" dirty="0"/>
                    </a:p>
                  </a:txBody>
                  <a:tcPr anchor="ctr">
                    <a:solidFill>
                      <a:schemeClr val="bg1">
                        <a:lumMod val="65000"/>
                      </a:schemeClr>
                    </a:solidFill>
                  </a:tcPr>
                </a:tc>
                <a:extLst>
                  <a:ext uri="{0D108BD9-81ED-4DB2-BD59-A6C34878D82A}">
                    <a16:rowId xmlns:a16="http://schemas.microsoft.com/office/drawing/2014/main" val="2530891781"/>
                  </a:ext>
                </a:extLst>
              </a:tr>
              <a:tr h="382291">
                <a:tc>
                  <a:txBody>
                    <a:bodyPr/>
                    <a:lstStyle/>
                    <a:p>
                      <a:pPr algn="ctr"/>
                      <a:endParaRPr lang="en-US"/>
                    </a:p>
                  </a:txBody>
                  <a:tcPr anchor="ctr">
                    <a:solidFill>
                      <a:schemeClr val="bg1">
                        <a:lumMod val="65000"/>
                      </a:schemeClr>
                    </a:solidFill>
                  </a:tcP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solidFill>
                      <a:schemeClr val="bg1">
                        <a:lumMod val="65000"/>
                      </a:schemeClr>
                    </a:solidFill>
                  </a:tcPr>
                </a:tc>
                <a:extLst>
                  <a:ext uri="{0D108BD9-81ED-4DB2-BD59-A6C34878D82A}">
                    <a16:rowId xmlns:a16="http://schemas.microsoft.com/office/drawing/2014/main" val="1246867671"/>
                  </a:ext>
                </a:extLst>
              </a:tr>
              <a:tr h="382291">
                <a:tc>
                  <a:txBody>
                    <a:bodyPr/>
                    <a:lstStyle/>
                    <a:p>
                      <a:pPr algn="ctr"/>
                      <a:endParaRPr lang="en-US" dirty="0"/>
                    </a:p>
                  </a:txBody>
                  <a:tcPr anchor="ctr">
                    <a:solidFill>
                      <a:schemeClr val="bg1">
                        <a:lumMod val="65000"/>
                      </a:schemeClr>
                    </a:solidFill>
                  </a:tcP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solidFill>
                      <a:schemeClr val="bg1">
                        <a:lumMod val="65000"/>
                      </a:schemeClr>
                    </a:solidFill>
                  </a:tcPr>
                </a:tc>
                <a:extLst>
                  <a:ext uri="{0D108BD9-81ED-4DB2-BD59-A6C34878D82A}">
                    <a16:rowId xmlns:a16="http://schemas.microsoft.com/office/drawing/2014/main" val="122307687"/>
                  </a:ext>
                </a:extLst>
              </a:tr>
              <a:tr h="382291">
                <a:tc>
                  <a:txBody>
                    <a:bodyPr/>
                    <a:lstStyle/>
                    <a:p>
                      <a:pPr algn="ctr"/>
                      <a:endParaRPr lang="en-US" dirty="0"/>
                    </a:p>
                  </a:txBody>
                  <a:tcPr anchor="ctr">
                    <a:solidFill>
                      <a:schemeClr val="bg1">
                        <a:lumMod val="65000"/>
                      </a:schemeClr>
                    </a:solidFill>
                  </a:tcP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solidFill>
                      <a:schemeClr val="bg1">
                        <a:lumMod val="65000"/>
                      </a:schemeClr>
                    </a:solidFill>
                  </a:tcPr>
                </a:tc>
                <a:extLst>
                  <a:ext uri="{0D108BD9-81ED-4DB2-BD59-A6C34878D82A}">
                    <a16:rowId xmlns:a16="http://schemas.microsoft.com/office/drawing/2014/main" val="327148248"/>
                  </a:ext>
                </a:extLst>
              </a:tr>
              <a:tr h="382291">
                <a:tc>
                  <a:txBody>
                    <a:bodyPr/>
                    <a:lstStyle/>
                    <a:p>
                      <a:pPr algn="ctr"/>
                      <a:endParaRPr lang="en-US" dirty="0"/>
                    </a:p>
                  </a:txBody>
                  <a:tcPr anchor="ctr">
                    <a:solidFill>
                      <a:schemeClr val="bg1">
                        <a:lumMod val="65000"/>
                      </a:schemeClr>
                    </a:solidFill>
                  </a:tcP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solidFill>
                      <a:schemeClr val="bg1">
                        <a:lumMod val="65000"/>
                      </a:schemeClr>
                    </a:solidFill>
                  </a:tcPr>
                </a:tc>
                <a:extLst>
                  <a:ext uri="{0D108BD9-81ED-4DB2-BD59-A6C34878D82A}">
                    <a16:rowId xmlns:a16="http://schemas.microsoft.com/office/drawing/2014/main" val="3807760174"/>
                  </a:ext>
                </a:extLst>
              </a:tr>
              <a:tr h="382291">
                <a:tc>
                  <a:txBody>
                    <a:bodyPr/>
                    <a:lstStyle/>
                    <a:p>
                      <a:pPr algn="ctr"/>
                      <a:endParaRPr lang="en-US" dirty="0"/>
                    </a:p>
                  </a:txBody>
                  <a:tcPr anchor="ctr">
                    <a:solidFill>
                      <a:schemeClr val="bg1">
                        <a:lumMod val="65000"/>
                      </a:schemeClr>
                    </a:solidFill>
                  </a:tcP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solidFill>
                      <a:schemeClr val="bg1">
                        <a:lumMod val="65000"/>
                      </a:schemeClr>
                    </a:solidFill>
                  </a:tcPr>
                </a:tc>
                <a:extLst>
                  <a:ext uri="{0D108BD9-81ED-4DB2-BD59-A6C34878D82A}">
                    <a16:rowId xmlns:a16="http://schemas.microsoft.com/office/drawing/2014/main" val="189591463"/>
                  </a:ext>
                </a:extLst>
              </a:tr>
              <a:tr h="382291">
                <a:tc>
                  <a:txBody>
                    <a:bodyPr/>
                    <a:lstStyle/>
                    <a:p>
                      <a:pPr algn="ctr"/>
                      <a:endParaRPr lang="en-US" dirty="0"/>
                    </a:p>
                  </a:txBody>
                  <a:tcPr anchor="ctr">
                    <a:solidFill>
                      <a:schemeClr val="bg1">
                        <a:lumMod val="65000"/>
                      </a:schemeClr>
                    </a:solidFill>
                  </a:tcPr>
                </a:tc>
                <a:tc>
                  <a:txBody>
                    <a:bodyPr/>
                    <a:lstStyle/>
                    <a:p>
                      <a:pPr algn="ctr"/>
                      <a:endParaRPr lang="en-US" dirty="0"/>
                    </a:p>
                  </a:txBody>
                  <a:tcPr anchor="ctr">
                    <a:solidFill>
                      <a:schemeClr val="bg1">
                        <a:lumMod val="65000"/>
                      </a:schemeClr>
                    </a:solidFill>
                  </a:tcPr>
                </a:tc>
                <a:tc>
                  <a:txBody>
                    <a:bodyPr/>
                    <a:lstStyle/>
                    <a:p>
                      <a:pPr algn="ctr"/>
                      <a:endParaRPr lang="en-US" dirty="0"/>
                    </a:p>
                  </a:txBody>
                  <a:tcPr anchor="ctr">
                    <a:solidFill>
                      <a:schemeClr val="bg1">
                        <a:lumMod val="65000"/>
                      </a:schemeClr>
                    </a:solidFill>
                  </a:tcPr>
                </a:tc>
                <a:tc>
                  <a:txBody>
                    <a:bodyPr/>
                    <a:lstStyle/>
                    <a:p>
                      <a:pPr algn="ctr"/>
                      <a:endParaRPr lang="en-US" dirty="0"/>
                    </a:p>
                  </a:txBody>
                  <a:tcPr anchor="ctr">
                    <a:solidFill>
                      <a:schemeClr val="bg1">
                        <a:lumMod val="65000"/>
                      </a:schemeClr>
                    </a:solidFill>
                  </a:tcPr>
                </a:tc>
                <a:tc>
                  <a:txBody>
                    <a:bodyPr/>
                    <a:lstStyle/>
                    <a:p>
                      <a:pPr algn="ctr"/>
                      <a:endParaRPr lang="en-US" dirty="0"/>
                    </a:p>
                  </a:txBody>
                  <a:tcPr anchor="ctr">
                    <a:solidFill>
                      <a:schemeClr val="bg1">
                        <a:lumMod val="65000"/>
                      </a:schemeClr>
                    </a:solidFill>
                  </a:tcPr>
                </a:tc>
                <a:tc>
                  <a:txBody>
                    <a:bodyPr/>
                    <a:lstStyle/>
                    <a:p>
                      <a:pPr algn="ctr"/>
                      <a:endParaRPr lang="en-US" dirty="0"/>
                    </a:p>
                  </a:txBody>
                  <a:tcPr anchor="ctr">
                    <a:solidFill>
                      <a:schemeClr val="bg1">
                        <a:lumMod val="65000"/>
                      </a:schemeClr>
                    </a:solidFill>
                  </a:tcPr>
                </a:tc>
                <a:tc>
                  <a:txBody>
                    <a:bodyPr/>
                    <a:lstStyle/>
                    <a:p>
                      <a:pPr algn="ctr"/>
                      <a:endParaRPr lang="en-US" dirty="0"/>
                    </a:p>
                  </a:txBody>
                  <a:tcPr anchor="ctr">
                    <a:solidFill>
                      <a:schemeClr val="bg1">
                        <a:lumMod val="65000"/>
                      </a:schemeClr>
                    </a:solidFill>
                  </a:tcPr>
                </a:tc>
                <a:extLst>
                  <a:ext uri="{0D108BD9-81ED-4DB2-BD59-A6C34878D82A}">
                    <a16:rowId xmlns:a16="http://schemas.microsoft.com/office/drawing/2014/main" val="1844451045"/>
                  </a:ext>
                </a:extLst>
              </a:tr>
            </a:tbl>
          </a:graphicData>
        </a:graphic>
      </p:graphicFrame>
      <p:sp>
        <p:nvSpPr>
          <p:cNvPr id="4" name="Content Placeholder 3">
            <a:extLst>
              <a:ext uri="{FF2B5EF4-FFF2-40B4-BE49-F238E27FC236}">
                <a16:creationId xmlns:a16="http://schemas.microsoft.com/office/drawing/2014/main" id="{46FB4FF0-16D1-4449-ADC9-FCA09A730D4C}"/>
              </a:ext>
            </a:extLst>
          </p:cNvPr>
          <p:cNvSpPr>
            <a:spLocks noGrp="1"/>
          </p:cNvSpPr>
          <p:nvPr>
            <p:ph sz="half" idx="2"/>
          </p:nvPr>
        </p:nvSpPr>
        <p:spPr/>
        <p:txBody>
          <a:bodyPr>
            <a:normAutofit/>
          </a:bodyPr>
          <a:lstStyle/>
          <a:p>
            <a:pPr algn="l"/>
            <a:r>
              <a:rPr lang="en-US" dirty="0"/>
              <a:t>This is true for all the shaded points (the kernel crosses the input boundary)</a:t>
            </a:r>
          </a:p>
          <a:p>
            <a:pPr algn="l"/>
            <a:r>
              <a:rPr lang="en-US" dirty="0"/>
              <a:t>This results in an output which is of smaller dimensions than the input</a:t>
            </a:r>
          </a:p>
          <a:p>
            <a:endParaRPr lang="en-US" dirty="0"/>
          </a:p>
        </p:txBody>
      </p:sp>
      <p:graphicFrame>
        <p:nvGraphicFramePr>
          <p:cNvPr id="10" name="Table 9">
            <a:extLst>
              <a:ext uri="{FF2B5EF4-FFF2-40B4-BE49-F238E27FC236}">
                <a16:creationId xmlns:a16="http://schemas.microsoft.com/office/drawing/2014/main" id="{7371817D-5CEB-4254-B084-CDFA97547BF1}"/>
              </a:ext>
            </a:extLst>
          </p:cNvPr>
          <p:cNvGraphicFramePr>
            <a:graphicFrameLocks/>
          </p:cNvGraphicFramePr>
          <p:nvPr/>
        </p:nvGraphicFramePr>
        <p:xfrm>
          <a:off x="4034581" y="2207914"/>
          <a:ext cx="1953565" cy="1911455"/>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gridCol w="390713">
                  <a:extLst>
                    <a:ext uri="{9D8B030D-6E8A-4147-A177-3AD203B41FA5}">
                      <a16:colId xmlns:a16="http://schemas.microsoft.com/office/drawing/2014/main" val="2185225175"/>
                    </a:ext>
                  </a:extLst>
                </a:gridCol>
                <a:gridCol w="390713">
                  <a:extLst>
                    <a:ext uri="{9D8B030D-6E8A-4147-A177-3AD203B41FA5}">
                      <a16:colId xmlns:a16="http://schemas.microsoft.com/office/drawing/2014/main" val="2001228772"/>
                    </a:ext>
                  </a:extLst>
                </a:gridCol>
              </a:tblGrid>
              <a:tr h="382291">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2530891781"/>
                  </a:ext>
                </a:extLst>
              </a:tr>
              <a:tr h="382291">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246867671"/>
                  </a:ext>
                </a:extLst>
              </a:tr>
              <a:tr h="382291">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22307687"/>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327148248"/>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3807760174"/>
                  </a:ext>
                </a:extLst>
              </a:tr>
            </a:tbl>
          </a:graphicData>
        </a:graphic>
      </p:graphicFrame>
      <p:sp>
        <p:nvSpPr>
          <p:cNvPr id="3" name="Oval 2">
            <a:extLst>
              <a:ext uri="{FF2B5EF4-FFF2-40B4-BE49-F238E27FC236}">
                <a16:creationId xmlns:a16="http://schemas.microsoft.com/office/drawing/2014/main" id="{5192DD35-6300-4A35-804B-30E5F3BEA32E}"/>
              </a:ext>
            </a:extLst>
          </p:cNvPr>
          <p:cNvSpPr/>
          <p:nvPr/>
        </p:nvSpPr>
        <p:spPr>
          <a:xfrm>
            <a:off x="4104921" y="2265417"/>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D9A79C18-8B04-49E6-8B7B-540AACA89FC1}"/>
              </a:ext>
            </a:extLst>
          </p:cNvPr>
          <p:cNvSpPr/>
          <p:nvPr/>
        </p:nvSpPr>
        <p:spPr>
          <a:xfrm>
            <a:off x="4482406" y="2263069"/>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5CAD40B-8161-42BA-A0C3-C275B76B8C45}"/>
              </a:ext>
            </a:extLst>
          </p:cNvPr>
          <p:cNvSpPr/>
          <p:nvPr/>
        </p:nvSpPr>
        <p:spPr>
          <a:xfrm>
            <a:off x="4902093" y="2260721"/>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F2FBC6A-8356-49AD-9D7E-DDFA46E4328A}"/>
              </a:ext>
            </a:extLst>
          </p:cNvPr>
          <p:cNvSpPr/>
          <p:nvPr/>
        </p:nvSpPr>
        <p:spPr>
          <a:xfrm>
            <a:off x="5279577" y="2258373"/>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10917E4E-9A23-4F40-8237-F5EDD303267D}"/>
              </a:ext>
            </a:extLst>
          </p:cNvPr>
          <p:cNvSpPr/>
          <p:nvPr/>
        </p:nvSpPr>
        <p:spPr>
          <a:xfrm>
            <a:off x="5671130" y="2270096"/>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4652F6D0-DBDB-4AC6-BDC5-92D85B022F95}"/>
              </a:ext>
            </a:extLst>
          </p:cNvPr>
          <p:cNvSpPr/>
          <p:nvPr/>
        </p:nvSpPr>
        <p:spPr>
          <a:xfrm>
            <a:off x="4116644" y="2642905"/>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97C752A-49A5-4307-B70D-AC24646D31BE}"/>
              </a:ext>
            </a:extLst>
          </p:cNvPr>
          <p:cNvSpPr/>
          <p:nvPr/>
        </p:nvSpPr>
        <p:spPr>
          <a:xfrm>
            <a:off x="4494129" y="2640557"/>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9FF475D8-2AC9-40E5-95E6-F59979F9D833}"/>
              </a:ext>
            </a:extLst>
          </p:cNvPr>
          <p:cNvSpPr/>
          <p:nvPr/>
        </p:nvSpPr>
        <p:spPr>
          <a:xfrm>
            <a:off x="4913816" y="2638209"/>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B18F9FC6-36ED-40B7-A3E2-96F8F0645796}"/>
              </a:ext>
            </a:extLst>
          </p:cNvPr>
          <p:cNvSpPr/>
          <p:nvPr/>
        </p:nvSpPr>
        <p:spPr>
          <a:xfrm>
            <a:off x="5291300" y="2635861"/>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597B6128-1474-4F85-9DFD-17C2B36A63A5}"/>
              </a:ext>
            </a:extLst>
          </p:cNvPr>
          <p:cNvSpPr/>
          <p:nvPr/>
        </p:nvSpPr>
        <p:spPr>
          <a:xfrm>
            <a:off x="5682853" y="2647584"/>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63D71B15-077B-4A11-931C-C1E1144C8141}"/>
              </a:ext>
            </a:extLst>
          </p:cNvPr>
          <p:cNvSpPr/>
          <p:nvPr/>
        </p:nvSpPr>
        <p:spPr>
          <a:xfrm>
            <a:off x="4102574" y="3022725"/>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65E80699-FD64-4DB5-BC7A-931D53B1E151}"/>
              </a:ext>
            </a:extLst>
          </p:cNvPr>
          <p:cNvSpPr/>
          <p:nvPr/>
        </p:nvSpPr>
        <p:spPr>
          <a:xfrm>
            <a:off x="4480059" y="3020377"/>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8F96CD79-4681-4787-9A48-2699A4F43E1F}"/>
              </a:ext>
            </a:extLst>
          </p:cNvPr>
          <p:cNvSpPr/>
          <p:nvPr/>
        </p:nvSpPr>
        <p:spPr>
          <a:xfrm>
            <a:off x="4899746" y="3018029"/>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539B05E8-4FD3-4635-B42D-6CFE4EA2B2FE}"/>
              </a:ext>
            </a:extLst>
          </p:cNvPr>
          <p:cNvSpPr/>
          <p:nvPr/>
        </p:nvSpPr>
        <p:spPr>
          <a:xfrm>
            <a:off x="5277230" y="3015681"/>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19B5030A-68BA-4113-948E-8646DB3B2351}"/>
              </a:ext>
            </a:extLst>
          </p:cNvPr>
          <p:cNvSpPr/>
          <p:nvPr/>
        </p:nvSpPr>
        <p:spPr>
          <a:xfrm>
            <a:off x="5668783" y="3027404"/>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A97821E7-33CD-45AC-94FD-84C127C55077}"/>
              </a:ext>
            </a:extLst>
          </p:cNvPr>
          <p:cNvSpPr/>
          <p:nvPr/>
        </p:nvSpPr>
        <p:spPr>
          <a:xfrm>
            <a:off x="4114297" y="3400213"/>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4AE018A4-9641-4952-98CF-9B7281B0E105}"/>
              </a:ext>
            </a:extLst>
          </p:cNvPr>
          <p:cNvSpPr/>
          <p:nvPr/>
        </p:nvSpPr>
        <p:spPr>
          <a:xfrm>
            <a:off x="4491782" y="3397865"/>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0CE52E8C-A8EC-4BFB-80EE-B66C1DFD661D}"/>
              </a:ext>
            </a:extLst>
          </p:cNvPr>
          <p:cNvSpPr/>
          <p:nvPr/>
        </p:nvSpPr>
        <p:spPr>
          <a:xfrm>
            <a:off x="4911469" y="3395517"/>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C5BFDF09-E22B-4392-AB0F-0B0B840C24DA}"/>
              </a:ext>
            </a:extLst>
          </p:cNvPr>
          <p:cNvSpPr/>
          <p:nvPr/>
        </p:nvSpPr>
        <p:spPr>
          <a:xfrm>
            <a:off x="5288953" y="3393169"/>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C716F820-A2CF-487F-81F3-4C888D524635}"/>
              </a:ext>
            </a:extLst>
          </p:cNvPr>
          <p:cNvSpPr/>
          <p:nvPr/>
        </p:nvSpPr>
        <p:spPr>
          <a:xfrm>
            <a:off x="5680506" y="3404892"/>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71062F9B-5BE5-4976-8E35-FB8A05AB2BDF}"/>
              </a:ext>
            </a:extLst>
          </p:cNvPr>
          <p:cNvSpPr/>
          <p:nvPr/>
        </p:nvSpPr>
        <p:spPr>
          <a:xfrm>
            <a:off x="4126017" y="3791762"/>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460A6BDC-C1FB-490D-9419-7D900C3BD1EB}"/>
              </a:ext>
            </a:extLst>
          </p:cNvPr>
          <p:cNvSpPr/>
          <p:nvPr/>
        </p:nvSpPr>
        <p:spPr>
          <a:xfrm>
            <a:off x="4503502" y="3789414"/>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09817614-9071-4ABA-87EF-A39445868683}"/>
              </a:ext>
            </a:extLst>
          </p:cNvPr>
          <p:cNvSpPr/>
          <p:nvPr/>
        </p:nvSpPr>
        <p:spPr>
          <a:xfrm>
            <a:off x="4923189" y="3787066"/>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F633D039-7B4C-4DD7-97C5-B778BE08DFE5}"/>
              </a:ext>
            </a:extLst>
          </p:cNvPr>
          <p:cNvSpPr/>
          <p:nvPr/>
        </p:nvSpPr>
        <p:spPr>
          <a:xfrm>
            <a:off x="5300673" y="3784718"/>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30CF740D-5294-4C96-A7EC-0DF41A9A6471}"/>
              </a:ext>
            </a:extLst>
          </p:cNvPr>
          <p:cNvSpPr/>
          <p:nvPr/>
        </p:nvSpPr>
        <p:spPr>
          <a:xfrm>
            <a:off x="5678156" y="3796439"/>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6" name="Equals 35">
            <a:extLst>
              <a:ext uri="{FF2B5EF4-FFF2-40B4-BE49-F238E27FC236}">
                <a16:creationId xmlns:a16="http://schemas.microsoft.com/office/drawing/2014/main" id="{3C8B7C7B-7003-47A1-A82B-96E62D4F23AF}"/>
              </a:ext>
            </a:extLst>
          </p:cNvPr>
          <p:cNvSpPr/>
          <p:nvPr/>
        </p:nvSpPr>
        <p:spPr>
          <a:xfrm>
            <a:off x="3362175" y="2972497"/>
            <a:ext cx="602064" cy="422031"/>
          </a:xfrm>
          <a:prstGeom prst="mathEqual">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77613168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5A970-D3FC-4B0F-A9B9-55F8EB30EB8E}"/>
              </a:ext>
            </a:extLst>
          </p:cNvPr>
          <p:cNvSpPr>
            <a:spLocks noGrp="1"/>
          </p:cNvSpPr>
          <p:nvPr>
            <p:ph type="title"/>
          </p:nvPr>
        </p:nvSpPr>
        <p:spPr>
          <a:xfrm>
            <a:off x="838200" y="365126"/>
            <a:ext cx="10515600" cy="877266"/>
          </a:xfrm>
        </p:spPr>
        <p:txBody>
          <a:bodyPr/>
          <a:lstStyle/>
          <a:p>
            <a:pPr algn="ctr"/>
            <a:r>
              <a:rPr lang="en-US" dirty="0"/>
              <a:t>Calculation of Output Dimension</a:t>
            </a:r>
          </a:p>
        </p:txBody>
      </p:sp>
      <p:graphicFrame>
        <p:nvGraphicFramePr>
          <p:cNvPr id="9" name="Table 9">
            <a:extLst>
              <a:ext uri="{FF2B5EF4-FFF2-40B4-BE49-F238E27FC236}">
                <a16:creationId xmlns:a16="http://schemas.microsoft.com/office/drawing/2014/main" id="{EA01B71A-6B5D-40C0-889A-126145B38D68}"/>
              </a:ext>
            </a:extLst>
          </p:cNvPr>
          <p:cNvGraphicFramePr>
            <a:graphicFrameLocks noGrp="1"/>
          </p:cNvGraphicFramePr>
          <p:nvPr>
            <p:ph sz="half" idx="1"/>
          </p:nvPr>
        </p:nvGraphicFramePr>
        <p:xfrm>
          <a:off x="556843" y="1825624"/>
          <a:ext cx="2734991" cy="2676037"/>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gridCol w="390713">
                  <a:extLst>
                    <a:ext uri="{9D8B030D-6E8A-4147-A177-3AD203B41FA5}">
                      <a16:colId xmlns:a16="http://schemas.microsoft.com/office/drawing/2014/main" val="2185225175"/>
                    </a:ext>
                  </a:extLst>
                </a:gridCol>
                <a:gridCol w="390713">
                  <a:extLst>
                    <a:ext uri="{9D8B030D-6E8A-4147-A177-3AD203B41FA5}">
                      <a16:colId xmlns:a16="http://schemas.microsoft.com/office/drawing/2014/main" val="2001228772"/>
                    </a:ext>
                  </a:extLst>
                </a:gridCol>
                <a:gridCol w="390713">
                  <a:extLst>
                    <a:ext uri="{9D8B030D-6E8A-4147-A177-3AD203B41FA5}">
                      <a16:colId xmlns:a16="http://schemas.microsoft.com/office/drawing/2014/main" val="4010749547"/>
                    </a:ext>
                  </a:extLst>
                </a:gridCol>
                <a:gridCol w="390713">
                  <a:extLst>
                    <a:ext uri="{9D8B030D-6E8A-4147-A177-3AD203B41FA5}">
                      <a16:colId xmlns:a16="http://schemas.microsoft.com/office/drawing/2014/main" val="1701568956"/>
                    </a:ext>
                  </a:extLst>
                </a:gridCol>
              </a:tblGrid>
              <a:tr h="382291">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253089178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4686767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2307687"/>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327148248"/>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3807760174"/>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89591463"/>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844451045"/>
                  </a:ext>
                </a:extLst>
              </a:tr>
            </a:tbl>
          </a:graphicData>
        </a:graphic>
      </p:graphicFrame>
      <p:sp>
        <p:nvSpPr>
          <p:cNvPr id="4" name="Content Placeholder 3">
            <a:extLst>
              <a:ext uri="{FF2B5EF4-FFF2-40B4-BE49-F238E27FC236}">
                <a16:creationId xmlns:a16="http://schemas.microsoft.com/office/drawing/2014/main" id="{46FB4FF0-16D1-4449-ADC9-FCA09A730D4C}"/>
              </a:ext>
            </a:extLst>
          </p:cNvPr>
          <p:cNvSpPr>
            <a:spLocks noGrp="1"/>
          </p:cNvSpPr>
          <p:nvPr>
            <p:ph sz="half" idx="2"/>
          </p:nvPr>
        </p:nvSpPr>
        <p:spPr/>
        <p:txBody>
          <a:bodyPr/>
          <a:lstStyle/>
          <a:p>
            <a:r>
              <a:rPr lang="en-US" dirty="0"/>
              <a:t>As the size of the kernel increases, this becomes true for even more pixels</a:t>
            </a:r>
          </a:p>
          <a:p>
            <a:r>
              <a:rPr lang="en-US" dirty="0"/>
              <a:t>For example, let's consider a 5 x 5 kernel</a:t>
            </a:r>
          </a:p>
        </p:txBody>
      </p:sp>
      <p:graphicFrame>
        <p:nvGraphicFramePr>
          <p:cNvPr id="10" name="Table 9">
            <a:extLst>
              <a:ext uri="{FF2B5EF4-FFF2-40B4-BE49-F238E27FC236}">
                <a16:creationId xmlns:a16="http://schemas.microsoft.com/office/drawing/2014/main" id="{7371817D-5CEB-4254-B084-CDFA97547BF1}"/>
              </a:ext>
            </a:extLst>
          </p:cNvPr>
          <p:cNvGraphicFramePr>
            <a:graphicFrameLocks/>
          </p:cNvGraphicFramePr>
          <p:nvPr>
            <p:extLst>
              <p:ext uri="{D42A27DB-BD31-4B8C-83A1-F6EECF244321}">
                <p14:modId xmlns:p14="http://schemas.microsoft.com/office/powerpoint/2010/main" val="142435066"/>
              </p:ext>
            </p:extLst>
          </p:nvPr>
        </p:nvGraphicFramePr>
        <p:xfrm>
          <a:off x="4034581" y="2615875"/>
          <a:ext cx="1172139" cy="1146873"/>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tblGrid>
              <a:tr h="382291">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253089178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24686767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22307687"/>
                  </a:ext>
                </a:extLst>
              </a:tr>
            </a:tbl>
          </a:graphicData>
        </a:graphic>
      </p:graphicFrame>
      <p:graphicFrame>
        <p:nvGraphicFramePr>
          <p:cNvPr id="11" name="Table 10">
            <a:extLst>
              <a:ext uri="{FF2B5EF4-FFF2-40B4-BE49-F238E27FC236}">
                <a16:creationId xmlns:a16="http://schemas.microsoft.com/office/drawing/2014/main" id="{2CF008FC-F4B5-408C-AED6-F56A478D2140}"/>
              </a:ext>
            </a:extLst>
          </p:cNvPr>
          <p:cNvGraphicFramePr>
            <a:graphicFrameLocks/>
          </p:cNvGraphicFramePr>
          <p:nvPr>
            <p:extLst>
              <p:ext uri="{D42A27DB-BD31-4B8C-83A1-F6EECF244321}">
                <p14:modId xmlns:p14="http://schemas.microsoft.com/office/powerpoint/2010/main" val="288288819"/>
              </p:ext>
            </p:extLst>
          </p:nvPr>
        </p:nvGraphicFramePr>
        <p:xfrm>
          <a:off x="584979" y="1825624"/>
          <a:ext cx="1904004" cy="1888245"/>
        </p:xfrm>
        <a:graphic>
          <a:graphicData uri="http://schemas.openxmlformats.org/drawingml/2006/table">
            <a:tbl>
              <a:tblPr firstRow="1" bandRow="1">
                <a:tableStyleId>{5940675A-B579-460E-94D1-54222C63F5DA}</a:tableStyleId>
              </a:tblPr>
              <a:tblGrid>
                <a:gridCol w="380528">
                  <a:extLst>
                    <a:ext uri="{9D8B030D-6E8A-4147-A177-3AD203B41FA5}">
                      <a16:colId xmlns:a16="http://schemas.microsoft.com/office/drawing/2014/main" val="2325746083"/>
                    </a:ext>
                  </a:extLst>
                </a:gridCol>
                <a:gridCol w="380528">
                  <a:extLst>
                    <a:ext uri="{9D8B030D-6E8A-4147-A177-3AD203B41FA5}">
                      <a16:colId xmlns:a16="http://schemas.microsoft.com/office/drawing/2014/main" val="1306752537"/>
                    </a:ext>
                  </a:extLst>
                </a:gridCol>
                <a:gridCol w="380528">
                  <a:extLst>
                    <a:ext uri="{9D8B030D-6E8A-4147-A177-3AD203B41FA5}">
                      <a16:colId xmlns:a16="http://schemas.microsoft.com/office/drawing/2014/main" val="879769399"/>
                    </a:ext>
                  </a:extLst>
                </a:gridCol>
                <a:gridCol w="381892">
                  <a:extLst>
                    <a:ext uri="{9D8B030D-6E8A-4147-A177-3AD203B41FA5}">
                      <a16:colId xmlns:a16="http://schemas.microsoft.com/office/drawing/2014/main" val="485200780"/>
                    </a:ext>
                  </a:extLst>
                </a:gridCol>
                <a:gridCol w="380528">
                  <a:extLst>
                    <a:ext uri="{9D8B030D-6E8A-4147-A177-3AD203B41FA5}">
                      <a16:colId xmlns:a16="http://schemas.microsoft.com/office/drawing/2014/main" val="3573532022"/>
                    </a:ext>
                  </a:extLst>
                </a:gridCol>
              </a:tblGrid>
              <a:tr h="377649">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2530891781"/>
                  </a:ext>
                </a:extLst>
              </a:tr>
              <a:tr h="377649">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1246867671"/>
                  </a:ext>
                </a:extLst>
              </a:tr>
              <a:tr h="377649">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122307687"/>
                  </a:ext>
                </a:extLst>
              </a:tr>
              <a:tr h="377649">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3556129137"/>
                  </a:ext>
                </a:extLst>
              </a:tr>
              <a:tr h="377649">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extLst>
                  <a:ext uri="{0D108BD9-81ED-4DB2-BD59-A6C34878D82A}">
                    <a16:rowId xmlns:a16="http://schemas.microsoft.com/office/drawing/2014/main" val="970405959"/>
                  </a:ext>
                </a:extLst>
              </a:tr>
            </a:tbl>
          </a:graphicData>
        </a:graphic>
      </p:graphicFrame>
      <p:sp>
        <p:nvSpPr>
          <p:cNvPr id="3" name="Oval 2">
            <a:extLst>
              <a:ext uri="{FF2B5EF4-FFF2-40B4-BE49-F238E27FC236}">
                <a16:creationId xmlns:a16="http://schemas.microsoft.com/office/drawing/2014/main" id="{5192DD35-6300-4A35-804B-30E5F3BEA32E}"/>
              </a:ext>
            </a:extLst>
          </p:cNvPr>
          <p:cNvSpPr/>
          <p:nvPr/>
        </p:nvSpPr>
        <p:spPr>
          <a:xfrm>
            <a:off x="4104921" y="2659312"/>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Equals 4">
            <a:extLst>
              <a:ext uri="{FF2B5EF4-FFF2-40B4-BE49-F238E27FC236}">
                <a16:creationId xmlns:a16="http://schemas.microsoft.com/office/drawing/2014/main" id="{038550AA-ED90-42C8-B086-5191944C3C92}"/>
              </a:ext>
            </a:extLst>
          </p:cNvPr>
          <p:cNvSpPr/>
          <p:nvPr/>
        </p:nvSpPr>
        <p:spPr>
          <a:xfrm>
            <a:off x="3362175" y="2972497"/>
            <a:ext cx="602064" cy="422031"/>
          </a:xfrm>
          <a:prstGeom prst="mathEqual">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69318398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5A970-D3FC-4B0F-A9B9-55F8EB30EB8E}"/>
              </a:ext>
            </a:extLst>
          </p:cNvPr>
          <p:cNvSpPr>
            <a:spLocks noGrp="1"/>
          </p:cNvSpPr>
          <p:nvPr>
            <p:ph type="title"/>
          </p:nvPr>
        </p:nvSpPr>
        <p:spPr>
          <a:xfrm>
            <a:off x="838200" y="365126"/>
            <a:ext cx="10515600" cy="857388"/>
          </a:xfrm>
        </p:spPr>
        <p:txBody>
          <a:bodyPr/>
          <a:lstStyle/>
          <a:p>
            <a:pPr algn="ctr"/>
            <a:r>
              <a:rPr lang="en-US" dirty="0"/>
              <a:t>Calculation of Output Dimension</a:t>
            </a:r>
          </a:p>
        </p:txBody>
      </p:sp>
      <p:graphicFrame>
        <p:nvGraphicFramePr>
          <p:cNvPr id="9" name="Table 9">
            <a:extLst>
              <a:ext uri="{FF2B5EF4-FFF2-40B4-BE49-F238E27FC236}">
                <a16:creationId xmlns:a16="http://schemas.microsoft.com/office/drawing/2014/main" id="{EA01B71A-6B5D-40C0-889A-126145B38D68}"/>
              </a:ext>
            </a:extLst>
          </p:cNvPr>
          <p:cNvGraphicFramePr>
            <a:graphicFrameLocks noGrp="1"/>
          </p:cNvGraphicFramePr>
          <p:nvPr>
            <p:ph sz="half" idx="1"/>
          </p:nvPr>
        </p:nvGraphicFramePr>
        <p:xfrm>
          <a:off x="556843" y="1825624"/>
          <a:ext cx="2734991" cy="2676037"/>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gridCol w="390713">
                  <a:extLst>
                    <a:ext uri="{9D8B030D-6E8A-4147-A177-3AD203B41FA5}">
                      <a16:colId xmlns:a16="http://schemas.microsoft.com/office/drawing/2014/main" val="2185225175"/>
                    </a:ext>
                  </a:extLst>
                </a:gridCol>
                <a:gridCol w="390713">
                  <a:extLst>
                    <a:ext uri="{9D8B030D-6E8A-4147-A177-3AD203B41FA5}">
                      <a16:colId xmlns:a16="http://schemas.microsoft.com/office/drawing/2014/main" val="2001228772"/>
                    </a:ext>
                  </a:extLst>
                </a:gridCol>
                <a:gridCol w="390713">
                  <a:extLst>
                    <a:ext uri="{9D8B030D-6E8A-4147-A177-3AD203B41FA5}">
                      <a16:colId xmlns:a16="http://schemas.microsoft.com/office/drawing/2014/main" val="4010749547"/>
                    </a:ext>
                  </a:extLst>
                </a:gridCol>
                <a:gridCol w="390713">
                  <a:extLst>
                    <a:ext uri="{9D8B030D-6E8A-4147-A177-3AD203B41FA5}">
                      <a16:colId xmlns:a16="http://schemas.microsoft.com/office/drawing/2014/main" val="1701568956"/>
                    </a:ext>
                  </a:extLst>
                </a:gridCol>
              </a:tblGrid>
              <a:tr h="382291">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253089178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4686767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2307687"/>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327148248"/>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3807760174"/>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89591463"/>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844451045"/>
                  </a:ext>
                </a:extLst>
              </a:tr>
            </a:tbl>
          </a:graphicData>
        </a:graphic>
      </p:graphicFrame>
      <p:sp>
        <p:nvSpPr>
          <p:cNvPr id="4" name="Content Placeholder 3">
            <a:extLst>
              <a:ext uri="{FF2B5EF4-FFF2-40B4-BE49-F238E27FC236}">
                <a16:creationId xmlns:a16="http://schemas.microsoft.com/office/drawing/2014/main" id="{46FB4FF0-16D1-4449-ADC9-FCA09A730D4C}"/>
              </a:ext>
            </a:extLst>
          </p:cNvPr>
          <p:cNvSpPr>
            <a:spLocks noGrp="1"/>
          </p:cNvSpPr>
          <p:nvPr>
            <p:ph sz="half" idx="2"/>
          </p:nvPr>
        </p:nvSpPr>
        <p:spPr/>
        <p:txBody>
          <a:bodyPr/>
          <a:lstStyle/>
          <a:p>
            <a:r>
              <a:rPr lang="en-US" dirty="0"/>
              <a:t>As the size of the kernel increases, this becomes true for even more pixels</a:t>
            </a:r>
          </a:p>
          <a:p>
            <a:r>
              <a:rPr lang="en-US" dirty="0"/>
              <a:t>For example, let's consider a 5 x 5 kernel</a:t>
            </a:r>
          </a:p>
        </p:txBody>
      </p:sp>
      <p:graphicFrame>
        <p:nvGraphicFramePr>
          <p:cNvPr id="10" name="Table 9">
            <a:extLst>
              <a:ext uri="{FF2B5EF4-FFF2-40B4-BE49-F238E27FC236}">
                <a16:creationId xmlns:a16="http://schemas.microsoft.com/office/drawing/2014/main" id="{7371817D-5CEB-4254-B084-CDFA97547BF1}"/>
              </a:ext>
            </a:extLst>
          </p:cNvPr>
          <p:cNvGraphicFramePr>
            <a:graphicFrameLocks/>
          </p:cNvGraphicFramePr>
          <p:nvPr/>
        </p:nvGraphicFramePr>
        <p:xfrm>
          <a:off x="4034581" y="2615875"/>
          <a:ext cx="1172139" cy="1146873"/>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tblGrid>
              <a:tr h="382291">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253089178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24686767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22307687"/>
                  </a:ext>
                </a:extLst>
              </a:tr>
            </a:tbl>
          </a:graphicData>
        </a:graphic>
      </p:graphicFrame>
      <p:graphicFrame>
        <p:nvGraphicFramePr>
          <p:cNvPr id="11" name="Table 10">
            <a:extLst>
              <a:ext uri="{FF2B5EF4-FFF2-40B4-BE49-F238E27FC236}">
                <a16:creationId xmlns:a16="http://schemas.microsoft.com/office/drawing/2014/main" id="{2CF008FC-F4B5-408C-AED6-F56A478D2140}"/>
              </a:ext>
            </a:extLst>
          </p:cNvPr>
          <p:cNvGraphicFramePr>
            <a:graphicFrameLocks/>
          </p:cNvGraphicFramePr>
          <p:nvPr>
            <p:extLst>
              <p:ext uri="{D42A27DB-BD31-4B8C-83A1-F6EECF244321}">
                <p14:modId xmlns:p14="http://schemas.microsoft.com/office/powerpoint/2010/main" val="3273706968"/>
              </p:ext>
            </p:extLst>
          </p:nvPr>
        </p:nvGraphicFramePr>
        <p:xfrm>
          <a:off x="978876" y="1825624"/>
          <a:ext cx="1904004" cy="1888245"/>
        </p:xfrm>
        <a:graphic>
          <a:graphicData uri="http://schemas.openxmlformats.org/drawingml/2006/table">
            <a:tbl>
              <a:tblPr firstRow="1" bandRow="1">
                <a:tableStyleId>{5940675A-B579-460E-94D1-54222C63F5DA}</a:tableStyleId>
              </a:tblPr>
              <a:tblGrid>
                <a:gridCol w="380528">
                  <a:extLst>
                    <a:ext uri="{9D8B030D-6E8A-4147-A177-3AD203B41FA5}">
                      <a16:colId xmlns:a16="http://schemas.microsoft.com/office/drawing/2014/main" val="2325746083"/>
                    </a:ext>
                  </a:extLst>
                </a:gridCol>
                <a:gridCol w="380528">
                  <a:extLst>
                    <a:ext uri="{9D8B030D-6E8A-4147-A177-3AD203B41FA5}">
                      <a16:colId xmlns:a16="http://schemas.microsoft.com/office/drawing/2014/main" val="1306752537"/>
                    </a:ext>
                  </a:extLst>
                </a:gridCol>
                <a:gridCol w="380528">
                  <a:extLst>
                    <a:ext uri="{9D8B030D-6E8A-4147-A177-3AD203B41FA5}">
                      <a16:colId xmlns:a16="http://schemas.microsoft.com/office/drawing/2014/main" val="879769399"/>
                    </a:ext>
                  </a:extLst>
                </a:gridCol>
                <a:gridCol w="381892">
                  <a:extLst>
                    <a:ext uri="{9D8B030D-6E8A-4147-A177-3AD203B41FA5}">
                      <a16:colId xmlns:a16="http://schemas.microsoft.com/office/drawing/2014/main" val="485200780"/>
                    </a:ext>
                  </a:extLst>
                </a:gridCol>
                <a:gridCol w="380528">
                  <a:extLst>
                    <a:ext uri="{9D8B030D-6E8A-4147-A177-3AD203B41FA5}">
                      <a16:colId xmlns:a16="http://schemas.microsoft.com/office/drawing/2014/main" val="3573532022"/>
                    </a:ext>
                  </a:extLst>
                </a:gridCol>
              </a:tblGrid>
              <a:tr h="377649">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2530891781"/>
                  </a:ext>
                </a:extLst>
              </a:tr>
              <a:tr h="377649">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1246867671"/>
                  </a:ext>
                </a:extLst>
              </a:tr>
              <a:tr h="377649">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122307687"/>
                  </a:ext>
                </a:extLst>
              </a:tr>
              <a:tr h="377649">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3556129137"/>
                  </a:ext>
                </a:extLst>
              </a:tr>
              <a:tr h="377649">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extLst>
                  <a:ext uri="{0D108BD9-81ED-4DB2-BD59-A6C34878D82A}">
                    <a16:rowId xmlns:a16="http://schemas.microsoft.com/office/drawing/2014/main" val="970405959"/>
                  </a:ext>
                </a:extLst>
              </a:tr>
            </a:tbl>
          </a:graphicData>
        </a:graphic>
      </p:graphicFrame>
      <p:sp>
        <p:nvSpPr>
          <p:cNvPr id="3" name="Oval 2">
            <a:extLst>
              <a:ext uri="{FF2B5EF4-FFF2-40B4-BE49-F238E27FC236}">
                <a16:creationId xmlns:a16="http://schemas.microsoft.com/office/drawing/2014/main" id="{5192DD35-6300-4A35-804B-30E5F3BEA32E}"/>
              </a:ext>
            </a:extLst>
          </p:cNvPr>
          <p:cNvSpPr/>
          <p:nvPr/>
        </p:nvSpPr>
        <p:spPr>
          <a:xfrm>
            <a:off x="4104921" y="2659312"/>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Equals 4">
            <a:extLst>
              <a:ext uri="{FF2B5EF4-FFF2-40B4-BE49-F238E27FC236}">
                <a16:creationId xmlns:a16="http://schemas.microsoft.com/office/drawing/2014/main" id="{038550AA-ED90-42C8-B086-5191944C3C92}"/>
              </a:ext>
            </a:extLst>
          </p:cNvPr>
          <p:cNvSpPr/>
          <p:nvPr/>
        </p:nvSpPr>
        <p:spPr>
          <a:xfrm>
            <a:off x="3362175" y="2972497"/>
            <a:ext cx="602064" cy="422031"/>
          </a:xfrm>
          <a:prstGeom prst="mathEqual">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
        <p:nvSpPr>
          <p:cNvPr id="12" name="Oval 11">
            <a:extLst>
              <a:ext uri="{FF2B5EF4-FFF2-40B4-BE49-F238E27FC236}">
                <a16:creationId xmlns:a16="http://schemas.microsoft.com/office/drawing/2014/main" id="{200D0E85-A3AC-40E2-8347-26290B8665A7}"/>
              </a:ext>
            </a:extLst>
          </p:cNvPr>
          <p:cNvSpPr/>
          <p:nvPr/>
        </p:nvSpPr>
        <p:spPr>
          <a:xfrm>
            <a:off x="4482406" y="2656964"/>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9398180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5A970-D3FC-4B0F-A9B9-55F8EB30EB8E}"/>
              </a:ext>
            </a:extLst>
          </p:cNvPr>
          <p:cNvSpPr>
            <a:spLocks noGrp="1"/>
          </p:cNvSpPr>
          <p:nvPr>
            <p:ph type="title"/>
          </p:nvPr>
        </p:nvSpPr>
        <p:spPr>
          <a:xfrm>
            <a:off x="838200" y="365126"/>
            <a:ext cx="10515600" cy="857388"/>
          </a:xfrm>
        </p:spPr>
        <p:txBody>
          <a:bodyPr/>
          <a:lstStyle/>
          <a:p>
            <a:pPr algn="ctr"/>
            <a:r>
              <a:rPr lang="en-US" dirty="0"/>
              <a:t>Calculation of Output Dimension</a:t>
            </a:r>
          </a:p>
        </p:txBody>
      </p:sp>
      <p:graphicFrame>
        <p:nvGraphicFramePr>
          <p:cNvPr id="9" name="Table 9">
            <a:extLst>
              <a:ext uri="{FF2B5EF4-FFF2-40B4-BE49-F238E27FC236}">
                <a16:creationId xmlns:a16="http://schemas.microsoft.com/office/drawing/2014/main" id="{EA01B71A-6B5D-40C0-889A-126145B38D68}"/>
              </a:ext>
            </a:extLst>
          </p:cNvPr>
          <p:cNvGraphicFramePr>
            <a:graphicFrameLocks noGrp="1"/>
          </p:cNvGraphicFramePr>
          <p:nvPr>
            <p:ph sz="half" idx="1"/>
          </p:nvPr>
        </p:nvGraphicFramePr>
        <p:xfrm>
          <a:off x="556843" y="1825624"/>
          <a:ext cx="2734991" cy="2676037"/>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gridCol w="390713">
                  <a:extLst>
                    <a:ext uri="{9D8B030D-6E8A-4147-A177-3AD203B41FA5}">
                      <a16:colId xmlns:a16="http://schemas.microsoft.com/office/drawing/2014/main" val="2185225175"/>
                    </a:ext>
                  </a:extLst>
                </a:gridCol>
                <a:gridCol w="390713">
                  <a:extLst>
                    <a:ext uri="{9D8B030D-6E8A-4147-A177-3AD203B41FA5}">
                      <a16:colId xmlns:a16="http://schemas.microsoft.com/office/drawing/2014/main" val="2001228772"/>
                    </a:ext>
                  </a:extLst>
                </a:gridCol>
                <a:gridCol w="390713">
                  <a:extLst>
                    <a:ext uri="{9D8B030D-6E8A-4147-A177-3AD203B41FA5}">
                      <a16:colId xmlns:a16="http://schemas.microsoft.com/office/drawing/2014/main" val="4010749547"/>
                    </a:ext>
                  </a:extLst>
                </a:gridCol>
                <a:gridCol w="390713">
                  <a:extLst>
                    <a:ext uri="{9D8B030D-6E8A-4147-A177-3AD203B41FA5}">
                      <a16:colId xmlns:a16="http://schemas.microsoft.com/office/drawing/2014/main" val="1701568956"/>
                    </a:ext>
                  </a:extLst>
                </a:gridCol>
              </a:tblGrid>
              <a:tr h="382291">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253089178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4686767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2307687"/>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327148248"/>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3807760174"/>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89591463"/>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844451045"/>
                  </a:ext>
                </a:extLst>
              </a:tr>
            </a:tbl>
          </a:graphicData>
        </a:graphic>
      </p:graphicFrame>
      <p:sp>
        <p:nvSpPr>
          <p:cNvPr id="4" name="Content Placeholder 3">
            <a:extLst>
              <a:ext uri="{FF2B5EF4-FFF2-40B4-BE49-F238E27FC236}">
                <a16:creationId xmlns:a16="http://schemas.microsoft.com/office/drawing/2014/main" id="{46FB4FF0-16D1-4449-ADC9-FCA09A730D4C}"/>
              </a:ext>
            </a:extLst>
          </p:cNvPr>
          <p:cNvSpPr>
            <a:spLocks noGrp="1"/>
          </p:cNvSpPr>
          <p:nvPr>
            <p:ph sz="half" idx="2"/>
          </p:nvPr>
        </p:nvSpPr>
        <p:spPr/>
        <p:txBody>
          <a:bodyPr/>
          <a:lstStyle/>
          <a:p>
            <a:r>
              <a:rPr lang="en-US" dirty="0"/>
              <a:t>As the size of the kernel increases, this becomes true for even more pixels</a:t>
            </a:r>
          </a:p>
          <a:p>
            <a:r>
              <a:rPr lang="en-US" dirty="0"/>
              <a:t>For example, let's consider a 5 x 5 kernel</a:t>
            </a:r>
          </a:p>
          <a:p>
            <a:endParaRPr lang="en-US" dirty="0"/>
          </a:p>
        </p:txBody>
      </p:sp>
      <p:graphicFrame>
        <p:nvGraphicFramePr>
          <p:cNvPr id="10" name="Table 9">
            <a:extLst>
              <a:ext uri="{FF2B5EF4-FFF2-40B4-BE49-F238E27FC236}">
                <a16:creationId xmlns:a16="http://schemas.microsoft.com/office/drawing/2014/main" id="{7371817D-5CEB-4254-B084-CDFA97547BF1}"/>
              </a:ext>
            </a:extLst>
          </p:cNvPr>
          <p:cNvGraphicFramePr>
            <a:graphicFrameLocks/>
          </p:cNvGraphicFramePr>
          <p:nvPr/>
        </p:nvGraphicFramePr>
        <p:xfrm>
          <a:off x="4034581" y="2615875"/>
          <a:ext cx="1172139" cy="1146873"/>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tblGrid>
              <a:tr h="382291">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253089178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24686767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22307687"/>
                  </a:ext>
                </a:extLst>
              </a:tr>
            </a:tbl>
          </a:graphicData>
        </a:graphic>
      </p:graphicFrame>
      <p:graphicFrame>
        <p:nvGraphicFramePr>
          <p:cNvPr id="11" name="Table 10">
            <a:extLst>
              <a:ext uri="{FF2B5EF4-FFF2-40B4-BE49-F238E27FC236}">
                <a16:creationId xmlns:a16="http://schemas.microsoft.com/office/drawing/2014/main" id="{2CF008FC-F4B5-408C-AED6-F56A478D2140}"/>
              </a:ext>
            </a:extLst>
          </p:cNvPr>
          <p:cNvGraphicFramePr>
            <a:graphicFrameLocks/>
          </p:cNvGraphicFramePr>
          <p:nvPr>
            <p:extLst>
              <p:ext uri="{D42A27DB-BD31-4B8C-83A1-F6EECF244321}">
                <p14:modId xmlns:p14="http://schemas.microsoft.com/office/powerpoint/2010/main" val="1378163681"/>
              </p:ext>
            </p:extLst>
          </p:nvPr>
        </p:nvGraphicFramePr>
        <p:xfrm>
          <a:off x="1358706" y="1825624"/>
          <a:ext cx="1904004" cy="1888245"/>
        </p:xfrm>
        <a:graphic>
          <a:graphicData uri="http://schemas.openxmlformats.org/drawingml/2006/table">
            <a:tbl>
              <a:tblPr firstRow="1" bandRow="1">
                <a:tableStyleId>{5940675A-B579-460E-94D1-54222C63F5DA}</a:tableStyleId>
              </a:tblPr>
              <a:tblGrid>
                <a:gridCol w="380528">
                  <a:extLst>
                    <a:ext uri="{9D8B030D-6E8A-4147-A177-3AD203B41FA5}">
                      <a16:colId xmlns:a16="http://schemas.microsoft.com/office/drawing/2014/main" val="2325746083"/>
                    </a:ext>
                  </a:extLst>
                </a:gridCol>
                <a:gridCol w="380528">
                  <a:extLst>
                    <a:ext uri="{9D8B030D-6E8A-4147-A177-3AD203B41FA5}">
                      <a16:colId xmlns:a16="http://schemas.microsoft.com/office/drawing/2014/main" val="1306752537"/>
                    </a:ext>
                  </a:extLst>
                </a:gridCol>
                <a:gridCol w="380528">
                  <a:extLst>
                    <a:ext uri="{9D8B030D-6E8A-4147-A177-3AD203B41FA5}">
                      <a16:colId xmlns:a16="http://schemas.microsoft.com/office/drawing/2014/main" val="879769399"/>
                    </a:ext>
                  </a:extLst>
                </a:gridCol>
                <a:gridCol w="381892">
                  <a:extLst>
                    <a:ext uri="{9D8B030D-6E8A-4147-A177-3AD203B41FA5}">
                      <a16:colId xmlns:a16="http://schemas.microsoft.com/office/drawing/2014/main" val="485200780"/>
                    </a:ext>
                  </a:extLst>
                </a:gridCol>
                <a:gridCol w="380528">
                  <a:extLst>
                    <a:ext uri="{9D8B030D-6E8A-4147-A177-3AD203B41FA5}">
                      <a16:colId xmlns:a16="http://schemas.microsoft.com/office/drawing/2014/main" val="3573532022"/>
                    </a:ext>
                  </a:extLst>
                </a:gridCol>
              </a:tblGrid>
              <a:tr h="377649">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2530891781"/>
                  </a:ext>
                </a:extLst>
              </a:tr>
              <a:tr h="377649">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1246867671"/>
                  </a:ext>
                </a:extLst>
              </a:tr>
              <a:tr h="377649">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122307687"/>
                  </a:ext>
                </a:extLst>
              </a:tr>
              <a:tr h="377649">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3556129137"/>
                  </a:ext>
                </a:extLst>
              </a:tr>
              <a:tr h="377649">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extLst>
                  <a:ext uri="{0D108BD9-81ED-4DB2-BD59-A6C34878D82A}">
                    <a16:rowId xmlns:a16="http://schemas.microsoft.com/office/drawing/2014/main" val="970405959"/>
                  </a:ext>
                </a:extLst>
              </a:tr>
            </a:tbl>
          </a:graphicData>
        </a:graphic>
      </p:graphicFrame>
      <p:sp>
        <p:nvSpPr>
          <p:cNvPr id="3" name="Oval 2">
            <a:extLst>
              <a:ext uri="{FF2B5EF4-FFF2-40B4-BE49-F238E27FC236}">
                <a16:creationId xmlns:a16="http://schemas.microsoft.com/office/drawing/2014/main" id="{5192DD35-6300-4A35-804B-30E5F3BEA32E}"/>
              </a:ext>
            </a:extLst>
          </p:cNvPr>
          <p:cNvSpPr/>
          <p:nvPr/>
        </p:nvSpPr>
        <p:spPr>
          <a:xfrm>
            <a:off x="4104921" y="2659312"/>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Equals 4">
            <a:extLst>
              <a:ext uri="{FF2B5EF4-FFF2-40B4-BE49-F238E27FC236}">
                <a16:creationId xmlns:a16="http://schemas.microsoft.com/office/drawing/2014/main" id="{038550AA-ED90-42C8-B086-5191944C3C92}"/>
              </a:ext>
            </a:extLst>
          </p:cNvPr>
          <p:cNvSpPr/>
          <p:nvPr/>
        </p:nvSpPr>
        <p:spPr>
          <a:xfrm>
            <a:off x="3362175" y="2972497"/>
            <a:ext cx="602064" cy="422031"/>
          </a:xfrm>
          <a:prstGeom prst="mathEqual">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
        <p:nvSpPr>
          <p:cNvPr id="12" name="Oval 11">
            <a:extLst>
              <a:ext uri="{FF2B5EF4-FFF2-40B4-BE49-F238E27FC236}">
                <a16:creationId xmlns:a16="http://schemas.microsoft.com/office/drawing/2014/main" id="{200D0E85-A3AC-40E2-8347-26290B8665A7}"/>
              </a:ext>
            </a:extLst>
          </p:cNvPr>
          <p:cNvSpPr/>
          <p:nvPr/>
        </p:nvSpPr>
        <p:spPr>
          <a:xfrm>
            <a:off x="4482406" y="2656964"/>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43C010F2-93F2-4A91-A638-75B4670CEB2C}"/>
              </a:ext>
            </a:extLst>
          </p:cNvPr>
          <p:cNvSpPr/>
          <p:nvPr/>
        </p:nvSpPr>
        <p:spPr>
          <a:xfrm>
            <a:off x="4888027" y="2654616"/>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395624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5A970-D3FC-4B0F-A9B9-55F8EB30EB8E}"/>
              </a:ext>
            </a:extLst>
          </p:cNvPr>
          <p:cNvSpPr>
            <a:spLocks noGrp="1"/>
          </p:cNvSpPr>
          <p:nvPr>
            <p:ph type="title"/>
          </p:nvPr>
        </p:nvSpPr>
        <p:spPr>
          <a:xfrm>
            <a:off x="838200" y="365125"/>
            <a:ext cx="10515600" cy="658605"/>
          </a:xfrm>
        </p:spPr>
        <p:txBody>
          <a:bodyPr>
            <a:normAutofit fontScale="90000"/>
          </a:bodyPr>
          <a:lstStyle/>
          <a:p>
            <a:pPr algn="ctr"/>
            <a:r>
              <a:rPr lang="en-US" dirty="0"/>
              <a:t>Calculation of Output Dimension</a:t>
            </a:r>
          </a:p>
        </p:txBody>
      </p:sp>
      <p:graphicFrame>
        <p:nvGraphicFramePr>
          <p:cNvPr id="9" name="Table 9">
            <a:extLst>
              <a:ext uri="{FF2B5EF4-FFF2-40B4-BE49-F238E27FC236}">
                <a16:creationId xmlns:a16="http://schemas.microsoft.com/office/drawing/2014/main" id="{EA01B71A-6B5D-40C0-889A-126145B38D68}"/>
              </a:ext>
            </a:extLst>
          </p:cNvPr>
          <p:cNvGraphicFramePr>
            <a:graphicFrameLocks noGrp="1"/>
          </p:cNvGraphicFramePr>
          <p:nvPr>
            <p:ph sz="half" idx="1"/>
          </p:nvPr>
        </p:nvGraphicFramePr>
        <p:xfrm>
          <a:off x="556843" y="1825624"/>
          <a:ext cx="2734991" cy="2676037"/>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gridCol w="390713">
                  <a:extLst>
                    <a:ext uri="{9D8B030D-6E8A-4147-A177-3AD203B41FA5}">
                      <a16:colId xmlns:a16="http://schemas.microsoft.com/office/drawing/2014/main" val="2185225175"/>
                    </a:ext>
                  </a:extLst>
                </a:gridCol>
                <a:gridCol w="390713">
                  <a:extLst>
                    <a:ext uri="{9D8B030D-6E8A-4147-A177-3AD203B41FA5}">
                      <a16:colId xmlns:a16="http://schemas.microsoft.com/office/drawing/2014/main" val="2001228772"/>
                    </a:ext>
                  </a:extLst>
                </a:gridCol>
                <a:gridCol w="390713">
                  <a:extLst>
                    <a:ext uri="{9D8B030D-6E8A-4147-A177-3AD203B41FA5}">
                      <a16:colId xmlns:a16="http://schemas.microsoft.com/office/drawing/2014/main" val="4010749547"/>
                    </a:ext>
                  </a:extLst>
                </a:gridCol>
                <a:gridCol w="390713">
                  <a:extLst>
                    <a:ext uri="{9D8B030D-6E8A-4147-A177-3AD203B41FA5}">
                      <a16:colId xmlns:a16="http://schemas.microsoft.com/office/drawing/2014/main" val="1701568956"/>
                    </a:ext>
                  </a:extLst>
                </a:gridCol>
              </a:tblGrid>
              <a:tr h="382291">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253089178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4686767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2307687"/>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327148248"/>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3807760174"/>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89591463"/>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844451045"/>
                  </a:ext>
                </a:extLst>
              </a:tr>
            </a:tbl>
          </a:graphicData>
        </a:graphic>
      </p:graphicFrame>
      <p:sp>
        <p:nvSpPr>
          <p:cNvPr id="4" name="Content Placeholder 3">
            <a:extLst>
              <a:ext uri="{FF2B5EF4-FFF2-40B4-BE49-F238E27FC236}">
                <a16:creationId xmlns:a16="http://schemas.microsoft.com/office/drawing/2014/main" id="{46FB4FF0-16D1-4449-ADC9-FCA09A730D4C}"/>
              </a:ext>
            </a:extLst>
          </p:cNvPr>
          <p:cNvSpPr>
            <a:spLocks noGrp="1"/>
          </p:cNvSpPr>
          <p:nvPr>
            <p:ph sz="half" idx="2"/>
          </p:nvPr>
        </p:nvSpPr>
        <p:spPr/>
        <p:txBody>
          <a:bodyPr/>
          <a:lstStyle/>
          <a:p>
            <a:r>
              <a:rPr lang="en-US" dirty="0"/>
              <a:t>As the size of the kernel increases, this becomes true for even more pixels</a:t>
            </a:r>
          </a:p>
          <a:p>
            <a:r>
              <a:rPr lang="en-US" dirty="0"/>
              <a:t>For example, let's consider a 5 x 5 kernel</a:t>
            </a:r>
          </a:p>
          <a:p>
            <a:endParaRPr lang="en-US" dirty="0"/>
          </a:p>
        </p:txBody>
      </p:sp>
      <p:graphicFrame>
        <p:nvGraphicFramePr>
          <p:cNvPr id="10" name="Table 9">
            <a:extLst>
              <a:ext uri="{FF2B5EF4-FFF2-40B4-BE49-F238E27FC236}">
                <a16:creationId xmlns:a16="http://schemas.microsoft.com/office/drawing/2014/main" id="{7371817D-5CEB-4254-B084-CDFA97547BF1}"/>
              </a:ext>
            </a:extLst>
          </p:cNvPr>
          <p:cNvGraphicFramePr>
            <a:graphicFrameLocks/>
          </p:cNvGraphicFramePr>
          <p:nvPr/>
        </p:nvGraphicFramePr>
        <p:xfrm>
          <a:off x="4034581" y="2615875"/>
          <a:ext cx="1172139" cy="1146873"/>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tblGrid>
              <a:tr h="382291">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253089178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24686767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22307687"/>
                  </a:ext>
                </a:extLst>
              </a:tr>
            </a:tbl>
          </a:graphicData>
        </a:graphic>
      </p:graphicFrame>
      <p:graphicFrame>
        <p:nvGraphicFramePr>
          <p:cNvPr id="11" name="Table 10">
            <a:extLst>
              <a:ext uri="{FF2B5EF4-FFF2-40B4-BE49-F238E27FC236}">
                <a16:creationId xmlns:a16="http://schemas.microsoft.com/office/drawing/2014/main" id="{2CF008FC-F4B5-408C-AED6-F56A478D2140}"/>
              </a:ext>
            </a:extLst>
          </p:cNvPr>
          <p:cNvGraphicFramePr>
            <a:graphicFrameLocks/>
          </p:cNvGraphicFramePr>
          <p:nvPr>
            <p:extLst>
              <p:ext uri="{D42A27DB-BD31-4B8C-83A1-F6EECF244321}">
                <p14:modId xmlns:p14="http://schemas.microsoft.com/office/powerpoint/2010/main" val="2770531306"/>
              </p:ext>
            </p:extLst>
          </p:nvPr>
        </p:nvGraphicFramePr>
        <p:xfrm>
          <a:off x="1358706" y="2613421"/>
          <a:ext cx="1904004" cy="1888245"/>
        </p:xfrm>
        <a:graphic>
          <a:graphicData uri="http://schemas.openxmlformats.org/drawingml/2006/table">
            <a:tbl>
              <a:tblPr firstRow="1" bandRow="1">
                <a:tableStyleId>{5940675A-B579-460E-94D1-54222C63F5DA}</a:tableStyleId>
              </a:tblPr>
              <a:tblGrid>
                <a:gridCol w="380528">
                  <a:extLst>
                    <a:ext uri="{9D8B030D-6E8A-4147-A177-3AD203B41FA5}">
                      <a16:colId xmlns:a16="http://schemas.microsoft.com/office/drawing/2014/main" val="2325746083"/>
                    </a:ext>
                  </a:extLst>
                </a:gridCol>
                <a:gridCol w="380528">
                  <a:extLst>
                    <a:ext uri="{9D8B030D-6E8A-4147-A177-3AD203B41FA5}">
                      <a16:colId xmlns:a16="http://schemas.microsoft.com/office/drawing/2014/main" val="1306752537"/>
                    </a:ext>
                  </a:extLst>
                </a:gridCol>
                <a:gridCol w="380528">
                  <a:extLst>
                    <a:ext uri="{9D8B030D-6E8A-4147-A177-3AD203B41FA5}">
                      <a16:colId xmlns:a16="http://schemas.microsoft.com/office/drawing/2014/main" val="879769399"/>
                    </a:ext>
                  </a:extLst>
                </a:gridCol>
                <a:gridCol w="381892">
                  <a:extLst>
                    <a:ext uri="{9D8B030D-6E8A-4147-A177-3AD203B41FA5}">
                      <a16:colId xmlns:a16="http://schemas.microsoft.com/office/drawing/2014/main" val="485200780"/>
                    </a:ext>
                  </a:extLst>
                </a:gridCol>
                <a:gridCol w="380528">
                  <a:extLst>
                    <a:ext uri="{9D8B030D-6E8A-4147-A177-3AD203B41FA5}">
                      <a16:colId xmlns:a16="http://schemas.microsoft.com/office/drawing/2014/main" val="3573532022"/>
                    </a:ext>
                  </a:extLst>
                </a:gridCol>
              </a:tblGrid>
              <a:tr h="377649">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2530891781"/>
                  </a:ext>
                </a:extLst>
              </a:tr>
              <a:tr h="377649">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1246867671"/>
                  </a:ext>
                </a:extLst>
              </a:tr>
              <a:tr h="377649">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r>
                        <a:rPr lang="en-US" dirty="0">
                          <a:solidFill>
                            <a:srgbClr val="FF0000"/>
                          </a:solidFill>
                        </a:rPr>
                        <a:t>X</a:t>
                      </a:r>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122307687"/>
                  </a:ext>
                </a:extLst>
              </a:tr>
              <a:tr h="377649">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3556129137"/>
                  </a:ext>
                </a:extLst>
              </a:tr>
              <a:tr h="377649">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extLst>
                  <a:ext uri="{0D108BD9-81ED-4DB2-BD59-A6C34878D82A}">
                    <a16:rowId xmlns:a16="http://schemas.microsoft.com/office/drawing/2014/main" val="970405959"/>
                  </a:ext>
                </a:extLst>
              </a:tr>
            </a:tbl>
          </a:graphicData>
        </a:graphic>
      </p:graphicFrame>
      <p:sp>
        <p:nvSpPr>
          <p:cNvPr id="3" name="Oval 2">
            <a:extLst>
              <a:ext uri="{FF2B5EF4-FFF2-40B4-BE49-F238E27FC236}">
                <a16:creationId xmlns:a16="http://schemas.microsoft.com/office/drawing/2014/main" id="{5192DD35-6300-4A35-804B-30E5F3BEA32E}"/>
              </a:ext>
            </a:extLst>
          </p:cNvPr>
          <p:cNvSpPr/>
          <p:nvPr/>
        </p:nvSpPr>
        <p:spPr>
          <a:xfrm>
            <a:off x="4104921" y="2659312"/>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Equals 4">
            <a:extLst>
              <a:ext uri="{FF2B5EF4-FFF2-40B4-BE49-F238E27FC236}">
                <a16:creationId xmlns:a16="http://schemas.microsoft.com/office/drawing/2014/main" id="{038550AA-ED90-42C8-B086-5191944C3C92}"/>
              </a:ext>
            </a:extLst>
          </p:cNvPr>
          <p:cNvSpPr/>
          <p:nvPr/>
        </p:nvSpPr>
        <p:spPr>
          <a:xfrm>
            <a:off x="3362175" y="2972497"/>
            <a:ext cx="602064" cy="422031"/>
          </a:xfrm>
          <a:prstGeom prst="mathEqual">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
        <p:nvSpPr>
          <p:cNvPr id="12" name="Oval 11">
            <a:extLst>
              <a:ext uri="{FF2B5EF4-FFF2-40B4-BE49-F238E27FC236}">
                <a16:creationId xmlns:a16="http://schemas.microsoft.com/office/drawing/2014/main" id="{200D0E85-A3AC-40E2-8347-26290B8665A7}"/>
              </a:ext>
            </a:extLst>
          </p:cNvPr>
          <p:cNvSpPr/>
          <p:nvPr/>
        </p:nvSpPr>
        <p:spPr>
          <a:xfrm>
            <a:off x="4482406" y="2656964"/>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43C010F2-93F2-4A91-A638-75B4670CEB2C}"/>
              </a:ext>
            </a:extLst>
          </p:cNvPr>
          <p:cNvSpPr/>
          <p:nvPr/>
        </p:nvSpPr>
        <p:spPr>
          <a:xfrm>
            <a:off x="4888027" y="2654616"/>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86C18319-2BE6-4A08-97E0-860532DDB55E}"/>
              </a:ext>
            </a:extLst>
          </p:cNvPr>
          <p:cNvSpPr/>
          <p:nvPr/>
        </p:nvSpPr>
        <p:spPr>
          <a:xfrm>
            <a:off x="4102575" y="3050862"/>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6625DA75-036C-4216-8605-657F5BFC7E5B}"/>
              </a:ext>
            </a:extLst>
          </p:cNvPr>
          <p:cNvSpPr/>
          <p:nvPr/>
        </p:nvSpPr>
        <p:spPr>
          <a:xfrm>
            <a:off x="4480060" y="3048514"/>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445EFA58-2B69-4A92-BD33-9F6C3A95E415}"/>
              </a:ext>
            </a:extLst>
          </p:cNvPr>
          <p:cNvSpPr/>
          <p:nvPr/>
        </p:nvSpPr>
        <p:spPr>
          <a:xfrm>
            <a:off x="4885681" y="3046166"/>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FB12E2C9-7922-4922-8903-F81A84644ACD}"/>
              </a:ext>
            </a:extLst>
          </p:cNvPr>
          <p:cNvSpPr/>
          <p:nvPr/>
        </p:nvSpPr>
        <p:spPr>
          <a:xfrm>
            <a:off x="4114295" y="3428347"/>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EEE92C30-35F7-4A68-9835-A4187BAD8093}"/>
              </a:ext>
            </a:extLst>
          </p:cNvPr>
          <p:cNvSpPr/>
          <p:nvPr/>
        </p:nvSpPr>
        <p:spPr>
          <a:xfrm>
            <a:off x="4491780" y="3425999"/>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0D1D4230-7BDB-4692-AB8D-84CDC54B87BA}"/>
              </a:ext>
            </a:extLst>
          </p:cNvPr>
          <p:cNvSpPr/>
          <p:nvPr/>
        </p:nvSpPr>
        <p:spPr>
          <a:xfrm>
            <a:off x="4897401" y="3423651"/>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8432530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5A970-D3FC-4B0F-A9B9-55F8EB30EB8E}"/>
              </a:ext>
            </a:extLst>
          </p:cNvPr>
          <p:cNvSpPr>
            <a:spLocks noGrp="1"/>
          </p:cNvSpPr>
          <p:nvPr>
            <p:ph type="title"/>
          </p:nvPr>
        </p:nvSpPr>
        <p:spPr>
          <a:xfrm>
            <a:off x="838200" y="365125"/>
            <a:ext cx="10515600" cy="708301"/>
          </a:xfrm>
        </p:spPr>
        <p:txBody>
          <a:bodyPr/>
          <a:lstStyle/>
          <a:p>
            <a:pPr algn="ctr"/>
            <a:r>
              <a:rPr lang="en-US" dirty="0"/>
              <a:t>Calculation of Output Dimension</a:t>
            </a:r>
          </a:p>
        </p:txBody>
      </p:sp>
      <p:graphicFrame>
        <p:nvGraphicFramePr>
          <p:cNvPr id="9" name="Table 9">
            <a:extLst>
              <a:ext uri="{FF2B5EF4-FFF2-40B4-BE49-F238E27FC236}">
                <a16:creationId xmlns:a16="http://schemas.microsoft.com/office/drawing/2014/main" id="{EA01B71A-6B5D-40C0-889A-126145B38D68}"/>
              </a:ext>
            </a:extLst>
          </p:cNvPr>
          <p:cNvGraphicFramePr>
            <a:graphicFrameLocks noGrp="1"/>
          </p:cNvGraphicFramePr>
          <p:nvPr>
            <p:ph sz="half" idx="1"/>
          </p:nvPr>
        </p:nvGraphicFramePr>
        <p:xfrm>
          <a:off x="556843" y="1825624"/>
          <a:ext cx="2734991" cy="2676037"/>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gridCol w="390713">
                  <a:extLst>
                    <a:ext uri="{9D8B030D-6E8A-4147-A177-3AD203B41FA5}">
                      <a16:colId xmlns:a16="http://schemas.microsoft.com/office/drawing/2014/main" val="2185225175"/>
                    </a:ext>
                  </a:extLst>
                </a:gridCol>
                <a:gridCol w="390713">
                  <a:extLst>
                    <a:ext uri="{9D8B030D-6E8A-4147-A177-3AD203B41FA5}">
                      <a16:colId xmlns:a16="http://schemas.microsoft.com/office/drawing/2014/main" val="2001228772"/>
                    </a:ext>
                  </a:extLst>
                </a:gridCol>
                <a:gridCol w="390713">
                  <a:extLst>
                    <a:ext uri="{9D8B030D-6E8A-4147-A177-3AD203B41FA5}">
                      <a16:colId xmlns:a16="http://schemas.microsoft.com/office/drawing/2014/main" val="4010749547"/>
                    </a:ext>
                  </a:extLst>
                </a:gridCol>
                <a:gridCol w="390713">
                  <a:extLst>
                    <a:ext uri="{9D8B030D-6E8A-4147-A177-3AD203B41FA5}">
                      <a16:colId xmlns:a16="http://schemas.microsoft.com/office/drawing/2014/main" val="1701568956"/>
                    </a:ext>
                  </a:extLst>
                </a:gridCol>
              </a:tblGrid>
              <a:tr h="382291">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253089178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4686767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2307687"/>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327148248"/>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3807760174"/>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89591463"/>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844451045"/>
                  </a:ext>
                </a:extLst>
              </a:tr>
            </a:tbl>
          </a:graphicData>
        </a:graphic>
      </p:graphicFrame>
      <p:sp>
        <p:nvSpPr>
          <p:cNvPr id="4" name="Content Placeholder 3">
            <a:extLst>
              <a:ext uri="{FF2B5EF4-FFF2-40B4-BE49-F238E27FC236}">
                <a16:creationId xmlns:a16="http://schemas.microsoft.com/office/drawing/2014/main" id="{46FB4FF0-16D1-4449-ADC9-FCA09A730D4C}"/>
              </a:ext>
            </a:extLst>
          </p:cNvPr>
          <p:cNvSpPr>
            <a:spLocks noGrp="1"/>
          </p:cNvSpPr>
          <p:nvPr>
            <p:ph sz="half" idx="2"/>
          </p:nvPr>
        </p:nvSpPr>
        <p:spPr/>
        <p:txBody>
          <a:bodyPr/>
          <a:lstStyle/>
          <a:p>
            <a:r>
              <a:rPr lang="en-US" dirty="0"/>
              <a:t>As the size of the kernel increases, this becomes true for even more pixels</a:t>
            </a:r>
          </a:p>
          <a:p>
            <a:r>
              <a:rPr lang="en-US" dirty="0"/>
              <a:t>For example, let's consider a 5 x 5 kernel</a:t>
            </a:r>
          </a:p>
          <a:p>
            <a:endParaRPr lang="en-US" dirty="0"/>
          </a:p>
        </p:txBody>
      </p:sp>
      <p:graphicFrame>
        <p:nvGraphicFramePr>
          <p:cNvPr id="10" name="Table 9">
            <a:extLst>
              <a:ext uri="{FF2B5EF4-FFF2-40B4-BE49-F238E27FC236}">
                <a16:creationId xmlns:a16="http://schemas.microsoft.com/office/drawing/2014/main" id="{7371817D-5CEB-4254-B084-CDFA97547BF1}"/>
              </a:ext>
            </a:extLst>
          </p:cNvPr>
          <p:cNvGraphicFramePr>
            <a:graphicFrameLocks/>
          </p:cNvGraphicFramePr>
          <p:nvPr>
            <p:extLst>
              <p:ext uri="{D42A27DB-BD31-4B8C-83A1-F6EECF244321}">
                <p14:modId xmlns:p14="http://schemas.microsoft.com/office/powerpoint/2010/main" val="3568878191"/>
              </p:ext>
            </p:extLst>
          </p:nvPr>
        </p:nvGraphicFramePr>
        <p:xfrm>
          <a:off x="4892710" y="2615875"/>
          <a:ext cx="1172139" cy="1146873"/>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tblGrid>
              <a:tr h="382291">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253089178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24686767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22307687"/>
                  </a:ext>
                </a:extLst>
              </a:tr>
            </a:tbl>
          </a:graphicData>
        </a:graphic>
      </p:graphicFrame>
      <p:graphicFrame>
        <p:nvGraphicFramePr>
          <p:cNvPr id="11" name="Table 10">
            <a:extLst>
              <a:ext uri="{FF2B5EF4-FFF2-40B4-BE49-F238E27FC236}">
                <a16:creationId xmlns:a16="http://schemas.microsoft.com/office/drawing/2014/main" id="{2CF008FC-F4B5-408C-AED6-F56A478D2140}"/>
              </a:ext>
            </a:extLst>
          </p:cNvPr>
          <p:cNvGraphicFramePr>
            <a:graphicFrameLocks/>
          </p:cNvGraphicFramePr>
          <p:nvPr>
            <p:extLst>
              <p:ext uri="{D42A27DB-BD31-4B8C-83A1-F6EECF244321}">
                <p14:modId xmlns:p14="http://schemas.microsoft.com/office/powerpoint/2010/main" val="1172808973"/>
              </p:ext>
            </p:extLst>
          </p:nvPr>
        </p:nvGraphicFramePr>
        <p:xfrm>
          <a:off x="1752605" y="2965118"/>
          <a:ext cx="1904004" cy="1888245"/>
        </p:xfrm>
        <a:graphic>
          <a:graphicData uri="http://schemas.openxmlformats.org/drawingml/2006/table">
            <a:tbl>
              <a:tblPr firstRow="1" bandRow="1">
                <a:tableStyleId>{5940675A-B579-460E-94D1-54222C63F5DA}</a:tableStyleId>
              </a:tblPr>
              <a:tblGrid>
                <a:gridCol w="380528">
                  <a:extLst>
                    <a:ext uri="{9D8B030D-6E8A-4147-A177-3AD203B41FA5}">
                      <a16:colId xmlns:a16="http://schemas.microsoft.com/office/drawing/2014/main" val="2325746083"/>
                    </a:ext>
                  </a:extLst>
                </a:gridCol>
                <a:gridCol w="380528">
                  <a:extLst>
                    <a:ext uri="{9D8B030D-6E8A-4147-A177-3AD203B41FA5}">
                      <a16:colId xmlns:a16="http://schemas.microsoft.com/office/drawing/2014/main" val="1306752537"/>
                    </a:ext>
                  </a:extLst>
                </a:gridCol>
                <a:gridCol w="380528">
                  <a:extLst>
                    <a:ext uri="{9D8B030D-6E8A-4147-A177-3AD203B41FA5}">
                      <a16:colId xmlns:a16="http://schemas.microsoft.com/office/drawing/2014/main" val="879769399"/>
                    </a:ext>
                  </a:extLst>
                </a:gridCol>
                <a:gridCol w="381892">
                  <a:extLst>
                    <a:ext uri="{9D8B030D-6E8A-4147-A177-3AD203B41FA5}">
                      <a16:colId xmlns:a16="http://schemas.microsoft.com/office/drawing/2014/main" val="485200780"/>
                    </a:ext>
                  </a:extLst>
                </a:gridCol>
                <a:gridCol w="380528">
                  <a:extLst>
                    <a:ext uri="{9D8B030D-6E8A-4147-A177-3AD203B41FA5}">
                      <a16:colId xmlns:a16="http://schemas.microsoft.com/office/drawing/2014/main" val="3573532022"/>
                    </a:ext>
                  </a:extLst>
                </a:gridCol>
              </a:tblGrid>
              <a:tr h="377649">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extLst>
                  <a:ext uri="{0D108BD9-81ED-4DB2-BD59-A6C34878D82A}">
                    <a16:rowId xmlns:a16="http://schemas.microsoft.com/office/drawing/2014/main" val="2530891781"/>
                  </a:ext>
                </a:extLst>
              </a:tr>
              <a:tr h="377649">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extLst>
                  <a:ext uri="{0D108BD9-81ED-4DB2-BD59-A6C34878D82A}">
                    <a16:rowId xmlns:a16="http://schemas.microsoft.com/office/drawing/2014/main" val="1246867671"/>
                  </a:ext>
                </a:extLst>
              </a:tr>
              <a:tr h="377649">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r>
                        <a:rPr lang="en-US" dirty="0">
                          <a:solidFill>
                            <a:srgbClr val="FF0000"/>
                          </a:solidFill>
                        </a:rPr>
                        <a:t>X</a:t>
                      </a:r>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extLst>
                  <a:ext uri="{0D108BD9-81ED-4DB2-BD59-A6C34878D82A}">
                    <a16:rowId xmlns:a16="http://schemas.microsoft.com/office/drawing/2014/main" val="122307687"/>
                  </a:ext>
                </a:extLst>
              </a:tr>
              <a:tr h="377649">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extLst>
                  <a:ext uri="{0D108BD9-81ED-4DB2-BD59-A6C34878D82A}">
                    <a16:rowId xmlns:a16="http://schemas.microsoft.com/office/drawing/2014/main" val="3556129137"/>
                  </a:ext>
                </a:extLst>
              </a:tr>
              <a:tr h="377649">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extLst>
                  <a:ext uri="{0D108BD9-81ED-4DB2-BD59-A6C34878D82A}">
                    <a16:rowId xmlns:a16="http://schemas.microsoft.com/office/drawing/2014/main" val="970405959"/>
                  </a:ext>
                </a:extLst>
              </a:tr>
            </a:tbl>
          </a:graphicData>
        </a:graphic>
      </p:graphicFrame>
      <p:sp>
        <p:nvSpPr>
          <p:cNvPr id="3" name="Oval 2">
            <a:extLst>
              <a:ext uri="{FF2B5EF4-FFF2-40B4-BE49-F238E27FC236}">
                <a16:creationId xmlns:a16="http://schemas.microsoft.com/office/drawing/2014/main" id="{5192DD35-6300-4A35-804B-30E5F3BEA32E}"/>
              </a:ext>
            </a:extLst>
          </p:cNvPr>
          <p:cNvSpPr/>
          <p:nvPr/>
        </p:nvSpPr>
        <p:spPr>
          <a:xfrm>
            <a:off x="4963050" y="2659312"/>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Equals 4">
            <a:extLst>
              <a:ext uri="{FF2B5EF4-FFF2-40B4-BE49-F238E27FC236}">
                <a16:creationId xmlns:a16="http://schemas.microsoft.com/office/drawing/2014/main" id="{038550AA-ED90-42C8-B086-5191944C3C92}"/>
              </a:ext>
            </a:extLst>
          </p:cNvPr>
          <p:cNvSpPr/>
          <p:nvPr/>
        </p:nvSpPr>
        <p:spPr>
          <a:xfrm>
            <a:off x="4220304" y="2972497"/>
            <a:ext cx="602064" cy="422031"/>
          </a:xfrm>
          <a:prstGeom prst="mathEqual">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
        <p:nvSpPr>
          <p:cNvPr id="12" name="Oval 11">
            <a:extLst>
              <a:ext uri="{FF2B5EF4-FFF2-40B4-BE49-F238E27FC236}">
                <a16:creationId xmlns:a16="http://schemas.microsoft.com/office/drawing/2014/main" id="{200D0E85-A3AC-40E2-8347-26290B8665A7}"/>
              </a:ext>
            </a:extLst>
          </p:cNvPr>
          <p:cNvSpPr/>
          <p:nvPr/>
        </p:nvSpPr>
        <p:spPr>
          <a:xfrm>
            <a:off x="5340535" y="2656964"/>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43C010F2-93F2-4A91-A638-75B4670CEB2C}"/>
              </a:ext>
            </a:extLst>
          </p:cNvPr>
          <p:cNvSpPr/>
          <p:nvPr/>
        </p:nvSpPr>
        <p:spPr>
          <a:xfrm>
            <a:off x="5746156" y="2654616"/>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86C18319-2BE6-4A08-97E0-860532DDB55E}"/>
              </a:ext>
            </a:extLst>
          </p:cNvPr>
          <p:cNvSpPr/>
          <p:nvPr/>
        </p:nvSpPr>
        <p:spPr>
          <a:xfrm>
            <a:off x="4960704" y="3050862"/>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6625DA75-036C-4216-8605-657F5BFC7E5B}"/>
              </a:ext>
            </a:extLst>
          </p:cNvPr>
          <p:cNvSpPr/>
          <p:nvPr/>
        </p:nvSpPr>
        <p:spPr>
          <a:xfrm>
            <a:off x="5338189" y="3048514"/>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445EFA58-2B69-4A92-BD33-9F6C3A95E415}"/>
              </a:ext>
            </a:extLst>
          </p:cNvPr>
          <p:cNvSpPr/>
          <p:nvPr/>
        </p:nvSpPr>
        <p:spPr>
          <a:xfrm>
            <a:off x="5743810" y="3046166"/>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FB12E2C9-7922-4922-8903-F81A84644ACD}"/>
              </a:ext>
            </a:extLst>
          </p:cNvPr>
          <p:cNvSpPr/>
          <p:nvPr/>
        </p:nvSpPr>
        <p:spPr>
          <a:xfrm>
            <a:off x="4972424" y="3428347"/>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EEE92C30-35F7-4A68-9835-A4187BAD8093}"/>
              </a:ext>
            </a:extLst>
          </p:cNvPr>
          <p:cNvSpPr/>
          <p:nvPr/>
        </p:nvSpPr>
        <p:spPr>
          <a:xfrm>
            <a:off x="5349909" y="3425999"/>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0D1D4230-7BDB-4692-AB8D-84CDC54B87BA}"/>
              </a:ext>
            </a:extLst>
          </p:cNvPr>
          <p:cNvSpPr/>
          <p:nvPr/>
        </p:nvSpPr>
        <p:spPr>
          <a:xfrm>
            <a:off x="5755530" y="3423651"/>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1407044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5A970-D3FC-4B0F-A9B9-55F8EB30EB8E}"/>
              </a:ext>
            </a:extLst>
          </p:cNvPr>
          <p:cNvSpPr>
            <a:spLocks noGrp="1"/>
          </p:cNvSpPr>
          <p:nvPr>
            <p:ph type="title"/>
          </p:nvPr>
        </p:nvSpPr>
        <p:spPr>
          <a:xfrm>
            <a:off x="838200" y="365125"/>
            <a:ext cx="10515600" cy="728179"/>
          </a:xfrm>
        </p:spPr>
        <p:txBody>
          <a:bodyPr/>
          <a:lstStyle/>
          <a:p>
            <a:pPr algn="ctr"/>
            <a:r>
              <a:rPr lang="en-US" dirty="0"/>
              <a:t>Calculation of Output Dimension</a:t>
            </a:r>
          </a:p>
        </p:txBody>
      </p:sp>
      <p:graphicFrame>
        <p:nvGraphicFramePr>
          <p:cNvPr id="9" name="Table 9">
            <a:extLst>
              <a:ext uri="{FF2B5EF4-FFF2-40B4-BE49-F238E27FC236}">
                <a16:creationId xmlns:a16="http://schemas.microsoft.com/office/drawing/2014/main" id="{EA01B71A-6B5D-40C0-889A-126145B38D68}"/>
              </a:ext>
            </a:extLst>
          </p:cNvPr>
          <p:cNvGraphicFramePr>
            <a:graphicFrameLocks noGrp="1"/>
          </p:cNvGraphicFramePr>
          <p:nvPr>
            <p:ph sz="half" idx="1"/>
          </p:nvPr>
        </p:nvGraphicFramePr>
        <p:xfrm>
          <a:off x="556843" y="1825624"/>
          <a:ext cx="2734991" cy="2676037"/>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gridCol w="390713">
                  <a:extLst>
                    <a:ext uri="{9D8B030D-6E8A-4147-A177-3AD203B41FA5}">
                      <a16:colId xmlns:a16="http://schemas.microsoft.com/office/drawing/2014/main" val="2185225175"/>
                    </a:ext>
                  </a:extLst>
                </a:gridCol>
                <a:gridCol w="390713">
                  <a:extLst>
                    <a:ext uri="{9D8B030D-6E8A-4147-A177-3AD203B41FA5}">
                      <a16:colId xmlns:a16="http://schemas.microsoft.com/office/drawing/2014/main" val="2001228772"/>
                    </a:ext>
                  </a:extLst>
                </a:gridCol>
                <a:gridCol w="390713">
                  <a:extLst>
                    <a:ext uri="{9D8B030D-6E8A-4147-A177-3AD203B41FA5}">
                      <a16:colId xmlns:a16="http://schemas.microsoft.com/office/drawing/2014/main" val="4010749547"/>
                    </a:ext>
                  </a:extLst>
                </a:gridCol>
                <a:gridCol w="390713">
                  <a:extLst>
                    <a:ext uri="{9D8B030D-6E8A-4147-A177-3AD203B41FA5}">
                      <a16:colId xmlns:a16="http://schemas.microsoft.com/office/drawing/2014/main" val="1701568956"/>
                    </a:ext>
                  </a:extLst>
                </a:gridCol>
              </a:tblGrid>
              <a:tr h="382291">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253089178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4686767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2307687"/>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327148248"/>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3807760174"/>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89591463"/>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844451045"/>
                  </a:ext>
                </a:extLst>
              </a:tr>
            </a:tbl>
          </a:graphicData>
        </a:graphic>
      </p:graphicFrame>
      <p:sp>
        <p:nvSpPr>
          <p:cNvPr id="4" name="Content Placeholder 3">
            <a:extLst>
              <a:ext uri="{FF2B5EF4-FFF2-40B4-BE49-F238E27FC236}">
                <a16:creationId xmlns:a16="http://schemas.microsoft.com/office/drawing/2014/main" id="{46FB4FF0-16D1-4449-ADC9-FCA09A730D4C}"/>
              </a:ext>
            </a:extLst>
          </p:cNvPr>
          <p:cNvSpPr>
            <a:spLocks noGrp="1"/>
          </p:cNvSpPr>
          <p:nvPr>
            <p:ph sz="half" idx="2"/>
          </p:nvPr>
        </p:nvSpPr>
        <p:spPr/>
        <p:txBody>
          <a:bodyPr/>
          <a:lstStyle/>
          <a:p>
            <a:r>
              <a:rPr lang="en-US" dirty="0"/>
              <a:t>As the size of the kernel increases, this becomes true for even more pixels</a:t>
            </a:r>
          </a:p>
          <a:p>
            <a:r>
              <a:rPr lang="en-US" dirty="0"/>
              <a:t>For example, let's consider a 5 x 5 kernel</a:t>
            </a:r>
          </a:p>
          <a:p>
            <a:endParaRPr lang="en-US" dirty="0"/>
          </a:p>
        </p:txBody>
      </p:sp>
      <p:graphicFrame>
        <p:nvGraphicFramePr>
          <p:cNvPr id="10" name="Table 9">
            <a:extLst>
              <a:ext uri="{FF2B5EF4-FFF2-40B4-BE49-F238E27FC236}">
                <a16:creationId xmlns:a16="http://schemas.microsoft.com/office/drawing/2014/main" id="{7371817D-5CEB-4254-B084-CDFA97547BF1}"/>
              </a:ext>
            </a:extLst>
          </p:cNvPr>
          <p:cNvGraphicFramePr>
            <a:graphicFrameLocks/>
          </p:cNvGraphicFramePr>
          <p:nvPr/>
        </p:nvGraphicFramePr>
        <p:xfrm>
          <a:off x="4892710" y="2615875"/>
          <a:ext cx="1172139" cy="1146873"/>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tblGrid>
              <a:tr h="382291">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253089178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24686767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22307687"/>
                  </a:ext>
                </a:extLst>
              </a:tr>
            </a:tbl>
          </a:graphicData>
        </a:graphic>
      </p:graphicFrame>
      <p:graphicFrame>
        <p:nvGraphicFramePr>
          <p:cNvPr id="11" name="Table 10">
            <a:extLst>
              <a:ext uri="{FF2B5EF4-FFF2-40B4-BE49-F238E27FC236}">
                <a16:creationId xmlns:a16="http://schemas.microsoft.com/office/drawing/2014/main" id="{2CF008FC-F4B5-408C-AED6-F56A478D2140}"/>
              </a:ext>
            </a:extLst>
          </p:cNvPr>
          <p:cNvGraphicFramePr>
            <a:graphicFrameLocks/>
          </p:cNvGraphicFramePr>
          <p:nvPr>
            <p:extLst>
              <p:ext uri="{D42A27DB-BD31-4B8C-83A1-F6EECF244321}">
                <p14:modId xmlns:p14="http://schemas.microsoft.com/office/powerpoint/2010/main" val="1185902976"/>
              </p:ext>
            </p:extLst>
          </p:nvPr>
        </p:nvGraphicFramePr>
        <p:xfrm>
          <a:off x="2132435" y="3344951"/>
          <a:ext cx="1904004" cy="1888245"/>
        </p:xfrm>
        <a:graphic>
          <a:graphicData uri="http://schemas.openxmlformats.org/drawingml/2006/table">
            <a:tbl>
              <a:tblPr firstRow="1" bandRow="1">
                <a:tableStyleId>{5940675A-B579-460E-94D1-54222C63F5DA}</a:tableStyleId>
              </a:tblPr>
              <a:tblGrid>
                <a:gridCol w="380528">
                  <a:extLst>
                    <a:ext uri="{9D8B030D-6E8A-4147-A177-3AD203B41FA5}">
                      <a16:colId xmlns:a16="http://schemas.microsoft.com/office/drawing/2014/main" val="2325746083"/>
                    </a:ext>
                  </a:extLst>
                </a:gridCol>
                <a:gridCol w="380528">
                  <a:extLst>
                    <a:ext uri="{9D8B030D-6E8A-4147-A177-3AD203B41FA5}">
                      <a16:colId xmlns:a16="http://schemas.microsoft.com/office/drawing/2014/main" val="1306752537"/>
                    </a:ext>
                  </a:extLst>
                </a:gridCol>
                <a:gridCol w="380528">
                  <a:extLst>
                    <a:ext uri="{9D8B030D-6E8A-4147-A177-3AD203B41FA5}">
                      <a16:colId xmlns:a16="http://schemas.microsoft.com/office/drawing/2014/main" val="879769399"/>
                    </a:ext>
                  </a:extLst>
                </a:gridCol>
                <a:gridCol w="381892">
                  <a:extLst>
                    <a:ext uri="{9D8B030D-6E8A-4147-A177-3AD203B41FA5}">
                      <a16:colId xmlns:a16="http://schemas.microsoft.com/office/drawing/2014/main" val="485200780"/>
                    </a:ext>
                  </a:extLst>
                </a:gridCol>
                <a:gridCol w="380528">
                  <a:extLst>
                    <a:ext uri="{9D8B030D-6E8A-4147-A177-3AD203B41FA5}">
                      <a16:colId xmlns:a16="http://schemas.microsoft.com/office/drawing/2014/main" val="3573532022"/>
                    </a:ext>
                  </a:extLst>
                </a:gridCol>
              </a:tblGrid>
              <a:tr h="377649">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extLst>
                  <a:ext uri="{0D108BD9-81ED-4DB2-BD59-A6C34878D82A}">
                    <a16:rowId xmlns:a16="http://schemas.microsoft.com/office/drawing/2014/main" val="2530891781"/>
                  </a:ext>
                </a:extLst>
              </a:tr>
              <a:tr h="377649">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extLst>
                  <a:ext uri="{0D108BD9-81ED-4DB2-BD59-A6C34878D82A}">
                    <a16:rowId xmlns:a16="http://schemas.microsoft.com/office/drawing/2014/main" val="1246867671"/>
                  </a:ext>
                </a:extLst>
              </a:tr>
              <a:tr h="377649">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r>
                        <a:rPr lang="en-US" dirty="0">
                          <a:solidFill>
                            <a:srgbClr val="FF0000"/>
                          </a:solidFill>
                        </a:rPr>
                        <a:t>X</a:t>
                      </a:r>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extLst>
                  <a:ext uri="{0D108BD9-81ED-4DB2-BD59-A6C34878D82A}">
                    <a16:rowId xmlns:a16="http://schemas.microsoft.com/office/drawing/2014/main" val="122307687"/>
                  </a:ext>
                </a:extLst>
              </a:tr>
              <a:tr h="377649">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extLst>
                  <a:ext uri="{0D108BD9-81ED-4DB2-BD59-A6C34878D82A}">
                    <a16:rowId xmlns:a16="http://schemas.microsoft.com/office/drawing/2014/main" val="3556129137"/>
                  </a:ext>
                </a:extLst>
              </a:tr>
              <a:tr h="377649">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solidFill>
                        <a:srgbClr val="0217DC"/>
                      </a:solidFill>
                      <a:prstDash val="solid"/>
                      <a:round/>
                      <a:headEnd type="none" w="med" len="med"/>
                      <a:tailEnd type="none" w="med" len="med"/>
                    </a:lnB>
                  </a:tcPr>
                </a:tc>
                <a:extLst>
                  <a:ext uri="{0D108BD9-81ED-4DB2-BD59-A6C34878D82A}">
                    <a16:rowId xmlns:a16="http://schemas.microsoft.com/office/drawing/2014/main" val="970405959"/>
                  </a:ext>
                </a:extLst>
              </a:tr>
            </a:tbl>
          </a:graphicData>
        </a:graphic>
      </p:graphicFrame>
      <p:sp>
        <p:nvSpPr>
          <p:cNvPr id="3" name="Oval 2">
            <a:extLst>
              <a:ext uri="{FF2B5EF4-FFF2-40B4-BE49-F238E27FC236}">
                <a16:creationId xmlns:a16="http://schemas.microsoft.com/office/drawing/2014/main" id="{5192DD35-6300-4A35-804B-30E5F3BEA32E}"/>
              </a:ext>
            </a:extLst>
          </p:cNvPr>
          <p:cNvSpPr/>
          <p:nvPr/>
        </p:nvSpPr>
        <p:spPr>
          <a:xfrm>
            <a:off x="4963050" y="2659312"/>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Equals 4">
            <a:extLst>
              <a:ext uri="{FF2B5EF4-FFF2-40B4-BE49-F238E27FC236}">
                <a16:creationId xmlns:a16="http://schemas.microsoft.com/office/drawing/2014/main" id="{038550AA-ED90-42C8-B086-5191944C3C92}"/>
              </a:ext>
            </a:extLst>
          </p:cNvPr>
          <p:cNvSpPr/>
          <p:nvPr/>
        </p:nvSpPr>
        <p:spPr>
          <a:xfrm>
            <a:off x="4220304" y="2972497"/>
            <a:ext cx="602064" cy="422031"/>
          </a:xfrm>
          <a:prstGeom prst="mathEqual">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
        <p:nvSpPr>
          <p:cNvPr id="12" name="Oval 11">
            <a:extLst>
              <a:ext uri="{FF2B5EF4-FFF2-40B4-BE49-F238E27FC236}">
                <a16:creationId xmlns:a16="http://schemas.microsoft.com/office/drawing/2014/main" id="{200D0E85-A3AC-40E2-8347-26290B8665A7}"/>
              </a:ext>
            </a:extLst>
          </p:cNvPr>
          <p:cNvSpPr/>
          <p:nvPr/>
        </p:nvSpPr>
        <p:spPr>
          <a:xfrm>
            <a:off x="5340535" y="2656964"/>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43C010F2-93F2-4A91-A638-75B4670CEB2C}"/>
              </a:ext>
            </a:extLst>
          </p:cNvPr>
          <p:cNvSpPr/>
          <p:nvPr/>
        </p:nvSpPr>
        <p:spPr>
          <a:xfrm>
            <a:off x="5746156" y="2654616"/>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86C18319-2BE6-4A08-97E0-860532DDB55E}"/>
              </a:ext>
            </a:extLst>
          </p:cNvPr>
          <p:cNvSpPr/>
          <p:nvPr/>
        </p:nvSpPr>
        <p:spPr>
          <a:xfrm>
            <a:off x="4960704" y="3050862"/>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6625DA75-036C-4216-8605-657F5BFC7E5B}"/>
              </a:ext>
            </a:extLst>
          </p:cNvPr>
          <p:cNvSpPr/>
          <p:nvPr/>
        </p:nvSpPr>
        <p:spPr>
          <a:xfrm>
            <a:off x="5338189" y="3048514"/>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445EFA58-2B69-4A92-BD33-9F6C3A95E415}"/>
              </a:ext>
            </a:extLst>
          </p:cNvPr>
          <p:cNvSpPr/>
          <p:nvPr/>
        </p:nvSpPr>
        <p:spPr>
          <a:xfrm>
            <a:off x="5743810" y="3046166"/>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FB12E2C9-7922-4922-8903-F81A84644ACD}"/>
              </a:ext>
            </a:extLst>
          </p:cNvPr>
          <p:cNvSpPr/>
          <p:nvPr/>
        </p:nvSpPr>
        <p:spPr>
          <a:xfrm>
            <a:off x="4972424" y="3428347"/>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EEE92C30-35F7-4A68-9835-A4187BAD8093}"/>
              </a:ext>
            </a:extLst>
          </p:cNvPr>
          <p:cNvSpPr/>
          <p:nvPr/>
        </p:nvSpPr>
        <p:spPr>
          <a:xfrm>
            <a:off x="5349909" y="3425999"/>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0D1D4230-7BDB-4692-AB8D-84CDC54B87BA}"/>
              </a:ext>
            </a:extLst>
          </p:cNvPr>
          <p:cNvSpPr/>
          <p:nvPr/>
        </p:nvSpPr>
        <p:spPr>
          <a:xfrm>
            <a:off x="5755530" y="3423651"/>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8979217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5A970-D3FC-4B0F-A9B9-55F8EB30EB8E}"/>
              </a:ext>
            </a:extLst>
          </p:cNvPr>
          <p:cNvSpPr>
            <a:spLocks noGrp="1"/>
          </p:cNvSpPr>
          <p:nvPr>
            <p:ph type="title"/>
          </p:nvPr>
        </p:nvSpPr>
        <p:spPr/>
        <p:txBody>
          <a:bodyPr/>
          <a:lstStyle/>
          <a:p>
            <a:pPr algn="ctr"/>
            <a:r>
              <a:rPr lang="en-US" dirty="0"/>
              <a:t>Calculation of Output Dimension</a:t>
            </a:r>
          </a:p>
        </p:txBody>
      </p:sp>
      <p:graphicFrame>
        <p:nvGraphicFramePr>
          <p:cNvPr id="9" name="Table 9">
            <a:extLst>
              <a:ext uri="{FF2B5EF4-FFF2-40B4-BE49-F238E27FC236}">
                <a16:creationId xmlns:a16="http://schemas.microsoft.com/office/drawing/2014/main" id="{EA01B71A-6B5D-40C0-889A-126145B38D68}"/>
              </a:ext>
            </a:extLst>
          </p:cNvPr>
          <p:cNvGraphicFramePr>
            <a:graphicFrameLocks noGrp="1"/>
          </p:cNvGraphicFramePr>
          <p:nvPr>
            <p:ph sz="half" idx="1"/>
            <p:extLst>
              <p:ext uri="{D42A27DB-BD31-4B8C-83A1-F6EECF244321}">
                <p14:modId xmlns:p14="http://schemas.microsoft.com/office/powerpoint/2010/main" val="3043308815"/>
              </p:ext>
            </p:extLst>
          </p:nvPr>
        </p:nvGraphicFramePr>
        <p:xfrm>
          <a:off x="556843" y="1825624"/>
          <a:ext cx="2734991" cy="2676037"/>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gridCol w="390713">
                  <a:extLst>
                    <a:ext uri="{9D8B030D-6E8A-4147-A177-3AD203B41FA5}">
                      <a16:colId xmlns:a16="http://schemas.microsoft.com/office/drawing/2014/main" val="2185225175"/>
                    </a:ext>
                  </a:extLst>
                </a:gridCol>
                <a:gridCol w="390713">
                  <a:extLst>
                    <a:ext uri="{9D8B030D-6E8A-4147-A177-3AD203B41FA5}">
                      <a16:colId xmlns:a16="http://schemas.microsoft.com/office/drawing/2014/main" val="2001228772"/>
                    </a:ext>
                  </a:extLst>
                </a:gridCol>
                <a:gridCol w="390713">
                  <a:extLst>
                    <a:ext uri="{9D8B030D-6E8A-4147-A177-3AD203B41FA5}">
                      <a16:colId xmlns:a16="http://schemas.microsoft.com/office/drawing/2014/main" val="4010749547"/>
                    </a:ext>
                  </a:extLst>
                </a:gridCol>
                <a:gridCol w="390713">
                  <a:extLst>
                    <a:ext uri="{9D8B030D-6E8A-4147-A177-3AD203B41FA5}">
                      <a16:colId xmlns:a16="http://schemas.microsoft.com/office/drawing/2014/main" val="1701568956"/>
                    </a:ext>
                  </a:extLst>
                </a:gridCol>
              </a:tblGrid>
              <a:tr h="382291">
                <a:tc>
                  <a:txBody>
                    <a:bodyPr/>
                    <a:lstStyle/>
                    <a:p>
                      <a:pPr algn="ctr"/>
                      <a:endParaRPr lang="en-US" dirty="0"/>
                    </a:p>
                  </a:txBody>
                  <a:tcPr anchor="ctr">
                    <a:solidFill>
                      <a:schemeClr val="bg1">
                        <a:lumMod val="50000"/>
                      </a:schemeClr>
                    </a:solidFill>
                  </a:tcPr>
                </a:tc>
                <a:tc>
                  <a:txBody>
                    <a:bodyPr/>
                    <a:lstStyle/>
                    <a:p>
                      <a:pPr algn="ctr"/>
                      <a:endParaRPr lang="en-US"/>
                    </a:p>
                  </a:txBody>
                  <a:tcPr anchor="ctr">
                    <a:solidFill>
                      <a:schemeClr val="bg1">
                        <a:lumMod val="50000"/>
                      </a:schemeClr>
                    </a:solidFill>
                  </a:tcPr>
                </a:tc>
                <a:tc>
                  <a:txBody>
                    <a:bodyPr/>
                    <a:lstStyle/>
                    <a:p>
                      <a:pPr algn="ctr"/>
                      <a:endParaRPr lang="en-US" dirty="0"/>
                    </a:p>
                  </a:txBody>
                  <a:tcPr anchor="ctr">
                    <a:solidFill>
                      <a:schemeClr val="bg1">
                        <a:lumMod val="50000"/>
                      </a:schemeClr>
                    </a:solidFill>
                  </a:tcPr>
                </a:tc>
                <a:tc>
                  <a:txBody>
                    <a:bodyPr/>
                    <a:lstStyle/>
                    <a:p>
                      <a:pPr algn="ctr"/>
                      <a:endParaRPr lang="en-US" dirty="0"/>
                    </a:p>
                  </a:txBody>
                  <a:tcPr anchor="ctr">
                    <a:solidFill>
                      <a:schemeClr val="bg1">
                        <a:lumMod val="50000"/>
                      </a:schemeClr>
                    </a:solidFill>
                  </a:tcPr>
                </a:tc>
                <a:tc>
                  <a:txBody>
                    <a:bodyPr/>
                    <a:lstStyle/>
                    <a:p>
                      <a:pPr algn="ctr"/>
                      <a:endParaRPr lang="en-US" dirty="0"/>
                    </a:p>
                  </a:txBody>
                  <a:tcPr anchor="ctr">
                    <a:solidFill>
                      <a:schemeClr val="bg1">
                        <a:lumMod val="50000"/>
                      </a:schemeClr>
                    </a:solidFill>
                  </a:tcPr>
                </a:tc>
                <a:tc>
                  <a:txBody>
                    <a:bodyPr/>
                    <a:lstStyle/>
                    <a:p>
                      <a:pPr algn="ctr"/>
                      <a:endParaRPr lang="en-US" dirty="0"/>
                    </a:p>
                  </a:txBody>
                  <a:tcPr anchor="ctr">
                    <a:solidFill>
                      <a:schemeClr val="bg1">
                        <a:lumMod val="50000"/>
                      </a:schemeClr>
                    </a:solidFill>
                  </a:tcPr>
                </a:tc>
                <a:tc>
                  <a:txBody>
                    <a:bodyPr/>
                    <a:lstStyle/>
                    <a:p>
                      <a:pPr algn="ctr"/>
                      <a:endParaRPr lang="en-US" dirty="0"/>
                    </a:p>
                  </a:txBody>
                  <a:tcPr anchor="ctr">
                    <a:solidFill>
                      <a:schemeClr val="bg1">
                        <a:lumMod val="50000"/>
                      </a:schemeClr>
                    </a:solidFill>
                  </a:tcPr>
                </a:tc>
                <a:extLst>
                  <a:ext uri="{0D108BD9-81ED-4DB2-BD59-A6C34878D82A}">
                    <a16:rowId xmlns:a16="http://schemas.microsoft.com/office/drawing/2014/main" val="2530891781"/>
                  </a:ext>
                </a:extLst>
              </a:tr>
              <a:tr h="382291">
                <a:tc>
                  <a:txBody>
                    <a:bodyPr/>
                    <a:lstStyle/>
                    <a:p>
                      <a:pPr algn="ctr"/>
                      <a:endParaRPr lang="en-US" dirty="0"/>
                    </a:p>
                  </a:txBody>
                  <a:tcPr anchor="ctr">
                    <a:solidFill>
                      <a:schemeClr val="bg1">
                        <a:lumMod val="50000"/>
                      </a:schemeClr>
                    </a:solidFill>
                  </a:tcPr>
                </a:tc>
                <a:tc>
                  <a:txBody>
                    <a:bodyPr/>
                    <a:lstStyle/>
                    <a:p>
                      <a:pPr algn="ctr"/>
                      <a:endParaRPr lang="en-US" dirty="0"/>
                    </a:p>
                  </a:txBody>
                  <a:tcPr anchor="ctr">
                    <a:solidFill>
                      <a:schemeClr val="bg1">
                        <a:lumMod val="75000"/>
                      </a:schemeClr>
                    </a:solidFill>
                  </a:tcPr>
                </a:tc>
                <a:tc>
                  <a:txBody>
                    <a:bodyPr/>
                    <a:lstStyle/>
                    <a:p>
                      <a:pPr algn="ctr"/>
                      <a:endParaRPr lang="en-US" dirty="0"/>
                    </a:p>
                  </a:txBody>
                  <a:tcPr anchor="ctr">
                    <a:solidFill>
                      <a:schemeClr val="bg1">
                        <a:lumMod val="75000"/>
                      </a:schemeClr>
                    </a:solidFill>
                  </a:tcPr>
                </a:tc>
                <a:tc>
                  <a:txBody>
                    <a:bodyPr/>
                    <a:lstStyle/>
                    <a:p>
                      <a:pPr algn="ctr"/>
                      <a:endParaRPr lang="en-US" dirty="0"/>
                    </a:p>
                  </a:txBody>
                  <a:tcPr anchor="ctr">
                    <a:solidFill>
                      <a:schemeClr val="bg1">
                        <a:lumMod val="75000"/>
                      </a:schemeClr>
                    </a:solidFill>
                  </a:tcPr>
                </a:tc>
                <a:tc>
                  <a:txBody>
                    <a:bodyPr/>
                    <a:lstStyle/>
                    <a:p>
                      <a:pPr algn="ctr"/>
                      <a:endParaRPr lang="en-US" dirty="0"/>
                    </a:p>
                  </a:txBody>
                  <a:tcPr anchor="ctr">
                    <a:solidFill>
                      <a:schemeClr val="bg1">
                        <a:lumMod val="75000"/>
                      </a:schemeClr>
                    </a:solidFill>
                  </a:tcPr>
                </a:tc>
                <a:tc>
                  <a:txBody>
                    <a:bodyPr/>
                    <a:lstStyle/>
                    <a:p>
                      <a:pPr algn="ctr"/>
                      <a:endParaRPr lang="en-US" dirty="0"/>
                    </a:p>
                  </a:txBody>
                  <a:tcPr anchor="ctr">
                    <a:solidFill>
                      <a:schemeClr val="bg1">
                        <a:lumMod val="75000"/>
                      </a:schemeClr>
                    </a:solidFill>
                  </a:tcPr>
                </a:tc>
                <a:tc>
                  <a:txBody>
                    <a:bodyPr/>
                    <a:lstStyle/>
                    <a:p>
                      <a:pPr algn="ctr"/>
                      <a:endParaRPr lang="en-US" dirty="0"/>
                    </a:p>
                  </a:txBody>
                  <a:tcPr anchor="ctr">
                    <a:solidFill>
                      <a:schemeClr val="bg1">
                        <a:lumMod val="50000"/>
                      </a:schemeClr>
                    </a:solidFill>
                  </a:tcPr>
                </a:tc>
                <a:extLst>
                  <a:ext uri="{0D108BD9-81ED-4DB2-BD59-A6C34878D82A}">
                    <a16:rowId xmlns:a16="http://schemas.microsoft.com/office/drawing/2014/main" val="1246867671"/>
                  </a:ext>
                </a:extLst>
              </a:tr>
              <a:tr h="382291">
                <a:tc>
                  <a:txBody>
                    <a:bodyPr/>
                    <a:lstStyle/>
                    <a:p>
                      <a:pPr algn="ctr"/>
                      <a:endParaRPr lang="en-US" dirty="0"/>
                    </a:p>
                  </a:txBody>
                  <a:tcPr anchor="ctr">
                    <a:solidFill>
                      <a:schemeClr val="bg1">
                        <a:lumMod val="50000"/>
                      </a:schemeClr>
                    </a:solidFill>
                  </a:tcPr>
                </a:tc>
                <a:tc>
                  <a:txBody>
                    <a:bodyPr/>
                    <a:lstStyle/>
                    <a:p>
                      <a:pPr algn="ctr"/>
                      <a:endParaRPr lang="en-US" dirty="0"/>
                    </a:p>
                  </a:txBody>
                  <a:tcPr anchor="ctr">
                    <a:solidFill>
                      <a:schemeClr val="bg1">
                        <a:lumMod val="75000"/>
                      </a:schemeClr>
                    </a:solidFill>
                  </a:tcP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solidFill>
                      <a:schemeClr val="bg1">
                        <a:lumMod val="75000"/>
                      </a:schemeClr>
                    </a:solidFill>
                  </a:tcPr>
                </a:tc>
                <a:tc>
                  <a:txBody>
                    <a:bodyPr/>
                    <a:lstStyle/>
                    <a:p>
                      <a:pPr algn="ctr"/>
                      <a:endParaRPr lang="en-US" dirty="0"/>
                    </a:p>
                  </a:txBody>
                  <a:tcPr anchor="ctr">
                    <a:solidFill>
                      <a:schemeClr val="bg1">
                        <a:lumMod val="50000"/>
                      </a:schemeClr>
                    </a:solidFill>
                  </a:tcPr>
                </a:tc>
                <a:extLst>
                  <a:ext uri="{0D108BD9-81ED-4DB2-BD59-A6C34878D82A}">
                    <a16:rowId xmlns:a16="http://schemas.microsoft.com/office/drawing/2014/main" val="122307687"/>
                  </a:ext>
                </a:extLst>
              </a:tr>
              <a:tr h="382291">
                <a:tc>
                  <a:txBody>
                    <a:bodyPr/>
                    <a:lstStyle/>
                    <a:p>
                      <a:pPr algn="ctr"/>
                      <a:endParaRPr lang="en-US" dirty="0"/>
                    </a:p>
                  </a:txBody>
                  <a:tcPr anchor="ctr">
                    <a:solidFill>
                      <a:schemeClr val="bg1">
                        <a:lumMod val="50000"/>
                      </a:schemeClr>
                    </a:solidFill>
                  </a:tcPr>
                </a:tc>
                <a:tc>
                  <a:txBody>
                    <a:bodyPr/>
                    <a:lstStyle/>
                    <a:p>
                      <a:pPr algn="ctr"/>
                      <a:endParaRPr lang="en-US" dirty="0"/>
                    </a:p>
                  </a:txBody>
                  <a:tcPr anchor="ctr">
                    <a:solidFill>
                      <a:schemeClr val="bg1">
                        <a:lumMod val="75000"/>
                      </a:schemeClr>
                    </a:solidFill>
                  </a:tcP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dirty="0"/>
                    </a:p>
                  </a:txBody>
                  <a:tcPr anchor="ctr">
                    <a:solidFill>
                      <a:schemeClr val="bg1">
                        <a:lumMod val="75000"/>
                      </a:schemeClr>
                    </a:solidFill>
                  </a:tcPr>
                </a:tc>
                <a:tc>
                  <a:txBody>
                    <a:bodyPr/>
                    <a:lstStyle/>
                    <a:p>
                      <a:pPr algn="ctr"/>
                      <a:endParaRPr lang="en-US" dirty="0"/>
                    </a:p>
                  </a:txBody>
                  <a:tcPr anchor="ctr">
                    <a:solidFill>
                      <a:schemeClr val="bg1">
                        <a:lumMod val="50000"/>
                      </a:schemeClr>
                    </a:solidFill>
                  </a:tcPr>
                </a:tc>
                <a:extLst>
                  <a:ext uri="{0D108BD9-81ED-4DB2-BD59-A6C34878D82A}">
                    <a16:rowId xmlns:a16="http://schemas.microsoft.com/office/drawing/2014/main" val="327148248"/>
                  </a:ext>
                </a:extLst>
              </a:tr>
              <a:tr h="382291">
                <a:tc>
                  <a:txBody>
                    <a:bodyPr/>
                    <a:lstStyle/>
                    <a:p>
                      <a:pPr algn="ctr"/>
                      <a:endParaRPr lang="en-US" dirty="0"/>
                    </a:p>
                  </a:txBody>
                  <a:tcPr anchor="ctr">
                    <a:solidFill>
                      <a:schemeClr val="bg1">
                        <a:lumMod val="50000"/>
                      </a:schemeClr>
                    </a:solidFill>
                  </a:tcPr>
                </a:tc>
                <a:tc>
                  <a:txBody>
                    <a:bodyPr/>
                    <a:lstStyle/>
                    <a:p>
                      <a:pPr algn="ctr"/>
                      <a:endParaRPr lang="en-US" dirty="0"/>
                    </a:p>
                  </a:txBody>
                  <a:tcPr anchor="ctr">
                    <a:solidFill>
                      <a:schemeClr val="bg1">
                        <a:lumMod val="75000"/>
                      </a:schemeClr>
                    </a:solidFill>
                  </a:tcP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solidFill>
                      <a:schemeClr val="bg1">
                        <a:lumMod val="75000"/>
                      </a:schemeClr>
                    </a:solidFill>
                  </a:tcPr>
                </a:tc>
                <a:tc>
                  <a:txBody>
                    <a:bodyPr/>
                    <a:lstStyle/>
                    <a:p>
                      <a:pPr algn="ctr"/>
                      <a:endParaRPr lang="en-US" dirty="0"/>
                    </a:p>
                  </a:txBody>
                  <a:tcPr anchor="ctr">
                    <a:solidFill>
                      <a:schemeClr val="bg1">
                        <a:lumMod val="50000"/>
                      </a:schemeClr>
                    </a:solidFill>
                  </a:tcPr>
                </a:tc>
                <a:extLst>
                  <a:ext uri="{0D108BD9-81ED-4DB2-BD59-A6C34878D82A}">
                    <a16:rowId xmlns:a16="http://schemas.microsoft.com/office/drawing/2014/main" val="3807760174"/>
                  </a:ext>
                </a:extLst>
              </a:tr>
              <a:tr h="382291">
                <a:tc>
                  <a:txBody>
                    <a:bodyPr/>
                    <a:lstStyle/>
                    <a:p>
                      <a:pPr algn="ctr"/>
                      <a:endParaRPr lang="en-US" dirty="0"/>
                    </a:p>
                  </a:txBody>
                  <a:tcPr anchor="ctr">
                    <a:solidFill>
                      <a:schemeClr val="bg1">
                        <a:lumMod val="50000"/>
                      </a:schemeClr>
                    </a:solidFill>
                  </a:tcPr>
                </a:tc>
                <a:tc>
                  <a:txBody>
                    <a:bodyPr/>
                    <a:lstStyle/>
                    <a:p>
                      <a:pPr algn="ctr"/>
                      <a:endParaRPr lang="en-US" dirty="0"/>
                    </a:p>
                  </a:txBody>
                  <a:tcPr anchor="ctr">
                    <a:solidFill>
                      <a:schemeClr val="bg1">
                        <a:lumMod val="75000"/>
                      </a:schemeClr>
                    </a:solidFill>
                  </a:tcPr>
                </a:tc>
                <a:tc>
                  <a:txBody>
                    <a:bodyPr/>
                    <a:lstStyle/>
                    <a:p>
                      <a:pPr algn="ctr"/>
                      <a:endParaRPr lang="en-US" dirty="0"/>
                    </a:p>
                  </a:txBody>
                  <a:tcPr anchor="ctr">
                    <a:solidFill>
                      <a:schemeClr val="bg1">
                        <a:lumMod val="75000"/>
                      </a:schemeClr>
                    </a:solidFill>
                  </a:tcPr>
                </a:tc>
                <a:tc>
                  <a:txBody>
                    <a:bodyPr/>
                    <a:lstStyle/>
                    <a:p>
                      <a:pPr algn="ctr"/>
                      <a:endParaRPr lang="en-US" dirty="0"/>
                    </a:p>
                  </a:txBody>
                  <a:tcPr anchor="ctr">
                    <a:solidFill>
                      <a:schemeClr val="bg1">
                        <a:lumMod val="75000"/>
                      </a:schemeClr>
                    </a:solidFill>
                  </a:tcPr>
                </a:tc>
                <a:tc>
                  <a:txBody>
                    <a:bodyPr/>
                    <a:lstStyle/>
                    <a:p>
                      <a:pPr algn="ctr"/>
                      <a:endParaRPr lang="en-US" dirty="0"/>
                    </a:p>
                  </a:txBody>
                  <a:tcPr anchor="ctr">
                    <a:solidFill>
                      <a:schemeClr val="bg1">
                        <a:lumMod val="75000"/>
                      </a:schemeClr>
                    </a:solidFill>
                  </a:tcPr>
                </a:tc>
                <a:tc>
                  <a:txBody>
                    <a:bodyPr/>
                    <a:lstStyle/>
                    <a:p>
                      <a:pPr algn="ctr"/>
                      <a:endParaRPr lang="en-US" dirty="0"/>
                    </a:p>
                  </a:txBody>
                  <a:tcPr anchor="ctr">
                    <a:solidFill>
                      <a:schemeClr val="bg1">
                        <a:lumMod val="75000"/>
                      </a:schemeClr>
                    </a:solidFill>
                  </a:tcPr>
                </a:tc>
                <a:tc>
                  <a:txBody>
                    <a:bodyPr/>
                    <a:lstStyle/>
                    <a:p>
                      <a:pPr algn="ctr"/>
                      <a:endParaRPr lang="en-US" dirty="0"/>
                    </a:p>
                  </a:txBody>
                  <a:tcPr anchor="ctr">
                    <a:solidFill>
                      <a:schemeClr val="bg1">
                        <a:lumMod val="50000"/>
                      </a:schemeClr>
                    </a:solidFill>
                  </a:tcPr>
                </a:tc>
                <a:extLst>
                  <a:ext uri="{0D108BD9-81ED-4DB2-BD59-A6C34878D82A}">
                    <a16:rowId xmlns:a16="http://schemas.microsoft.com/office/drawing/2014/main" val="189591463"/>
                  </a:ext>
                </a:extLst>
              </a:tr>
              <a:tr h="382291">
                <a:tc>
                  <a:txBody>
                    <a:bodyPr/>
                    <a:lstStyle/>
                    <a:p>
                      <a:pPr algn="ctr"/>
                      <a:endParaRPr lang="en-US" dirty="0"/>
                    </a:p>
                  </a:txBody>
                  <a:tcPr anchor="ctr">
                    <a:solidFill>
                      <a:schemeClr val="bg1">
                        <a:lumMod val="50000"/>
                      </a:schemeClr>
                    </a:solidFill>
                  </a:tcPr>
                </a:tc>
                <a:tc>
                  <a:txBody>
                    <a:bodyPr/>
                    <a:lstStyle/>
                    <a:p>
                      <a:pPr algn="ctr"/>
                      <a:endParaRPr lang="en-US" dirty="0"/>
                    </a:p>
                  </a:txBody>
                  <a:tcPr anchor="ctr">
                    <a:solidFill>
                      <a:schemeClr val="bg1">
                        <a:lumMod val="50000"/>
                      </a:schemeClr>
                    </a:solidFill>
                  </a:tcPr>
                </a:tc>
                <a:tc>
                  <a:txBody>
                    <a:bodyPr/>
                    <a:lstStyle/>
                    <a:p>
                      <a:pPr algn="ctr"/>
                      <a:endParaRPr lang="en-US" dirty="0"/>
                    </a:p>
                  </a:txBody>
                  <a:tcPr anchor="ctr">
                    <a:solidFill>
                      <a:schemeClr val="bg1">
                        <a:lumMod val="50000"/>
                      </a:schemeClr>
                    </a:solidFill>
                  </a:tcPr>
                </a:tc>
                <a:tc>
                  <a:txBody>
                    <a:bodyPr/>
                    <a:lstStyle/>
                    <a:p>
                      <a:pPr algn="ctr"/>
                      <a:endParaRPr lang="en-US" dirty="0"/>
                    </a:p>
                  </a:txBody>
                  <a:tcPr anchor="ctr">
                    <a:solidFill>
                      <a:schemeClr val="bg1">
                        <a:lumMod val="50000"/>
                      </a:schemeClr>
                    </a:solidFill>
                  </a:tcPr>
                </a:tc>
                <a:tc>
                  <a:txBody>
                    <a:bodyPr/>
                    <a:lstStyle/>
                    <a:p>
                      <a:pPr algn="ctr"/>
                      <a:endParaRPr lang="en-US" dirty="0"/>
                    </a:p>
                  </a:txBody>
                  <a:tcPr anchor="ctr">
                    <a:solidFill>
                      <a:schemeClr val="bg1">
                        <a:lumMod val="50000"/>
                      </a:schemeClr>
                    </a:solidFill>
                  </a:tcPr>
                </a:tc>
                <a:tc>
                  <a:txBody>
                    <a:bodyPr/>
                    <a:lstStyle/>
                    <a:p>
                      <a:pPr algn="ctr"/>
                      <a:endParaRPr lang="en-US" dirty="0"/>
                    </a:p>
                  </a:txBody>
                  <a:tcPr anchor="ctr">
                    <a:solidFill>
                      <a:schemeClr val="bg1">
                        <a:lumMod val="50000"/>
                      </a:schemeClr>
                    </a:solidFill>
                  </a:tcPr>
                </a:tc>
                <a:tc>
                  <a:txBody>
                    <a:bodyPr/>
                    <a:lstStyle/>
                    <a:p>
                      <a:pPr algn="ctr"/>
                      <a:endParaRPr lang="en-US" dirty="0"/>
                    </a:p>
                  </a:txBody>
                  <a:tcPr anchor="ctr">
                    <a:solidFill>
                      <a:schemeClr val="bg1">
                        <a:lumMod val="50000"/>
                      </a:schemeClr>
                    </a:solidFill>
                  </a:tcPr>
                </a:tc>
                <a:extLst>
                  <a:ext uri="{0D108BD9-81ED-4DB2-BD59-A6C34878D82A}">
                    <a16:rowId xmlns:a16="http://schemas.microsoft.com/office/drawing/2014/main" val="1844451045"/>
                  </a:ext>
                </a:extLst>
              </a:tr>
            </a:tbl>
          </a:graphicData>
        </a:graphic>
      </p:graphicFrame>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46FB4FF0-16D1-4449-ADC9-FCA09A730D4C}"/>
                  </a:ext>
                </a:extLst>
              </p:cNvPr>
              <p:cNvSpPr>
                <a:spLocks noGrp="1"/>
              </p:cNvSpPr>
              <p:nvPr>
                <p:ph sz="half" idx="2"/>
              </p:nvPr>
            </p:nvSpPr>
            <p:spPr/>
            <p:txBody>
              <a:bodyPr/>
              <a:lstStyle/>
              <a:p>
                <a:r>
                  <a:rPr lang="en-US" dirty="0"/>
                  <a:t>As the size of the kernel increases, this becomes true for even more pixels</a:t>
                </a:r>
              </a:p>
              <a:p>
                <a:r>
                  <a:rPr lang="en-US" dirty="0"/>
                  <a:t>For example, let's consider a 5 x 5 kernel</a:t>
                </a:r>
              </a:p>
              <a:p>
                <a:r>
                  <a:rPr lang="en-US" dirty="0"/>
                  <a:t>In general;</a:t>
                </a:r>
              </a:p>
              <a:p>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𝑊</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𝐹</m:t>
                      </m:r>
                      <m:r>
                        <a:rPr lang="en-US" b="0" i="1" smtClean="0">
                          <a:latin typeface="Cambria Math" panose="02040503050406030204" pitchFamily="18" charset="0"/>
                        </a:rPr>
                        <m:t>+1</m:t>
                      </m:r>
                    </m:oMath>
                  </m:oMathPara>
                </a14:m>
                <a:endParaRPr lang="en-US" b="0" dirty="0"/>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𝐹</m:t>
                      </m:r>
                      <m:r>
                        <a:rPr lang="en-US" b="0" i="1" smtClean="0">
                          <a:latin typeface="Cambria Math" panose="02040503050406030204" pitchFamily="18" charset="0"/>
                        </a:rPr>
                        <m:t>+1</m:t>
                      </m:r>
                    </m:oMath>
                  </m:oMathPara>
                </a14:m>
                <a:endParaRPr lang="en-US" dirty="0"/>
              </a:p>
              <a:p>
                <a:endParaRPr lang="en-US" dirty="0"/>
              </a:p>
            </p:txBody>
          </p:sp>
        </mc:Choice>
        <mc:Fallback xmlns="">
          <p:sp>
            <p:nvSpPr>
              <p:cNvPr id="4" name="Content Placeholder 3">
                <a:extLst>
                  <a:ext uri="{FF2B5EF4-FFF2-40B4-BE49-F238E27FC236}">
                    <a16:creationId xmlns:a14="http://schemas.microsoft.com/office/drawing/2010/main" xmlns="" xmlns:a16="http://schemas.microsoft.com/office/drawing/2014/main" id="{46FB4FF0-16D1-4449-ADC9-FCA09A730D4C}"/>
                  </a:ext>
                </a:extLst>
              </p:cNvPr>
              <p:cNvSpPr>
                <a:spLocks noGrp="1" noRot="1" noChangeAspect="1" noMove="1" noResize="1" noEditPoints="1" noAdjustHandles="1" noChangeArrowheads="1" noChangeShapeType="1" noTextEdit="1"/>
              </p:cNvSpPr>
              <p:nvPr>
                <p:ph sz="half" idx="2"/>
              </p:nvPr>
            </p:nvSpPr>
            <p:spPr>
              <a:blipFill>
                <a:blip r:embed="rId2"/>
                <a:stretch>
                  <a:fillRect l="-2118" t="-2241" r="-588"/>
                </a:stretch>
              </a:blipFill>
            </p:spPr>
            <p:txBody>
              <a:bodyPr/>
              <a:lstStyle/>
              <a:p>
                <a:r>
                  <a:rPr lang="en-US">
                    <a:noFill/>
                  </a:rPr>
                  <a:t> </a:t>
                </a:r>
              </a:p>
            </p:txBody>
          </p:sp>
        </mc:Fallback>
      </mc:AlternateContent>
      <p:graphicFrame>
        <p:nvGraphicFramePr>
          <p:cNvPr id="10" name="Table 9">
            <a:extLst>
              <a:ext uri="{FF2B5EF4-FFF2-40B4-BE49-F238E27FC236}">
                <a16:creationId xmlns:a16="http://schemas.microsoft.com/office/drawing/2014/main" id="{7371817D-5CEB-4254-B084-CDFA97547BF1}"/>
              </a:ext>
            </a:extLst>
          </p:cNvPr>
          <p:cNvGraphicFramePr>
            <a:graphicFrameLocks/>
          </p:cNvGraphicFramePr>
          <p:nvPr>
            <p:extLst>
              <p:ext uri="{D42A27DB-BD31-4B8C-83A1-F6EECF244321}">
                <p14:modId xmlns:p14="http://schemas.microsoft.com/office/powerpoint/2010/main" val="2686156750"/>
              </p:ext>
            </p:extLst>
          </p:nvPr>
        </p:nvGraphicFramePr>
        <p:xfrm>
          <a:off x="4104917" y="2615875"/>
          <a:ext cx="1172139" cy="1146873"/>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tblGrid>
              <a:tr h="382291">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253089178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24686767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22307687"/>
                  </a:ext>
                </a:extLst>
              </a:tr>
            </a:tbl>
          </a:graphicData>
        </a:graphic>
      </p:graphicFrame>
      <p:sp>
        <p:nvSpPr>
          <p:cNvPr id="3" name="Oval 2">
            <a:extLst>
              <a:ext uri="{FF2B5EF4-FFF2-40B4-BE49-F238E27FC236}">
                <a16:creationId xmlns:a16="http://schemas.microsoft.com/office/drawing/2014/main" id="{5192DD35-6300-4A35-804B-30E5F3BEA32E}"/>
              </a:ext>
            </a:extLst>
          </p:cNvPr>
          <p:cNvSpPr/>
          <p:nvPr/>
        </p:nvSpPr>
        <p:spPr>
          <a:xfrm>
            <a:off x="4175257" y="2659312"/>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Equals 4">
            <a:extLst>
              <a:ext uri="{FF2B5EF4-FFF2-40B4-BE49-F238E27FC236}">
                <a16:creationId xmlns:a16="http://schemas.microsoft.com/office/drawing/2014/main" id="{038550AA-ED90-42C8-B086-5191944C3C92}"/>
              </a:ext>
            </a:extLst>
          </p:cNvPr>
          <p:cNvSpPr/>
          <p:nvPr/>
        </p:nvSpPr>
        <p:spPr>
          <a:xfrm>
            <a:off x="3432511" y="2972497"/>
            <a:ext cx="602064" cy="422031"/>
          </a:xfrm>
          <a:prstGeom prst="mathEqual">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
        <p:nvSpPr>
          <p:cNvPr id="12" name="Oval 11">
            <a:extLst>
              <a:ext uri="{FF2B5EF4-FFF2-40B4-BE49-F238E27FC236}">
                <a16:creationId xmlns:a16="http://schemas.microsoft.com/office/drawing/2014/main" id="{200D0E85-A3AC-40E2-8347-26290B8665A7}"/>
              </a:ext>
            </a:extLst>
          </p:cNvPr>
          <p:cNvSpPr/>
          <p:nvPr/>
        </p:nvSpPr>
        <p:spPr>
          <a:xfrm>
            <a:off x="4552742" y="2656964"/>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43C010F2-93F2-4A91-A638-75B4670CEB2C}"/>
              </a:ext>
            </a:extLst>
          </p:cNvPr>
          <p:cNvSpPr/>
          <p:nvPr/>
        </p:nvSpPr>
        <p:spPr>
          <a:xfrm>
            <a:off x="4958363" y="2654616"/>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86C18319-2BE6-4A08-97E0-860532DDB55E}"/>
              </a:ext>
            </a:extLst>
          </p:cNvPr>
          <p:cNvSpPr/>
          <p:nvPr/>
        </p:nvSpPr>
        <p:spPr>
          <a:xfrm>
            <a:off x="4172911" y="3050862"/>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6625DA75-036C-4216-8605-657F5BFC7E5B}"/>
              </a:ext>
            </a:extLst>
          </p:cNvPr>
          <p:cNvSpPr/>
          <p:nvPr/>
        </p:nvSpPr>
        <p:spPr>
          <a:xfrm>
            <a:off x="4550396" y="3048514"/>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445EFA58-2B69-4A92-BD33-9F6C3A95E415}"/>
              </a:ext>
            </a:extLst>
          </p:cNvPr>
          <p:cNvSpPr/>
          <p:nvPr/>
        </p:nvSpPr>
        <p:spPr>
          <a:xfrm>
            <a:off x="4956017" y="3046166"/>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FB12E2C9-7922-4922-8903-F81A84644ACD}"/>
              </a:ext>
            </a:extLst>
          </p:cNvPr>
          <p:cNvSpPr/>
          <p:nvPr/>
        </p:nvSpPr>
        <p:spPr>
          <a:xfrm>
            <a:off x="4184631" y="3428347"/>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EEE92C30-35F7-4A68-9835-A4187BAD8093}"/>
              </a:ext>
            </a:extLst>
          </p:cNvPr>
          <p:cNvSpPr/>
          <p:nvPr/>
        </p:nvSpPr>
        <p:spPr>
          <a:xfrm>
            <a:off x="4562116" y="3425999"/>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0D1D4230-7BDB-4692-AB8D-84CDC54B87BA}"/>
              </a:ext>
            </a:extLst>
          </p:cNvPr>
          <p:cNvSpPr/>
          <p:nvPr/>
        </p:nvSpPr>
        <p:spPr>
          <a:xfrm>
            <a:off x="4967737" y="3423651"/>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7708473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5A970-D3FC-4B0F-A9B9-55F8EB30EB8E}"/>
              </a:ext>
            </a:extLst>
          </p:cNvPr>
          <p:cNvSpPr>
            <a:spLocks noGrp="1"/>
          </p:cNvSpPr>
          <p:nvPr>
            <p:ph type="title"/>
          </p:nvPr>
        </p:nvSpPr>
        <p:spPr>
          <a:xfrm>
            <a:off x="838200" y="365126"/>
            <a:ext cx="10515600" cy="817632"/>
          </a:xfrm>
        </p:spPr>
        <p:txBody>
          <a:bodyPr/>
          <a:lstStyle/>
          <a:p>
            <a:pPr algn="ctr"/>
            <a:r>
              <a:rPr lang="en-US" dirty="0"/>
              <a:t>Padding</a:t>
            </a:r>
          </a:p>
        </p:txBody>
      </p:sp>
      <p:graphicFrame>
        <p:nvGraphicFramePr>
          <p:cNvPr id="9" name="Table 9">
            <a:extLst>
              <a:ext uri="{FF2B5EF4-FFF2-40B4-BE49-F238E27FC236}">
                <a16:creationId xmlns:a16="http://schemas.microsoft.com/office/drawing/2014/main" id="{EA01B71A-6B5D-40C0-889A-126145B38D68}"/>
              </a:ext>
            </a:extLst>
          </p:cNvPr>
          <p:cNvGraphicFramePr>
            <a:graphicFrameLocks noGrp="1"/>
          </p:cNvGraphicFramePr>
          <p:nvPr>
            <p:ph sz="half" idx="1"/>
          </p:nvPr>
        </p:nvGraphicFramePr>
        <p:xfrm>
          <a:off x="556843" y="1825624"/>
          <a:ext cx="2734991" cy="2676037"/>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gridCol w="390713">
                  <a:extLst>
                    <a:ext uri="{9D8B030D-6E8A-4147-A177-3AD203B41FA5}">
                      <a16:colId xmlns:a16="http://schemas.microsoft.com/office/drawing/2014/main" val="2185225175"/>
                    </a:ext>
                  </a:extLst>
                </a:gridCol>
                <a:gridCol w="390713">
                  <a:extLst>
                    <a:ext uri="{9D8B030D-6E8A-4147-A177-3AD203B41FA5}">
                      <a16:colId xmlns:a16="http://schemas.microsoft.com/office/drawing/2014/main" val="2001228772"/>
                    </a:ext>
                  </a:extLst>
                </a:gridCol>
                <a:gridCol w="390713">
                  <a:extLst>
                    <a:ext uri="{9D8B030D-6E8A-4147-A177-3AD203B41FA5}">
                      <a16:colId xmlns:a16="http://schemas.microsoft.com/office/drawing/2014/main" val="4010749547"/>
                    </a:ext>
                  </a:extLst>
                </a:gridCol>
                <a:gridCol w="390713">
                  <a:extLst>
                    <a:ext uri="{9D8B030D-6E8A-4147-A177-3AD203B41FA5}">
                      <a16:colId xmlns:a16="http://schemas.microsoft.com/office/drawing/2014/main" val="1701568956"/>
                    </a:ext>
                  </a:extLst>
                </a:gridCol>
              </a:tblGrid>
              <a:tr h="382291">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253089178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4686767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2307687"/>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327148248"/>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3807760174"/>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89591463"/>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844451045"/>
                  </a:ext>
                </a:extLst>
              </a:tr>
            </a:tbl>
          </a:graphicData>
        </a:graphic>
      </p:graphicFrame>
      <p:sp>
        <p:nvSpPr>
          <p:cNvPr id="4" name="Content Placeholder 3">
            <a:extLst>
              <a:ext uri="{FF2B5EF4-FFF2-40B4-BE49-F238E27FC236}">
                <a16:creationId xmlns:a16="http://schemas.microsoft.com/office/drawing/2014/main" id="{46FB4FF0-16D1-4449-ADC9-FCA09A730D4C}"/>
              </a:ext>
            </a:extLst>
          </p:cNvPr>
          <p:cNvSpPr>
            <a:spLocks noGrp="1"/>
          </p:cNvSpPr>
          <p:nvPr>
            <p:ph sz="half" idx="2"/>
          </p:nvPr>
        </p:nvSpPr>
        <p:spPr/>
        <p:txBody>
          <a:bodyPr/>
          <a:lstStyle/>
          <a:p>
            <a:r>
              <a:rPr lang="en-US" dirty="0"/>
              <a:t>What if we want the output to be of same size as the input?</a:t>
            </a:r>
          </a:p>
          <a:p>
            <a:endParaRPr lang="en-US" dirty="0"/>
          </a:p>
        </p:txBody>
      </p:sp>
      <p:graphicFrame>
        <p:nvGraphicFramePr>
          <p:cNvPr id="10" name="Table 9">
            <a:extLst>
              <a:ext uri="{FF2B5EF4-FFF2-40B4-BE49-F238E27FC236}">
                <a16:creationId xmlns:a16="http://schemas.microsoft.com/office/drawing/2014/main" id="{7371817D-5CEB-4254-B084-CDFA97547BF1}"/>
              </a:ext>
            </a:extLst>
          </p:cNvPr>
          <p:cNvGraphicFramePr>
            <a:graphicFrameLocks/>
          </p:cNvGraphicFramePr>
          <p:nvPr/>
        </p:nvGraphicFramePr>
        <p:xfrm>
          <a:off x="4034581" y="2207914"/>
          <a:ext cx="1953565" cy="1911455"/>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gridCol w="390713">
                  <a:extLst>
                    <a:ext uri="{9D8B030D-6E8A-4147-A177-3AD203B41FA5}">
                      <a16:colId xmlns:a16="http://schemas.microsoft.com/office/drawing/2014/main" val="2185225175"/>
                    </a:ext>
                  </a:extLst>
                </a:gridCol>
                <a:gridCol w="390713">
                  <a:extLst>
                    <a:ext uri="{9D8B030D-6E8A-4147-A177-3AD203B41FA5}">
                      <a16:colId xmlns:a16="http://schemas.microsoft.com/office/drawing/2014/main" val="2001228772"/>
                    </a:ext>
                  </a:extLst>
                </a:gridCol>
              </a:tblGrid>
              <a:tr h="382291">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253089178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24686767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extLst>
                  <a:ext uri="{0D108BD9-81ED-4DB2-BD59-A6C34878D82A}">
                    <a16:rowId xmlns:a16="http://schemas.microsoft.com/office/drawing/2014/main" val="122307687"/>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327148248"/>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3807760174"/>
                  </a:ext>
                </a:extLst>
              </a:tr>
            </a:tbl>
          </a:graphicData>
        </a:graphic>
      </p:graphicFrame>
      <p:graphicFrame>
        <p:nvGraphicFramePr>
          <p:cNvPr id="11" name="Table 10">
            <a:extLst>
              <a:ext uri="{FF2B5EF4-FFF2-40B4-BE49-F238E27FC236}">
                <a16:creationId xmlns:a16="http://schemas.microsoft.com/office/drawing/2014/main" id="{2CF008FC-F4B5-408C-AED6-F56A478D2140}"/>
              </a:ext>
            </a:extLst>
          </p:cNvPr>
          <p:cNvGraphicFramePr>
            <a:graphicFrameLocks/>
          </p:cNvGraphicFramePr>
          <p:nvPr/>
        </p:nvGraphicFramePr>
        <p:xfrm>
          <a:off x="556843" y="1825624"/>
          <a:ext cx="1172139" cy="1146873"/>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tblGrid>
              <a:tr h="382291">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2530891781"/>
                  </a:ext>
                </a:extLst>
              </a:tr>
              <a:tr h="382291">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1246867671"/>
                  </a:ext>
                </a:extLst>
              </a:tr>
              <a:tr h="382291">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extLst>
                  <a:ext uri="{0D108BD9-81ED-4DB2-BD59-A6C34878D82A}">
                    <a16:rowId xmlns:a16="http://schemas.microsoft.com/office/drawing/2014/main" val="122307687"/>
                  </a:ext>
                </a:extLst>
              </a:tr>
            </a:tbl>
          </a:graphicData>
        </a:graphic>
      </p:graphicFrame>
      <p:sp>
        <p:nvSpPr>
          <p:cNvPr id="3" name="Oval 2">
            <a:extLst>
              <a:ext uri="{FF2B5EF4-FFF2-40B4-BE49-F238E27FC236}">
                <a16:creationId xmlns:a16="http://schemas.microsoft.com/office/drawing/2014/main" id="{5192DD35-6300-4A35-804B-30E5F3BEA32E}"/>
              </a:ext>
            </a:extLst>
          </p:cNvPr>
          <p:cNvSpPr/>
          <p:nvPr/>
        </p:nvSpPr>
        <p:spPr>
          <a:xfrm>
            <a:off x="4104921" y="2265417"/>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Equals 4">
            <a:extLst>
              <a:ext uri="{FF2B5EF4-FFF2-40B4-BE49-F238E27FC236}">
                <a16:creationId xmlns:a16="http://schemas.microsoft.com/office/drawing/2014/main" id="{038550AA-ED90-42C8-B086-5191944C3C92}"/>
              </a:ext>
            </a:extLst>
          </p:cNvPr>
          <p:cNvSpPr/>
          <p:nvPr/>
        </p:nvSpPr>
        <p:spPr>
          <a:xfrm>
            <a:off x="3362175" y="2972497"/>
            <a:ext cx="602064" cy="422031"/>
          </a:xfrm>
          <a:prstGeom prst="mathEqual">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29869040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5A970-D3FC-4B0F-A9B9-55F8EB30EB8E}"/>
              </a:ext>
            </a:extLst>
          </p:cNvPr>
          <p:cNvSpPr>
            <a:spLocks noGrp="1"/>
          </p:cNvSpPr>
          <p:nvPr>
            <p:ph type="title"/>
          </p:nvPr>
        </p:nvSpPr>
        <p:spPr>
          <a:xfrm>
            <a:off x="838200" y="365125"/>
            <a:ext cx="10515600" cy="757997"/>
          </a:xfrm>
        </p:spPr>
        <p:txBody>
          <a:bodyPr/>
          <a:lstStyle/>
          <a:p>
            <a:pPr algn="ctr"/>
            <a:r>
              <a:rPr lang="en-US" dirty="0"/>
              <a:t>Padding</a:t>
            </a:r>
          </a:p>
        </p:txBody>
      </p:sp>
      <p:graphicFrame>
        <p:nvGraphicFramePr>
          <p:cNvPr id="9" name="Table 9">
            <a:extLst>
              <a:ext uri="{FF2B5EF4-FFF2-40B4-BE49-F238E27FC236}">
                <a16:creationId xmlns:a16="http://schemas.microsoft.com/office/drawing/2014/main" id="{EA01B71A-6B5D-40C0-889A-126145B38D68}"/>
              </a:ext>
            </a:extLst>
          </p:cNvPr>
          <p:cNvGraphicFramePr>
            <a:graphicFrameLocks noGrp="1"/>
          </p:cNvGraphicFramePr>
          <p:nvPr>
            <p:ph sz="half" idx="1"/>
          </p:nvPr>
        </p:nvGraphicFramePr>
        <p:xfrm>
          <a:off x="556843" y="1825624"/>
          <a:ext cx="2734991" cy="2676037"/>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gridCol w="390713">
                  <a:extLst>
                    <a:ext uri="{9D8B030D-6E8A-4147-A177-3AD203B41FA5}">
                      <a16:colId xmlns:a16="http://schemas.microsoft.com/office/drawing/2014/main" val="2185225175"/>
                    </a:ext>
                  </a:extLst>
                </a:gridCol>
                <a:gridCol w="390713">
                  <a:extLst>
                    <a:ext uri="{9D8B030D-6E8A-4147-A177-3AD203B41FA5}">
                      <a16:colId xmlns:a16="http://schemas.microsoft.com/office/drawing/2014/main" val="2001228772"/>
                    </a:ext>
                  </a:extLst>
                </a:gridCol>
                <a:gridCol w="390713">
                  <a:extLst>
                    <a:ext uri="{9D8B030D-6E8A-4147-A177-3AD203B41FA5}">
                      <a16:colId xmlns:a16="http://schemas.microsoft.com/office/drawing/2014/main" val="4010749547"/>
                    </a:ext>
                  </a:extLst>
                </a:gridCol>
                <a:gridCol w="390713">
                  <a:extLst>
                    <a:ext uri="{9D8B030D-6E8A-4147-A177-3AD203B41FA5}">
                      <a16:colId xmlns:a16="http://schemas.microsoft.com/office/drawing/2014/main" val="1701568956"/>
                    </a:ext>
                  </a:extLst>
                </a:gridCol>
              </a:tblGrid>
              <a:tr h="382291">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253089178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4686767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2307687"/>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327148248"/>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3807760174"/>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89591463"/>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844451045"/>
                  </a:ext>
                </a:extLst>
              </a:tr>
            </a:tbl>
          </a:graphicData>
        </a:graphic>
      </p:graphicFrame>
      <p:sp>
        <p:nvSpPr>
          <p:cNvPr id="4" name="Content Placeholder 3">
            <a:extLst>
              <a:ext uri="{FF2B5EF4-FFF2-40B4-BE49-F238E27FC236}">
                <a16:creationId xmlns:a16="http://schemas.microsoft.com/office/drawing/2014/main" id="{46FB4FF0-16D1-4449-ADC9-FCA09A730D4C}"/>
              </a:ext>
            </a:extLst>
          </p:cNvPr>
          <p:cNvSpPr>
            <a:spLocks noGrp="1"/>
          </p:cNvSpPr>
          <p:nvPr>
            <p:ph sz="half" idx="2"/>
          </p:nvPr>
        </p:nvSpPr>
        <p:spPr/>
        <p:txBody>
          <a:bodyPr/>
          <a:lstStyle/>
          <a:p>
            <a:r>
              <a:rPr lang="en-US" dirty="0"/>
              <a:t>What if we want the output to be of same size as the input?</a:t>
            </a:r>
          </a:p>
          <a:p>
            <a:r>
              <a:rPr lang="en-US" dirty="0"/>
              <a:t>We can use something known as </a:t>
            </a:r>
            <a:r>
              <a:rPr lang="en-US" b="1" dirty="0"/>
              <a:t>padding</a:t>
            </a:r>
          </a:p>
          <a:p>
            <a:endParaRPr lang="en-US" dirty="0"/>
          </a:p>
          <a:p>
            <a:endParaRPr lang="en-US" dirty="0"/>
          </a:p>
        </p:txBody>
      </p:sp>
      <p:graphicFrame>
        <p:nvGraphicFramePr>
          <p:cNvPr id="10" name="Table 9">
            <a:extLst>
              <a:ext uri="{FF2B5EF4-FFF2-40B4-BE49-F238E27FC236}">
                <a16:creationId xmlns:a16="http://schemas.microsoft.com/office/drawing/2014/main" id="{7371817D-5CEB-4254-B084-CDFA97547BF1}"/>
              </a:ext>
            </a:extLst>
          </p:cNvPr>
          <p:cNvGraphicFramePr>
            <a:graphicFrameLocks/>
          </p:cNvGraphicFramePr>
          <p:nvPr/>
        </p:nvGraphicFramePr>
        <p:xfrm>
          <a:off x="4034581" y="2207914"/>
          <a:ext cx="1953565" cy="1911455"/>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gridCol w="390713">
                  <a:extLst>
                    <a:ext uri="{9D8B030D-6E8A-4147-A177-3AD203B41FA5}">
                      <a16:colId xmlns:a16="http://schemas.microsoft.com/office/drawing/2014/main" val="2185225175"/>
                    </a:ext>
                  </a:extLst>
                </a:gridCol>
                <a:gridCol w="390713">
                  <a:extLst>
                    <a:ext uri="{9D8B030D-6E8A-4147-A177-3AD203B41FA5}">
                      <a16:colId xmlns:a16="http://schemas.microsoft.com/office/drawing/2014/main" val="2001228772"/>
                    </a:ext>
                  </a:extLst>
                </a:gridCol>
              </a:tblGrid>
              <a:tr h="382291">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253089178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24686767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extLst>
                  <a:ext uri="{0D108BD9-81ED-4DB2-BD59-A6C34878D82A}">
                    <a16:rowId xmlns:a16="http://schemas.microsoft.com/office/drawing/2014/main" val="122307687"/>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327148248"/>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3807760174"/>
                  </a:ext>
                </a:extLst>
              </a:tr>
            </a:tbl>
          </a:graphicData>
        </a:graphic>
      </p:graphicFrame>
      <p:graphicFrame>
        <p:nvGraphicFramePr>
          <p:cNvPr id="11" name="Table 10">
            <a:extLst>
              <a:ext uri="{FF2B5EF4-FFF2-40B4-BE49-F238E27FC236}">
                <a16:creationId xmlns:a16="http://schemas.microsoft.com/office/drawing/2014/main" id="{2CF008FC-F4B5-408C-AED6-F56A478D2140}"/>
              </a:ext>
            </a:extLst>
          </p:cNvPr>
          <p:cNvGraphicFramePr>
            <a:graphicFrameLocks/>
          </p:cNvGraphicFramePr>
          <p:nvPr/>
        </p:nvGraphicFramePr>
        <p:xfrm>
          <a:off x="556843" y="1825624"/>
          <a:ext cx="1172139" cy="1146873"/>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tblGrid>
              <a:tr h="382291">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2530891781"/>
                  </a:ext>
                </a:extLst>
              </a:tr>
              <a:tr h="382291">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1246867671"/>
                  </a:ext>
                </a:extLst>
              </a:tr>
              <a:tr h="382291">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extLst>
                  <a:ext uri="{0D108BD9-81ED-4DB2-BD59-A6C34878D82A}">
                    <a16:rowId xmlns:a16="http://schemas.microsoft.com/office/drawing/2014/main" val="122307687"/>
                  </a:ext>
                </a:extLst>
              </a:tr>
            </a:tbl>
          </a:graphicData>
        </a:graphic>
      </p:graphicFrame>
      <p:sp>
        <p:nvSpPr>
          <p:cNvPr id="3" name="Oval 2">
            <a:extLst>
              <a:ext uri="{FF2B5EF4-FFF2-40B4-BE49-F238E27FC236}">
                <a16:creationId xmlns:a16="http://schemas.microsoft.com/office/drawing/2014/main" id="{5192DD35-6300-4A35-804B-30E5F3BEA32E}"/>
              </a:ext>
            </a:extLst>
          </p:cNvPr>
          <p:cNvSpPr/>
          <p:nvPr/>
        </p:nvSpPr>
        <p:spPr>
          <a:xfrm>
            <a:off x="4104921" y="2265417"/>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Equals 4">
            <a:extLst>
              <a:ext uri="{FF2B5EF4-FFF2-40B4-BE49-F238E27FC236}">
                <a16:creationId xmlns:a16="http://schemas.microsoft.com/office/drawing/2014/main" id="{038550AA-ED90-42C8-B086-5191944C3C92}"/>
              </a:ext>
            </a:extLst>
          </p:cNvPr>
          <p:cNvSpPr/>
          <p:nvPr/>
        </p:nvSpPr>
        <p:spPr>
          <a:xfrm>
            <a:off x="3362175" y="2972497"/>
            <a:ext cx="602064" cy="422031"/>
          </a:xfrm>
          <a:prstGeom prst="mathEqual">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1116417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5A970-D3FC-4B0F-A9B9-55F8EB30EB8E}"/>
              </a:ext>
            </a:extLst>
          </p:cNvPr>
          <p:cNvSpPr>
            <a:spLocks noGrp="1"/>
          </p:cNvSpPr>
          <p:nvPr>
            <p:ph type="title"/>
          </p:nvPr>
        </p:nvSpPr>
        <p:spPr>
          <a:xfrm>
            <a:off x="838200" y="351057"/>
            <a:ext cx="10515600" cy="1325563"/>
          </a:xfrm>
        </p:spPr>
        <p:txBody>
          <a:bodyPr/>
          <a:lstStyle/>
          <a:p>
            <a:pPr algn="ctr"/>
            <a:r>
              <a:rPr lang="en-US" dirty="0"/>
              <a:t>Padding</a:t>
            </a:r>
          </a:p>
        </p:txBody>
      </p:sp>
      <p:sp>
        <p:nvSpPr>
          <p:cNvPr id="4" name="Content Placeholder 3">
            <a:extLst>
              <a:ext uri="{FF2B5EF4-FFF2-40B4-BE49-F238E27FC236}">
                <a16:creationId xmlns:a16="http://schemas.microsoft.com/office/drawing/2014/main" id="{46FB4FF0-16D1-4449-ADC9-FCA09A730D4C}"/>
              </a:ext>
            </a:extLst>
          </p:cNvPr>
          <p:cNvSpPr>
            <a:spLocks noGrp="1"/>
          </p:cNvSpPr>
          <p:nvPr>
            <p:ph sz="half" idx="2"/>
          </p:nvPr>
        </p:nvSpPr>
        <p:spPr>
          <a:xfrm>
            <a:off x="7202658" y="1825625"/>
            <a:ext cx="4151142" cy="4351338"/>
          </a:xfrm>
        </p:spPr>
        <p:txBody>
          <a:bodyPr/>
          <a:lstStyle/>
          <a:p>
            <a:r>
              <a:rPr lang="en-US" dirty="0"/>
              <a:t>Pad the inputs with appropriate number of ‘</a:t>
            </a:r>
            <a:r>
              <a:rPr lang="en-US" b="1" dirty="0"/>
              <a:t>0</a:t>
            </a:r>
            <a:r>
              <a:rPr lang="en-US" dirty="0"/>
              <a:t>’ inputs so that you can now apply the kernel at the corners</a:t>
            </a:r>
          </a:p>
          <a:p>
            <a:endParaRPr lang="en-US" dirty="0"/>
          </a:p>
          <a:p>
            <a:endParaRPr lang="en-US" dirty="0"/>
          </a:p>
        </p:txBody>
      </p:sp>
      <p:sp>
        <p:nvSpPr>
          <p:cNvPr id="13" name="Equals 12">
            <a:extLst>
              <a:ext uri="{FF2B5EF4-FFF2-40B4-BE49-F238E27FC236}">
                <a16:creationId xmlns:a16="http://schemas.microsoft.com/office/drawing/2014/main" id="{C517E634-E363-4CFB-B930-0002147FA022}"/>
              </a:ext>
            </a:extLst>
          </p:cNvPr>
          <p:cNvSpPr/>
          <p:nvPr/>
        </p:nvSpPr>
        <p:spPr>
          <a:xfrm>
            <a:off x="3516925" y="3035129"/>
            <a:ext cx="602064" cy="422031"/>
          </a:xfrm>
          <a:prstGeom prst="mathEqual">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graphicFrame>
        <p:nvGraphicFramePr>
          <p:cNvPr id="14" name="Table 9">
            <a:extLst>
              <a:ext uri="{FF2B5EF4-FFF2-40B4-BE49-F238E27FC236}">
                <a16:creationId xmlns:a16="http://schemas.microsoft.com/office/drawing/2014/main" id="{628BF5FC-3B34-444F-AC2B-DA1BD778EF6E}"/>
              </a:ext>
            </a:extLst>
          </p:cNvPr>
          <p:cNvGraphicFramePr>
            <a:graphicFrameLocks/>
          </p:cNvGraphicFramePr>
          <p:nvPr/>
        </p:nvGraphicFramePr>
        <p:xfrm>
          <a:off x="4214446" y="2430538"/>
          <a:ext cx="2734991" cy="2676037"/>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gridCol w="390713">
                  <a:extLst>
                    <a:ext uri="{9D8B030D-6E8A-4147-A177-3AD203B41FA5}">
                      <a16:colId xmlns:a16="http://schemas.microsoft.com/office/drawing/2014/main" val="2185225175"/>
                    </a:ext>
                  </a:extLst>
                </a:gridCol>
                <a:gridCol w="390713">
                  <a:extLst>
                    <a:ext uri="{9D8B030D-6E8A-4147-A177-3AD203B41FA5}">
                      <a16:colId xmlns:a16="http://schemas.microsoft.com/office/drawing/2014/main" val="2001228772"/>
                    </a:ext>
                  </a:extLst>
                </a:gridCol>
                <a:gridCol w="390713">
                  <a:extLst>
                    <a:ext uri="{9D8B030D-6E8A-4147-A177-3AD203B41FA5}">
                      <a16:colId xmlns:a16="http://schemas.microsoft.com/office/drawing/2014/main" val="4010749547"/>
                    </a:ext>
                  </a:extLst>
                </a:gridCol>
                <a:gridCol w="390713">
                  <a:extLst>
                    <a:ext uri="{9D8B030D-6E8A-4147-A177-3AD203B41FA5}">
                      <a16:colId xmlns:a16="http://schemas.microsoft.com/office/drawing/2014/main" val="1701568956"/>
                    </a:ext>
                  </a:extLst>
                </a:gridCol>
              </a:tblGrid>
              <a:tr h="382291">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253089178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4686767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2307687"/>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327148248"/>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3807760174"/>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89591463"/>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844451045"/>
                  </a:ext>
                </a:extLst>
              </a:tr>
            </a:tbl>
          </a:graphicData>
        </a:graphic>
      </p:graphicFrame>
      <p:graphicFrame>
        <p:nvGraphicFramePr>
          <p:cNvPr id="15" name="Table 9">
            <a:extLst>
              <a:ext uri="{FF2B5EF4-FFF2-40B4-BE49-F238E27FC236}">
                <a16:creationId xmlns:a16="http://schemas.microsoft.com/office/drawing/2014/main" id="{0BC1923F-A343-4B07-B9F7-DE68A66B89E8}"/>
              </a:ext>
            </a:extLst>
          </p:cNvPr>
          <p:cNvGraphicFramePr>
            <a:graphicFrameLocks/>
          </p:cNvGraphicFramePr>
          <p:nvPr>
            <p:extLst>
              <p:ext uri="{D42A27DB-BD31-4B8C-83A1-F6EECF244321}">
                <p14:modId xmlns:p14="http://schemas.microsoft.com/office/powerpoint/2010/main" val="3392761523"/>
              </p:ext>
            </p:extLst>
          </p:nvPr>
        </p:nvGraphicFramePr>
        <p:xfrm>
          <a:off x="667042" y="2414124"/>
          <a:ext cx="2734991" cy="2676037"/>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gridCol w="390713">
                  <a:extLst>
                    <a:ext uri="{9D8B030D-6E8A-4147-A177-3AD203B41FA5}">
                      <a16:colId xmlns:a16="http://schemas.microsoft.com/office/drawing/2014/main" val="2185225175"/>
                    </a:ext>
                  </a:extLst>
                </a:gridCol>
                <a:gridCol w="390713">
                  <a:extLst>
                    <a:ext uri="{9D8B030D-6E8A-4147-A177-3AD203B41FA5}">
                      <a16:colId xmlns:a16="http://schemas.microsoft.com/office/drawing/2014/main" val="2001228772"/>
                    </a:ext>
                  </a:extLst>
                </a:gridCol>
                <a:gridCol w="390713">
                  <a:extLst>
                    <a:ext uri="{9D8B030D-6E8A-4147-A177-3AD203B41FA5}">
                      <a16:colId xmlns:a16="http://schemas.microsoft.com/office/drawing/2014/main" val="4010749547"/>
                    </a:ext>
                  </a:extLst>
                </a:gridCol>
                <a:gridCol w="390713">
                  <a:extLst>
                    <a:ext uri="{9D8B030D-6E8A-4147-A177-3AD203B41FA5}">
                      <a16:colId xmlns:a16="http://schemas.microsoft.com/office/drawing/2014/main" val="1701568956"/>
                    </a:ext>
                  </a:extLst>
                </a:gridCol>
              </a:tblGrid>
              <a:tr h="382291">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253089178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4686767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2307687"/>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327148248"/>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3807760174"/>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89591463"/>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844451045"/>
                  </a:ext>
                </a:extLst>
              </a:tr>
            </a:tbl>
          </a:graphicData>
        </a:graphic>
      </p:graphicFrame>
    </p:spTree>
    <p:extLst>
      <p:ext uri="{BB962C8B-B14F-4D97-AF65-F5344CB8AC3E}">
        <p14:creationId xmlns:p14="http://schemas.microsoft.com/office/powerpoint/2010/main" val="118146104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5A970-D3FC-4B0F-A9B9-55F8EB30EB8E}"/>
              </a:ext>
            </a:extLst>
          </p:cNvPr>
          <p:cNvSpPr>
            <a:spLocks noGrp="1"/>
          </p:cNvSpPr>
          <p:nvPr>
            <p:ph type="title"/>
          </p:nvPr>
        </p:nvSpPr>
        <p:spPr>
          <a:xfrm>
            <a:off x="838200" y="365125"/>
            <a:ext cx="10515600" cy="708301"/>
          </a:xfrm>
        </p:spPr>
        <p:txBody>
          <a:bodyPr/>
          <a:lstStyle/>
          <a:p>
            <a:pPr algn="ctr"/>
            <a:r>
              <a:rPr lang="en-US" dirty="0"/>
              <a:t>Padding</a:t>
            </a:r>
          </a:p>
        </p:txBody>
      </p:sp>
      <p:graphicFrame>
        <p:nvGraphicFramePr>
          <p:cNvPr id="9" name="Table 9">
            <a:extLst>
              <a:ext uri="{FF2B5EF4-FFF2-40B4-BE49-F238E27FC236}">
                <a16:creationId xmlns:a16="http://schemas.microsoft.com/office/drawing/2014/main" id="{EA01B71A-6B5D-40C0-889A-126145B38D68}"/>
              </a:ext>
            </a:extLst>
          </p:cNvPr>
          <p:cNvGraphicFramePr>
            <a:graphicFrameLocks noGrp="1"/>
          </p:cNvGraphicFramePr>
          <p:nvPr>
            <p:ph sz="half" idx="1"/>
          </p:nvPr>
        </p:nvGraphicFramePr>
        <p:xfrm>
          <a:off x="196949" y="1825624"/>
          <a:ext cx="3275811" cy="3440619"/>
        </p:xfrm>
        <a:graphic>
          <a:graphicData uri="http://schemas.openxmlformats.org/drawingml/2006/table">
            <a:tbl>
              <a:tblPr firstRow="1" bandRow="1">
                <a:tableStyleId>{5940675A-B579-460E-94D1-54222C63F5DA}</a:tableStyleId>
              </a:tblPr>
              <a:tblGrid>
                <a:gridCol w="363979">
                  <a:extLst>
                    <a:ext uri="{9D8B030D-6E8A-4147-A177-3AD203B41FA5}">
                      <a16:colId xmlns:a16="http://schemas.microsoft.com/office/drawing/2014/main" val="1450421238"/>
                    </a:ext>
                  </a:extLst>
                </a:gridCol>
                <a:gridCol w="363979">
                  <a:extLst>
                    <a:ext uri="{9D8B030D-6E8A-4147-A177-3AD203B41FA5}">
                      <a16:colId xmlns:a16="http://schemas.microsoft.com/office/drawing/2014/main" val="2325746083"/>
                    </a:ext>
                  </a:extLst>
                </a:gridCol>
                <a:gridCol w="363979">
                  <a:extLst>
                    <a:ext uri="{9D8B030D-6E8A-4147-A177-3AD203B41FA5}">
                      <a16:colId xmlns:a16="http://schemas.microsoft.com/office/drawing/2014/main" val="1306752537"/>
                    </a:ext>
                  </a:extLst>
                </a:gridCol>
                <a:gridCol w="363979">
                  <a:extLst>
                    <a:ext uri="{9D8B030D-6E8A-4147-A177-3AD203B41FA5}">
                      <a16:colId xmlns:a16="http://schemas.microsoft.com/office/drawing/2014/main" val="879769399"/>
                    </a:ext>
                  </a:extLst>
                </a:gridCol>
                <a:gridCol w="363979">
                  <a:extLst>
                    <a:ext uri="{9D8B030D-6E8A-4147-A177-3AD203B41FA5}">
                      <a16:colId xmlns:a16="http://schemas.microsoft.com/office/drawing/2014/main" val="2185225175"/>
                    </a:ext>
                  </a:extLst>
                </a:gridCol>
                <a:gridCol w="363979">
                  <a:extLst>
                    <a:ext uri="{9D8B030D-6E8A-4147-A177-3AD203B41FA5}">
                      <a16:colId xmlns:a16="http://schemas.microsoft.com/office/drawing/2014/main" val="2001228772"/>
                    </a:ext>
                  </a:extLst>
                </a:gridCol>
                <a:gridCol w="363979">
                  <a:extLst>
                    <a:ext uri="{9D8B030D-6E8A-4147-A177-3AD203B41FA5}">
                      <a16:colId xmlns:a16="http://schemas.microsoft.com/office/drawing/2014/main" val="4010749547"/>
                    </a:ext>
                  </a:extLst>
                </a:gridCol>
                <a:gridCol w="363979">
                  <a:extLst>
                    <a:ext uri="{9D8B030D-6E8A-4147-A177-3AD203B41FA5}">
                      <a16:colId xmlns:a16="http://schemas.microsoft.com/office/drawing/2014/main" val="1701568956"/>
                    </a:ext>
                  </a:extLst>
                </a:gridCol>
                <a:gridCol w="363979">
                  <a:extLst>
                    <a:ext uri="{9D8B030D-6E8A-4147-A177-3AD203B41FA5}">
                      <a16:colId xmlns:a16="http://schemas.microsoft.com/office/drawing/2014/main" val="3047849370"/>
                    </a:ext>
                  </a:extLst>
                </a:gridCol>
              </a:tblGrid>
              <a:tr h="382291">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extLst>
                  <a:ext uri="{0D108BD9-81ED-4DB2-BD59-A6C34878D82A}">
                    <a16:rowId xmlns:a16="http://schemas.microsoft.com/office/drawing/2014/main" val="850174952"/>
                  </a:ext>
                </a:extLst>
              </a:tr>
              <a:tr h="382291">
                <a:tc>
                  <a:txBody>
                    <a:bodyPr/>
                    <a:lstStyle/>
                    <a:p>
                      <a:pPr algn="ctr"/>
                      <a:r>
                        <a:rPr lang="en-US" dirty="0"/>
                        <a:t>0</a:t>
                      </a:r>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r>
                        <a:rPr lang="en-US" dirty="0"/>
                        <a:t>0</a:t>
                      </a:r>
                    </a:p>
                  </a:txBody>
                  <a:tcPr anchor="ctr"/>
                </a:tc>
                <a:extLst>
                  <a:ext uri="{0D108BD9-81ED-4DB2-BD59-A6C34878D82A}">
                    <a16:rowId xmlns:a16="http://schemas.microsoft.com/office/drawing/2014/main" val="2530891781"/>
                  </a:ext>
                </a:extLst>
              </a:tr>
              <a:tr h="382291">
                <a:tc>
                  <a:txBody>
                    <a:bodyPr/>
                    <a:lstStyle/>
                    <a:p>
                      <a:pPr algn="ctr"/>
                      <a:r>
                        <a:rPr lang="en-US" dirty="0"/>
                        <a:t>0</a:t>
                      </a:r>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tc>
                  <a:txBody>
                    <a:bodyPr/>
                    <a:lstStyle/>
                    <a:p>
                      <a:pPr algn="ctr"/>
                      <a:r>
                        <a:rPr lang="en-US" dirty="0"/>
                        <a:t>0</a:t>
                      </a:r>
                    </a:p>
                  </a:txBody>
                  <a:tcPr anchor="ctr"/>
                </a:tc>
                <a:extLst>
                  <a:ext uri="{0D108BD9-81ED-4DB2-BD59-A6C34878D82A}">
                    <a16:rowId xmlns:a16="http://schemas.microsoft.com/office/drawing/2014/main" val="1246867671"/>
                  </a:ext>
                </a:extLst>
              </a:tr>
              <a:tr h="382291">
                <a:tc>
                  <a:txBody>
                    <a:bodyPr/>
                    <a:lstStyle/>
                    <a:p>
                      <a:pPr algn="ctr"/>
                      <a:r>
                        <a:rPr lang="en-US" dirty="0"/>
                        <a:t>0</a:t>
                      </a:r>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tc>
                  <a:txBody>
                    <a:bodyPr/>
                    <a:lstStyle/>
                    <a:p>
                      <a:pPr algn="ctr"/>
                      <a:r>
                        <a:rPr lang="en-US" dirty="0"/>
                        <a:t>0</a:t>
                      </a:r>
                    </a:p>
                  </a:txBody>
                  <a:tcPr anchor="ctr"/>
                </a:tc>
                <a:extLst>
                  <a:ext uri="{0D108BD9-81ED-4DB2-BD59-A6C34878D82A}">
                    <a16:rowId xmlns:a16="http://schemas.microsoft.com/office/drawing/2014/main" val="122307687"/>
                  </a:ext>
                </a:extLst>
              </a:tr>
              <a:tr h="382291">
                <a:tc>
                  <a:txBody>
                    <a:bodyPr/>
                    <a:lstStyle/>
                    <a:p>
                      <a:pPr algn="ctr"/>
                      <a:r>
                        <a:rPr lang="en-US" dirty="0"/>
                        <a:t>0</a:t>
                      </a:r>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r>
                        <a:rPr lang="en-US" dirty="0"/>
                        <a:t>0</a:t>
                      </a:r>
                    </a:p>
                  </a:txBody>
                  <a:tcPr anchor="ctr"/>
                </a:tc>
                <a:extLst>
                  <a:ext uri="{0D108BD9-81ED-4DB2-BD59-A6C34878D82A}">
                    <a16:rowId xmlns:a16="http://schemas.microsoft.com/office/drawing/2014/main" val="327148248"/>
                  </a:ext>
                </a:extLst>
              </a:tr>
              <a:tr h="382291">
                <a:tc>
                  <a:txBody>
                    <a:bodyPr/>
                    <a:lstStyle/>
                    <a:p>
                      <a:pPr algn="ctr"/>
                      <a:r>
                        <a:rPr lang="en-US" dirty="0"/>
                        <a:t>0</a:t>
                      </a:r>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r>
                        <a:rPr lang="en-US" dirty="0"/>
                        <a:t>0</a:t>
                      </a:r>
                    </a:p>
                  </a:txBody>
                  <a:tcPr anchor="ctr"/>
                </a:tc>
                <a:extLst>
                  <a:ext uri="{0D108BD9-81ED-4DB2-BD59-A6C34878D82A}">
                    <a16:rowId xmlns:a16="http://schemas.microsoft.com/office/drawing/2014/main" val="3807760174"/>
                  </a:ext>
                </a:extLst>
              </a:tr>
              <a:tr h="382291">
                <a:tc>
                  <a:txBody>
                    <a:bodyPr/>
                    <a:lstStyle/>
                    <a:p>
                      <a:pPr algn="ctr"/>
                      <a:r>
                        <a:rPr lang="en-US" dirty="0"/>
                        <a:t>0</a:t>
                      </a:r>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r>
                        <a:rPr lang="en-US" dirty="0"/>
                        <a:t>0</a:t>
                      </a:r>
                    </a:p>
                  </a:txBody>
                  <a:tcPr anchor="ctr"/>
                </a:tc>
                <a:extLst>
                  <a:ext uri="{0D108BD9-81ED-4DB2-BD59-A6C34878D82A}">
                    <a16:rowId xmlns:a16="http://schemas.microsoft.com/office/drawing/2014/main" val="189591463"/>
                  </a:ext>
                </a:extLst>
              </a:tr>
              <a:tr h="382291">
                <a:tc>
                  <a:txBody>
                    <a:bodyPr/>
                    <a:lstStyle/>
                    <a:p>
                      <a:pPr algn="ctr"/>
                      <a:r>
                        <a:rPr lang="en-US" dirty="0"/>
                        <a:t>0</a:t>
                      </a:r>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r>
                        <a:rPr lang="en-US" dirty="0"/>
                        <a:t>0</a:t>
                      </a:r>
                    </a:p>
                  </a:txBody>
                  <a:tcPr anchor="ctr"/>
                </a:tc>
                <a:extLst>
                  <a:ext uri="{0D108BD9-81ED-4DB2-BD59-A6C34878D82A}">
                    <a16:rowId xmlns:a16="http://schemas.microsoft.com/office/drawing/2014/main" val="1844451045"/>
                  </a:ext>
                </a:extLst>
              </a:tr>
              <a:tr h="382291">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extLst>
                  <a:ext uri="{0D108BD9-81ED-4DB2-BD59-A6C34878D82A}">
                    <a16:rowId xmlns:a16="http://schemas.microsoft.com/office/drawing/2014/main" val="41784807"/>
                  </a:ext>
                </a:extLst>
              </a:tr>
            </a:tbl>
          </a:graphicData>
        </a:graphic>
      </p:graphicFrame>
      <p:sp>
        <p:nvSpPr>
          <p:cNvPr id="4" name="Content Placeholder 3">
            <a:extLst>
              <a:ext uri="{FF2B5EF4-FFF2-40B4-BE49-F238E27FC236}">
                <a16:creationId xmlns:a16="http://schemas.microsoft.com/office/drawing/2014/main" id="{46FB4FF0-16D1-4449-ADC9-FCA09A730D4C}"/>
              </a:ext>
            </a:extLst>
          </p:cNvPr>
          <p:cNvSpPr>
            <a:spLocks noGrp="1"/>
          </p:cNvSpPr>
          <p:nvPr>
            <p:ph sz="half" idx="2"/>
          </p:nvPr>
        </p:nvSpPr>
        <p:spPr>
          <a:xfrm>
            <a:off x="7202658" y="1984651"/>
            <a:ext cx="4151142" cy="3432175"/>
          </a:xfrm>
        </p:spPr>
        <p:txBody>
          <a:bodyPr/>
          <a:lstStyle/>
          <a:p>
            <a:r>
              <a:rPr lang="en-US" dirty="0"/>
              <a:t>Let us use pad P = 1 with a 3 x 3 kernel</a:t>
            </a:r>
          </a:p>
          <a:p>
            <a:r>
              <a:rPr lang="en-US" dirty="0"/>
              <a:t>This means we will add one row of ‘</a:t>
            </a:r>
            <a:r>
              <a:rPr lang="en-US" b="1" dirty="0"/>
              <a:t>0</a:t>
            </a:r>
            <a:r>
              <a:rPr lang="en-US" dirty="0"/>
              <a:t>’ inputs at the top and bottom, and add one column of ‘0’ inputs at the left and right.</a:t>
            </a:r>
          </a:p>
          <a:p>
            <a:endParaRPr lang="en-US" dirty="0"/>
          </a:p>
          <a:p>
            <a:endParaRPr lang="en-US" dirty="0"/>
          </a:p>
        </p:txBody>
      </p:sp>
      <p:graphicFrame>
        <p:nvGraphicFramePr>
          <p:cNvPr id="11" name="Table 10">
            <a:extLst>
              <a:ext uri="{FF2B5EF4-FFF2-40B4-BE49-F238E27FC236}">
                <a16:creationId xmlns:a16="http://schemas.microsoft.com/office/drawing/2014/main" id="{2CF008FC-F4B5-408C-AED6-F56A478D2140}"/>
              </a:ext>
            </a:extLst>
          </p:cNvPr>
          <p:cNvGraphicFramePr>
            <a:graphicFrameLocks/>
          </p:cNvGraphicFramePr>
          <p:nvPr/>
        </p:nvGraphicFramePr>
        <p:xfrm>
          <a:off x="196949" y="1825624"/>
          <a:ext cx="1097280" cy="1146873"/>
        </p:xfrm>
        <a:graphic>
          <a:graphicData uri="http://schemas.openxmlformats.org/drawingml/2006/table">
            <a:tbl>
              <a:tblPr firstRow="1" bandRow="1">
                <a:tableStyleId>{5940675A-B579-460E-94D1-54222C63F5DA}</a:tableStyleId>
              </a:tblPr>
              <a:tblGrid>
                <a:gridCol w="365760">
                  <a:extLst>
                    <a:ext uri="{9D8B030D-6E8A-4147-A177-3AD203B41FA5}">
                      <a16:colId xmlns:a16="http://schemas.microsoft.com/office/drawing/2014/main" val="2325746083"/>
                    </a:ext>
                  </a:extLst>
                </a:gridCol>
                <a:gridCol w="365760">
                  <a:extLst>
                    <a:ext uri="{9D8B030D-6E8A-4147-A177-3AD203B41FA5}">
                      <a16:colId xmlns:a16="http://schemas.microsoft.com/office/drawing/2014/main" val="1306752537"/>
                    </a:ext>
                  </a:extLst>
                </a:gridCol>
                <a:gridCol w="365760">
                  <a:extLst>
                    <a:ext uri="{9D8B030D-6E8A-4147-A177-3AD203B41FA5}">
                      <a16:colId xmlns:a16="http://schemas.microsoft.com/office/drawing/2014/main" val="879769399"/>
                    </a:ext>
                  </a:extLst>
                </a:gridCol>
              </a:tblGrid>
              <a:tr h="382291">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2530891781"/>
                  </a:ext>
                </a:extLst>
              </a:tr>
              <a:tr h="382291">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1246867671"/>
                  </a:ext>
                </a:extLst>
              </a:tr>
              <a:tr h="382291">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extLst>
                  <a:ext uri="{0D108BD9-81ED-4DB2-BD59-A6C34878D82A}">
                    <a16:rowId xmlns:a16="http://schemas.microsoft.com/office/drawing/2014/main" val="122307687"/>
                  </a:ext>
                </a:extLst>
              </a:tr>
            </a:tbl>
          </a:graphicData>
        </a:graphic>
      </p:graphicFrame>
      <p:sp>
        <p:nvSpPr>
          <p:cNvPr id="3" name="Oval 2">
            <a:extLst>
              <a:ext uri="{FF2B5EF4-FFF2-40B4-BE49-F238E27FC236}">
                <a16:creationId xmlns:a16="http://schemas.microsoft.com/office/drawing/2014/main" id="{5192DD35-6300-4A35-804B-30E5F3BEA32E}"/>
              </a:ext>
            </a:extLst>
          </p:cNvPr>
          <p:cNvSpPr/>
          <p:nvPr/>
        </p:nvSpPr>
        <p:spPr>
          <a:xfrm>
            <a:off x="4273735" y="2490502"/>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Equals 4">
            <a:extLst>
              <a:ext uri="{FF2B5EF4-FFF2-40B4-BE49-F238E27FC236}">
                <a16:creationId xmlns:a16="http://schemas.microsoft.com/office/drawing/2014/main" id="{038550AA-ED90-42C8-B086-5191944C3C92}"/>
              </a:ext>
            </a:extLst>
          </p:cNvPr>
          <p:cNvSpPr/>
          <p:nvPr/>
        </p:nvSpPr>
        <p:spPr>
          <a:xfrm>
            <a:off x="3516925" y="3035129"/>
            <a:ext cx="602064" cy="422031"/>
          </a:xfrm>
          <a:prstGeom prst="mathEqual">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graphicFrame>
        <p:nvGraphicFramePr>
          <p:cNvPr id="12" name="Table 9">
            <a:extLst>
              <a:ext uri="{FF2B5EF4-FFF2-40B4-BE49-F238E27FC236}">
                <a16:creationId xmlns:a16="http://schemas.microsoft.com/office/drawing/2014/main" id="{FD1BDA49-5148-4E01-88F5-B46706D4F4B5}"/>
              </a:ext>
            </a:extLst>
          </p:cNvPr>
          <p:cNvGraphicFramePr>
            <a:graphicFrameLocks/>
          </p:cNvGraphicFramePr>
          <p:nvPr/>
        </p:nvGraphicFramePr>
        <p:xfrm>
          <a:off x="4214446" y="2430538"/>
          <a:ext cx="2734991" cy="2676037"/>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gridCol w="390713">
                  <a:extLst>
                    <a:ext uri="{9D8B030D-6E8A-4147-A177-3AD203B41FA5}">
                      <a16:colId xmlns:a16="http://schemas.microsoft.com/office/drawing/2014/main" val="2185225175"/>
                    </a:ext>
                  </a:extLst>
                </a:gridCol>
                <a:gridCol w="390713">
                  <a:extLst>
                    <a:ext uri="{9D8B030D-6E8A-4147-A177-3AD203B41FA5}">
                      <a16:colId xmlns:a16="http://schemas.microsoft.com/office/drawing/2014/main" val="2001228772"/>
                    </a:ext>
                  </a:extLst>
                </a:gridCol>
                <a:gridCol w="390713">
                  <a:extLst>
                    <a:ext uri="{9D8B030D-6E8A-4147-A177-3AD203B41FA5}">
                      <a16:colId xmlns:a16="http://schemas.microsoft.com/office/drawing/2014/main" val="4010749547"/>
                    </a:ext>
                  </a:extLst>
                </a:gridCol>
                <a:gridCol w="390713">
                  <a:extLst>
                    <a:ext uri="{9D8B030D-6E8A-4147-A177-3AD203B41FA5}">
                      <a16:colId xmlns:a16="http://schemas.microsoft.com/office/drawing/2014/main" val="1701568956"/>
                    </a:ext>
                  </a:extLst>
                </a:gridCol>
              </a:tblGrid>
              <a:tr h="382291">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253089178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4686767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2307687"/>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327148248"/>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3807760174"/>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89591463"/>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844451045"/>
                  </a:ext>
                </a:extLst>
              </a:tr>
            </a:tbl>
          </a:graphicData>
        </a:graphic>
      </p:graphicFrame>
    </p:spTree>
    <p:extLst>
      <p:ext uri="{BB962C8B-B14F-4D97-AF65-F5344CB8AC3E}">
        <p14:creationId xmlns:p14="http://schemas.microsoft.com/office/powerpoint/2010/main" val="252854786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5A970-D3FC-4B0F-A9B9-55F8EB30EB8E}"/>
              </a:ext>
            </a:extLst>
          </p:cNvPr>
          <p:cNvSpPr>
            <a:spLocks noGrp="1"/>
          </p:cNvSpPr>
          <p:nvPr>
            <p:ph type="title"/>
          </p:nvPr>
        </p:nvSpPr>
        <p:spPr>
          <a:xfrm>
            <a:off x="838200" y="365125"/>
            <a:ext cx="10515600" cy="688423"/>
          </a:xfrm>
        </p:spPr>
        <p:txBody>
          <a:bodyPr>
            <a:normAutofit fontScale="90000"/>
          </a:bodyPr>
          <a:lstStyle/>
          <a:p>
            <a:pPr algn="ctr"/>
            <a:r>
              <a:rPr lang="en-US" dirty="0"/>
              <a:t>Padding</a:t>
            </a:r>
          </a:p>
        </p:txBody>
      </p:sp>
      <p:graphicFrame>
        <p:nvGraphicFramePr>
          <p:cNvPr id="9" name="Table 9">
            <a:extLst>
              <a:ext uri="{FF2B5EF4-FFF2-40B4-BE49-F238E27FC236}">
                <a16:creationId xmlns:a16="http://schemas.microsoft.com/office/drawing/2014/main" id="{EA01B71A-6B5D-40C0-889A-126145B38D68}"/>
              </a:ext>
            </a:extLst>
          </p:cNvPr>
          <p:cNvGraphicFramePr>
            <a:graphicFrameLocks noGrp="1"/>
          </p:cNvGraphicFramePr>
          <p:nvPr>
            <p:ph sz="half" idx="1"/>
          </p:nvPr>
        </p:nvGraphicFramePr>
        <p:xfrm>
          <a:off x="196949" y="1825624"/>
          <a:ext cx="3275811" cy="3440619"/>
        </p:xfrm>
        <a:graphic>
          <a:graphicData uri="http://schemas.openxmlformats.org/drawingml/2006/table">
            <a:tbl>
              <a:tblPr firstRow="1" bandRow="1">
                <a:tableStyleId>{5940675A-B579-460E-94D1-54222C63F5DA}</a:tableStyleId>
              </a:tblPr>
              <a:tblGrid>
                <a:gridCol w="363979">
                  <a:extLst>
                    <a:ext uri="{9D8B030D-6E8A-4147-A177-3AD203B41FA5}">
                      <a16:colId xmlns:a16="http://schemas.microsoft.com/office/drawing/2014/main" val="1450421238"/>
                    </a:ext>
                  </a:extLst>
                </a:gridCol>
                <a:gridCol w="363979">
                  <a:extLst>
                    <a:ext uri="{9D8B030D-6E8A-4147-A177-3AD203B41FA5}">
                      <a16:colId xmlns:a16="http://schemas.microsoft.com/office/drawing/2014/main" val="2325746083"/>
                    </a:ext>
                  </a:extLst>
                </a:gridCol>
                <a:gridCol w="363979">
                  <a:extLst>
                    <a:ext uri="{9D8B030D-6E8A-4147-A177-3AD203B41FA5}">
                      <a16:colId xmlns:a16="http://schemas.microsoft.com/office/drawing/2014/main" val="1306752537"/>
                    </a:ext>
                  </a:extLst>
                </a:gridCol>
                <a:gridCol w="363979">
                  <a:extLst>
                    <a:ext uri="{9D8B030D-6E8A-4147-A177-3AD203B41FA5}">
                      <a16:colId xmlns:a16="http://schemas.microsoft.com/office/drawing/2014/main" val="879769399"/>
                    </a:ext>
                  </a:extLst>
                </a:gridCol>
                <a:gridCol w="363979">
                  <a:extLst>
                    <a:ext uri="{9D8B030D-6E8A-4147-A177-3AD203B41FA5}">
                      <a16:colId xmlns:a16="http://schemas.microsoft.com/office/drawing/2014/main" val="2185225175"/>
                    </a:ext>
                  </a:extLst>
                </a:gridCol>
                <a:gridCol w="363979">
                  <a:extLst>
                    <a:ext uri="{9D8B030D-6E8A-4147-A177-3AD203B41FA5}">
                      <a16:colId xmlns:a16="http://schemas.microsoft.com/office/drawing/2014/main" val="2001228772"/>
                    </a:ext>
                  </a:extLst>
                </a:gridCol>
                <a:gridCol w="363979">
                  <a:extLst>
                    <a:ext uri="{9D8B030D-6E8A-4147-A177-3AD203B41FA5}">
                      <a16:colId xmlns:a16="http://schemas.microsoft.com/office/drawing/2014/main" val="4010749547"/>
                    </a:ext>
                  </a:extLst>
                </a:gridCol>
                <a:gridCol w="363979">
                  <a:extLst>
                    <a:ext uri="{9D8B030D-6E8A-4147-A177-3AD203B41FA5}">
                      <a16:colId xmlns:a16="http://schemas.microsoft.com/office/drawing/2014/main" val="1701568956"/>
                    </a:ext>
                  </a:extLst>
                </a:gridCol>
                <a:gridCol w="363979">
                  <a:extLst>
                    <a:ext uri="{9D8B030D-6E8A-4147-A177-3AD203B41FA5}">
                      <a16:colId xmlns:a16="http://schemas.microsoft.com/office/drawing/2014/main" val="3047849370"/>
                    </a:ext>
                  </a:extLst>
                </a:gridCol>
              </a:tblGrid>
              <a:tr h="382291">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extLst>
                  <a:ext uri="{0D108BD9-81ED-4DB2-BD59-A6C34878D82A}">
                    <a16:rowId xmlns:a16="http://schemas.microsoft.com/office/drawing/2014/main" val="850174952"/>
                  </a:ext>
                </a:extLst>
              </a:tr>
              <a:tr h="382291">
                <a:tc>
                  <a:txBody>
                    <a:bodyPr/>
                    <a:lstStyle/>
                    <a:p>
                      <a:pPr algn="ctr"/>
                      <a:r>
                        <a:rPr lang="en-US" dirty="0"/>
                        <a:t>0</a:t>
                      </a:r>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r>
                        <a:rPr lang="en-US" dirty="0"/>
                        <a:t>0</a:t>
                      </a:r>
                    </a:p>
                  </a:txBody>
                  <a:tcPr anchor="ctr"/>
                </a:tc>
                <a:extLst>
                  <a:ext uri="{0D108BD9-81ED-4DB2-BD59-A6C34878D82A}">
                    <a16:rowId xmlns:a16="http://schemas.microsoft.com/office/drawing/2014/main" val="2530891781"/>
                  </a:ext>
                </a:extLst>
              </a:tr>
              <a:tr h="382291">
                <a:tc>
                  <a:txBody>
                    <a:bodyPr/>
                    <a:lstStyle/>
                    <a:p>
                      <a:pPr algn="ctr"/>
                      <a:r>
                        <a:rPr lang="en-US" dirty="0"/>
                        <a:t>0</a:t>
                      </a:r>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tc>
                  <a:txBody>
                    <a:bodyPr/>
                    <a:lstStyle/>
                    <a:p>
                      <a:pPr algn="ctr"/>
                      <a:r>
                        <a:rPr lang="en-US" dirty="0"/>
                        <a:t>0</a:t>
                      </a:r>
                    </a:p>
                  </a:txBody>
                  <a:tcPr anchor="ctr"/>
                </a:tc>
                <a:extLst>
                  <a:ext uri="{0D108BD9-81ED-4DB2-BD59-A6C34878D82A}">
                    <a16:rowId xmlns:a16="http://schemas.microsoft.com/office/drawing/2014/main" val="1246867671"/>
                  </a:ext>
                </a:extLst>
              </a:tr>
              <a:tr h="382291">
                <a:tc>
                  <a:txBody>
                    <a:bodyPr/>
                    <a:lstStyle/>
                    <a:p>
                      <a:pPr algn="ctr"/>
                      <a:r>
                        <a:rPr lang="en-US" dirty="0"/>
                        <a:t>0</a:t>
                      </a:r>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tc>
                  <a:txBody>
                    <a:bodyPr/>
                    <a:lstStyle/>
                    <a:p>
                      <a:pPr algn="ctr"/>
                      <a:r>
                        <a:rPr lang="en-US" dirty="0"/>
                        <a:t>0</a:t>
                      </a:r>
                    </a:p>
                  </a:txBody>
                  <a:tcPr anchor="ctr"/>
                </a:tc>
                <a:extLst>
                  <a:ext uri="{0D108BD9-81ED-4DB2-BD59-A6C34878D82A}">
                    <a16:rowId xmlns:a16="http://schemas.microsoft.com/office/drawing/2014/main" val="122307687"/>
                  </a:ext>
                </a:extLst>
              </a:tr>
              <a:tr h="382291">
                <a:tc>
                  <a:txBody>
                    <a:bodyPr/>
                    <a:lstStyle/>
                    <a:p>
                      <a:pPr algn="ctr"/>
                      <a:r>
                        <a:rPr lang="en-US" dirty="0"/>
                        <a:t>0</a:t>
                      </a:r>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r>
                        <a:rPr lang="en-US" dirty="0"/>
                        <a:t>0</a:t>
                      </a:r>
                    </a:p>
                  </a:txBody>
                  <a:tcPr anchor="ctr"/>
                </a:tc>
                <a:extLst>
                  <a:ext uri="{0D108BD9-81ED-4DB2-BD59-A6C34878D82A}">
                    <a16:rowId xmlns:a16="http://schemas.microsoft.com/office/drawing/2014/main" val="327148248"/>
                  </a:ext>
                </a:extLst>
              </a:tr>
              <a:tr h="382291">
                <a:tc>
                  <a:txBody>
                    <a:bodyPr/>
                    <a:lstStyle/>
                    <a:p>
                      <a:pPr algn="ctr"/>
                      <a:r>
                        <a:rPr lang="en-US" dirty="0"/>
                        <a:t>0</a:t>
                      </a:r>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r>
                        <a:rPr lang="en-US" dirty="0"/>
                        <a:t>0</a:t>
                      </a:r>
                    </a:p>
                  </a:txBody>
                  <a:tcPr anchor="ctr"/>
                </a:tc>
                <a:extLst>
                  <a:ext uri="{0D108BD9-81ED-4DB2-BD59-A6C34878D82A}">
                    <a16:rowId xmlns:a16="http://schemas.microsoft.com/office/drawing/2014/main" val="3807760174"/>
                  </a:ext>
                </a:extLst>
              </a:tr>
              <a:tr h="382291">
                <a:tc>
                  <a:txBody>
                    <a:bodyPr/>
                    <a:lstStyle/>
                    <a:p>
                      <a:pPr algn="ctr"/>
                      <a:r>
                        <a:rPr lang="en-US" dirty="0"/>
                        <a:t>0</a:t>
                      </a:r>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r>
                        <a:rPr lang="en-US" dirty="0"/>
                        <a:t>0</a:t>
                      </a:r>
                    </a:p>
                  </a:txBody>
                  <a:tcPr anchor="ctr"/>
                </a:tc>
                <a:extLst>
                  <a:ext uri="{0D108BD9-81ED-4DB2-BD59-A6C34878D82A}">
                    <a16:rowId xmlns:a16="http://schemas.microsoft.com/office/drawing/2014/main" val="189591463"/>
                  </a:ext>
                </a:extLst>
              </a:tr>
              <a:tr h="382291">
                <a:tc>
                  <a:txBody>
                    <a:bodyPr/>
                    <a:lstStyle/>
                    <a:p>
                      <a:pPr algn="ctr"/>
                      <a:r>
                        <a:rPr lang="en-US" dirty="0"/>
                        <a:t>0</a:t>
                      </a:r>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r>
                        <a:rPr lang="en-US" dirty="0"/>
                        <a:t>0</a:t>
                      </a:r>
                    </a:p>
                  </a:txBody>
                  <a:tcPr anchor="ctr"/>
                </a:tc>
                <a:extLst>
                  <a:ext uri="{0D108BD9-81ED-4DB2-BD59-A6C34878D82A}">
                    <a16:rowId xmlns:a16="http://schemas.microsoft.com/office/drawing/2014/main" val="1844451045"/>
                  </a:ext>
                </a:extLst>
              </a:tr>
              <a:tr h="382291">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extLst>
                  <a:ext uri="{0D108BD9-81ED-4DB2-BD59-A6C34878D82A}">
                    <a16:rowId xmlns:a16="http://schemas.microsoft.com/office/drawing/2014/main" val="41784807"/>
                  </a:ext>
                </a:extLst>
              </a:tr>
            </a:tbl>
          </a:graphicData>
        </a:graphic>
      </p:graphicFrame>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46FB4FF0-16D1-4449-ADC9-FCA09A730D4C}"/>
                  </a:ext>
                </a:extLst>
              </p:cNvPr>
              <p:cNvSpPr>
                <a:spLocks noGrp="1"/>
              </p:cNvSpPr>
              <p:nvPr>
                <p:ph sz="half" idx="2"/>
              </p:nvPr>
            </p:nvSpPr>
            <p:spPr>
              <a:xfrm>
                <a:off x="7202658" y="1825625"/>
                <a:ext cx="4151142" cy="4351338"/>
              </a:xfrm>
            </p:spPr>
            <p:txBody>
              <a:bodyPr/>
              <a:lstStyle/>
              <a:p>
                <a:r>
                  <a:rPr lang="en-US" dirty="0"/>
                  <a:t>Now we have;</a:t>
                </a:r>
              </a:p>
              <a:p>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𝑊</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𝐹</m:t>
                      </m:r>
                      <m:r>
                        <a:rPr lang="en-US" b="0" i="1" smtClean="0">
                          <a:latin typeface="Cambria Math" panose="02040503050406030204" pitchFamily="18" charset="0"/>
                        </a:rPr>
                        <m:t>+2</m:t>
                      </m:r>
                      <m:r>
                        <a:rPr lang="en-US" b="0" i="1" smtClean="0">
                          <a:latin typeface="Cambria Math" panose="02040503050406030204" pitchFamily="18" charset="0"/>
                        </a:rPr>
                        <m:t>𝑃</m:t>
                      </m:r>
                      <m:r>
                        <a:rPr lang="en-US" b="0" i="1" smtClean="0">
                          <a:latin typeface="Cambria Math" panose="02040503050406030204" pitchFamily="18" charset="0"/>
                        </a:rPr>
                        <m:t>+1</m:t>
                      </m:r>
                    </m:oMath>
                  </m:oMathPara>
                </a14:m>
                <a:endParaRPr lang="en-US" b="0" dirty="0"/>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𝐹</m:t>
                      </m:r>
                      <m:r>
                        <a:rPr lang="en-US" b="0" i="1" smtClean="0">
                          <a:latin typeface="Cambria Math" panose="02040503050406030204" pitchFamily="18" charset="0"/>
                        </a:rPr>
                        <m:t>+2</m:t>
                      </m:r>
                      <m:r>
                        <a:rPr lang="en-US" b="0" i="1" smtClean="0">
                          <a:latin typeface="Cambria Math" panose="02040503050406030204" pitchFamily="18" charset="0"/>
                        </a:rPr>
                        <m:t>𝑃</m:t>
                      </m:r>
                      <m:r>
                        <a:rPr lang="en-US" b="0" i="1" smtClean="0">
                          <a:latin typeface="Cambria Math" panose="02040503050406030204" pitchFamily="18" charset="0"/>
                        </a:rPr>
                        <m:t>+1</m:t>
                      </m:r>
                    </m:oMath>
                  </m:oMathPara>
                </a14:m>
                <a:endParaRPr lang="en-US" dirty="0"/>
              </a:p>
            </p:txBody>
          </p:sp>
        </mc:Choice>
        <mc:Fallback xmlns="">
          <p:sp>
            <p:nvSpPr>
              <p:cNvPr id="4" name="Content Placeholder 3">
                <a:extLst>
                  <a:ext uri="{FF2B5EF4-FFF2-40B4-BE49-F238E27FC236}">
                    <a16:creationId xmlns:a14="http://schemas.microsoft.com/office/drawing/2010/main" xmlns="" xmlns:a16="http://schemas.microsoft.com/office/drawing/2014/main" id="{46FB4FF0-16D1-4449-ADC9-FCA09A730D4C}"/>
                  </a:ext>
                </a:extLst>
              </p:cNvPr>
              <p:cNvSpPr>
                <a:spLocks noGrp="1" noRot="1" noChangeAspect="1" noMove="1" noResize="1" noEditPoints="1" noAdjustHandles="1" noChangeArrowheads="1" noChangeShapeType="1" noTextEdit="1"/>
              </p:cNvSpPr>
              <p:nvPr>
                <p:ph sz="half" idx="2"/>
              </p:nvPr>
            </p:nvSpPr>
            <p:spPr>
              <a:xfrm>
                <a:off x="7202658" y="1825625"/>
                <a:ext cx="4151142" cy="4351338"/>
              </a:xfrm>
              <a:blipFill>
                <a:blip r:embed="rId2"/>
                <a:stretch>
                  <a:fillRect l="-2643" t="-2241"/>
                </a:stretch>
              </a:blipFill>
            </p:spPr>
            <p:txBody>
              <a:bodyPr/>
              <a:lstStyle/>
              <a:p>
                <a:r>
                  <a:rPr lang="en-US">
                    <a:noFill/>
                  </a:rPr>
                  <a:t> </a:t>
                </a:r>
              </a:p>
            </p:txBody>
          </p:sp>
        </mc:Fallback>
      </mc:AlternateContent>
      <p:graphicFrame>
        <p:nvGraphicFramePr>
          <p:cNvPr id="11" name="Table 10">
            <a:extLst>
              <a:ext uri="{FF2B5EF4-FFF2-40B4-BE49-F238E27FC236}">
                <a16:creationId xmlns:a16="http://schemas.microsoft.com/office/drawing/2014/main" id="{2CF008FC-F4B5-408C-AED6-F56A478D2140}"/>
              </a:ext>
            </a:extLst>
          </p:cNvPr>
          <p:cNvGraphicFramePr>
            <a:graphicFrameLocks/>
          </p:cNvGraphicFramePr>
          <p:nvPr/>
        </p:nvGraphicFramePr>
        <p:xfrm>
          <a:off x="196949" y="1825624"/>
          <a:ext cx="1097280" cy="1146873"/>
        </p:xfrm>
        <a:graphic>
          <a:graphicData uri="http://schemas.openxmlformats.org/drawingml/2006/table">
            <a:tbl>
              <a:tblPr firstRow="1" bandRow="1">
                <a:tableStyleId>{5940675A-B579-460E-94D1-54222C63F5DA}</a:tableStyleId>
              </a:tblPr>
              <a:tblGrid>
                <a:gridCol w="365760">
                  <a:extLst>
                    <a:ext uri="{9D8B030D-6E8A-4147-A177-3AD203B41FA5}">
                      <a16:colId xmlns:a16="http://schemas.microsoft.com/office/drawing/2014/main" val="2325746083"/>
                    </a:ext>
                  </a:extLst>
                </a:gridCol>
                <a:gridCol w="365760">
                  <a:extLst>
                    <a:ext uri="{9D8B030D-6E8A-4147-A177-3AD203B41FA5}">
                      <a16:colId xmlns:a16="http://schemas.microsoft.com/office/drawing/2014/main" val="1306752537"/>
                    </a:ext>
                  </a:extLst>
                </a:gridCol>
                <a:gridCol w="365760">
                  <a:extLst>
                    <a:ext uri="{9D8B030D-6E8A-4147-A177-3AD203B41FA5}">
                      <a16:colId xmlns:a16="http://schemas.microsoft.com/office/drawing/2014/main" val="879769399"/>
                    </a:ext>
                  </a:extLst>
                </a:gridCol>
              </a:tblGrid>
              <a:tr h="382291">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2530891781"/>
                  </a:ext>
                </a:extLst>
              </a:tr>
              <a:tr h="382291">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1246867671"/>
                  </a:ext>
                </a:extLst>
              </a:tr>
              <a:tr h="382291">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extLst>
                  <a:ext uri="{0D108BD9-81ED-4DB2-BD59-A6C34878D82A}">
                    <a16:rowId xmlns:a16="http://schemas.microsoft.com/office/drawing/2014/main" val="122307687"/>
                  </a:ext>
                </a:extLst>
              </a:tr>
            </a:tbl>
          </a:graphicData>
        </a:graphic>
      </p:graphicFrame>
      <p:sp>
        <p:nvSpPr>
          <p:cNvPr id="3" name="Oval 2">
            <a:extLst>
              <a:ext uri="{FF2B5EF4-FFF2-40B4-BE49-F238E27FC236}">
                <a16:creationId xmlns:a16="http://schemas.microsoft.com/office/drawing/2014/main" id="{5192DD35-6300-4A35-804B-30E5F3BEA32E}"/>
              </a:ext>
            </a:extLst>
          </p:cNvPr>
          <p:cNvSpPr/>
          <p:nvPr/>
        </p:nvSpPr>
        <p:spPr>
          <a:xfrm>
            <a:off x="4273735" y="2490502"/>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Equals 4">
            <a:extLst>
              <a:ext uri="{FF2B5EF4-FFF2-40B4-BE49-F238E27FC236}">
                <a16:creationId xmlns:a16="http://schemas.microsoft.com/office/drawing/2014/main" id="{038550AA-ED90-42C8-B086-5191944C3C92}"/>
              </a:ext>
            </a:extLst>
          </p:cNvPr>
          <p:cNvSpPr/>
          <p:nvPr/>
        </p:nvSpPr>
        <p:spPr>
          <a:xfrm>
            <a:off x="3516925" y="3035129"/>
            <a:ext cx="602064" cy="422031"/>
          </a:xfrm>
          <a:prstGeom prst="mathEqual">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graphicFrame>
        <p:nvGraphicFramePr>
          <p:cNvPr id="12" name="Table 9">
            <a:extLst>
              <a:ext uri="{FF2B5EF4-FFF2-40B4-BE49-F238E27FC236}">
                <a16:creationId xmlns:a16="http://schemas.microsoft.com/office/drawing/2014/main" id="{FD1BDA49-5148-4E01-88F5-B46706D4F4B5}"/>
              </a:ext>
            </a:extLst>
          </p:cNvPr>
          <p:cNvGraphicFramePr>
            <a:graphicFrameLocks/>
          </p:cNvGraphicFramePr>
          <p:nvPr/>
        </p:nvGraphicFramePr>
        <p:xfrm>
          <a:off x="4214446" y="2430538"/>
          <a:ext cx="2734991" cy="2676037"/>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gridCol w="390713">
                  <a:extLst>
                    <a:ext uri="{9D8B030D-6E8A-4147-A177-3AD203B41FA5}">
                      <a16:colId xmlns:a16="http://schemas.microsoft.com/office/drawing/2014/main" val="2185225175"/>
                    </a:ext>
                  </a:extLst>
                </a:gridCol>
                <a:gridCol w="390713">
                  <a:extLst>
                    <a:ext uri="{9D8B030D-6E8A-4147-A177-3AD203B41FA5}">
                      <a16:colId xmlns:a16="http://schemas.microsoft.com/office/drawing/2014/main" val="2001228772"/>
                    </a:ext>
                  </a:extLst>
                </a:gridCol>
                <a:gridCol w="390713">
                  <a:extLst>
                    <a:ext uri="{9D8B030D-6E8A-4147-A177-3AD203B41FA5}">
                      <a16:colId xmlns:a16="http://schemas.microsoft.com/office/drawing/2014/main" val="4010749547"/>
                    </a:ext>
                  </a:extLst>
                </a:gridCol>
                <a:gridCol w="390713">
                  <a:extLst>
                    <a:ext uri="{9D8B030D-6E8A-4147-A177-3AD203B41FA5}">
                      <a16:colId xmlns:a16="http://schemas.microsoft.com/office/drawing/2014/main" val="1701568956"/>
                    </a:ext>
                  </a:extLst>
                </a:gridCol>
              </a:tblGrid>
              <a:tr h="382291">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253089178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4686767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2307687"/>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327148248"/>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3807760174"/>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89591463"/>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1844451045"/>
                  </a:ext>
                </a:extLst>
              </a:tr>
            </a:tbl>
          </a:graphicData>
        </a:graphic>
      </p:graphicFrame>
    </p:spTree>
    <p:extLst>
      <p:ext uri="{BB962C8B-B14F-4D97-AF65-F5344CB8AC3E}">
        <p14:creationId xmlns:p14="http://schemas.microsoft.com/office/powerpoint/2010/main" val="297491761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5A970-D3FC-4B0F-A9B9-55F8EB30EB8E}"/>
              </a:ext>
            </a:extLst>
          </p:cNvPr>
          <p:cNvSpPr>
            <a:spLocks noGrp="1"/>
          </p:cNvSpPr>
          <p:nvPr>
            <p:ph type="title"/>
          </p:nvPr>
        </p:nvSpPr>
        <p:spPr>
          <a:xfrm>
            <a:off x="838200" y="365125"/>
            <a:ext cx="10515600" cy="777875"/>
          </a:xfrm>
        </p:spPr>
        <p:txBody>
          <a:bodyPr/>
          <a:lstStyle/>
          <a:p>
            <a:pPr algn="ctr"/>
            <a:r>
              <a:rPr lang="en-US" dirty="0"/>
              <a:t>Stride</a:t>
            </a:r>
          </a:p>
        </p:txBody>
      </p:sp>
      <p:graphicFrame>
        <p:nvGraphicFramePr>
          <p:cNvPr id="9" name="Table 9">
            <a:extLst>
              <a:ext uri="{FF2B5EF4-FFF2-40B4-BE49-F238E27FC236}">
                <a16:creationId xmlns:a16="http://schemas.microsoft.com/office/drawing/2014/main" id="{EA01B71A-6B5D-40C0-889A-126145B38D68}"/>
              </a:ext>
            </a:extLst>
          </p:cNvPr>
          <p:cNvGraphicFramePr>
            <a:graphicFrameLocks noGrp="1"/>
          </p:cNvGraphicFramePr>
          <p:nvPr>
            <p:ph sz="half" idx="1"/>
          </p:nvPr>
        </p:nvGraphicFramePr>
        <p:xfrm>
          <a:off x="196949" y="1825624"/>
          <a:ext cx="3275811" cy="3440619"/>
        </p:xfrm>
        <a:graphic>
          <a:graphicData uri="http://schemas.openxmlformats.org/drawingml/2006/table">
            <a:tbl>
              <a:tblPr firstRow="1" bandRow="1">
                <a:tableStyleId>{5940675A-B579-460E-94D1-54222C63F5DA}</a:tableStyleId>
              </a:tblPr>
              <a:tblGrid>
                <a:gridCol w="363979">
                  <a:extLst>
                    <a:ext uri="{9D8B030D-6E8A-4147-A177-3AD203B41FA5}">
                      <a16:colId xmlns:a16="http://schemas.microsoft.com/office/drawing/2014/main" val="1450421238"/>
                    </a:ext>
                  </a:extLst>
                </a:gridCol>
                <a:gridCol w="363979">
                  <a:extLst>
                    <a:ext uri="{9D8B030D-6E8A-4147-A177-3AD203B41FA5}">
                      <a16:colId xmlns:a16="http://schemas.microsoft.com/office/drawing/2014/main" val="2325746083"/>
                    </a:ext>
                  </a:extLst>
                </a:gridCol>
                <a:gridCol w="363979">
                  <a:extLst>
                    <a:ext uri="{9D8B030D-6E8A-4147-A177-3AD203B41FA5}">
                      <a16:colId xmlns:a16="http://schemas.microsoft.com/office/drawing/2014/main" val="1306752537"/>
                    </a:ext>
                  </a:extLst>
                </a:gridCol>
                <a:gridCol w="363979">
                  <a:extLst>
                    <a:ext uri="{9D8B030D-6E8A-4147-A177-3AD203B41FA5}">
                      <a16:colId xmlns:a16="http://schemas.microsoft.com/office/drawing/2014/main" val="879769399"/>
                    </a:ext>
                  </a:extLst>
                </a:gridCol>
                <a:gridCol w="363979">
                  <a:extLst>
                    <a:ext uri="{9D8B030D-6E8A-4147-A177-3AD203B41FA5}">
                      <a16:colId xmlns:a16="http://schemas.microsoft.com/office/drawing/2014/main" val="2185225175"/>
                    </a:ext>
                  </a:extLst>
                </a:gridCol>
                <a:gridCol w="363979">
                  <a:extLst>
                    <a:ext uri="{9D8B030D-6E8A-4147-A177-3AD203B41FA5}">
                      <a16:colId xmlns:a16="http://schemas.microsoft.com/office/drawing/2014/main" val="2001228772"/>
                    </a:ext>
                  </a:extLst>
                </a:gridCol>
                <a:gridCol w="363979">
                  <a:extLst>
                    <a:ext uri="{9D8B030D-6E8A-4147-A177-3AD203B41FA5}">
                      <a16:colId xmlns:a16="http://schemas.microsoft.com/office/drawing/2014/main" val="4010749547"/>
                    </a:ext>
                  </a:extLst>
                </a:gridCol>
                <a:gridCol w="363979">
                  <a:extLst>
                    <a:ext uri="{9D8B030D-6E8A-4147-A177-3AD203B41FA5}">
                      <a16:colId xmlns:a16="http://schemas.microsoft.com/office/drawing/2014/main" val="1701568956"/>
                    </a:ext>
                  </a:extLst>
                </a:gridCol>
                <a:gridCol w="363979">
                  <a:extLst>
                    <a:ext uri="{9D8B030D-6E8A-4147-A177-3AD203B41FA5}">
                      <a16:colId xmlns:a16="http://schemas.microsoft.com/office/drawing/2014/main" val="3047849370"/>
                    </a:ext>
                  </a:extLst>
                </a:gridCol>
              </a:tblGrid>
              <a:tr h="382291">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extLst>
                  <a:ext uri="{0D108BD9-81ED-4DB2-BD59-A6C34878D82A}">
                    <a16:rowId xmlns:a16="http://schemas.microsoft.com/office/drawing/2014/main" val="850174952"/>
                  </a:ext>
                </a:extLst>
              </a:tr>
              <a:tr h="382291">
                <a:tc>
                  <a:txBody>
                    <a:bodyPr/>
                    <a:lstStyle/>
                    <a:p>
                      <a:pPr algn="ctr"/>
                      <a:r>
                        <a:rPr lang="en-US" dirty="0"/>
                        <a:t>0</a:t>
                      </a:r>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r>
                        <a:rPr lang="en-US" dirty="0"/>
                        <a:t>0</a:t>
                      </a:r>
                    </a:p>
                  </a:txBody>
                  <a:tcPr anchor="ctr"/>
                </a:tc>
                <a:extLst>
                  <a:ext uri="{0D108BD9-81ED-4DB2-BD59-A6C34878D82A}">
                    <a16:rowId xmlns:a16="http://schemas.microsoft.com/office/drawing/2014/main" val="2530891781"/>
                  </a:ext>
                </a:extLst>
              </a:tr>
              <a:tr h="382291">
                <a:tc>
                  <a:txBody>
                    <a:bodyPr/>
                    <a:lstStyle/>
                    <a:p>
                      <a:pPr algn="ctr"/>
                      <a:r>
                        <a:rPr lang="en-US" dirty="0"/>
                        <a:t>0</a:t>
                      </a:r>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tc>
                  <a:txBody>
                    <a:bodyPr/>
                    <a:lstStyle/>
                    <a:p>
                      <a:pPr algn="ctr"/>
                      <a:r>
                        <a:rPr lang="en-US" dirty="0"/>
                        <a:t>0</a:t>
                      </a:r>
                    </a:p>
                  </a:txBody>
                  <a:tcPr anchor="ctr"/>
                </a:tc>
                <a:extLst>
                  <a:ext uri="{0D108BD9-81ED-4DB2-BD59-A6C34878D82A}">
                    <a16:rowId xmlns:a16="http://schemas.microsoft.com/office/drawing/2014/main" val="1246867671"/>
                  </a:ext>
                </a:extLst>
              </a:tr>
              <a:tr h="382291">
                <a:tc>
                  <a:txBody>
                    <a:bodyPr/>
                    <a:lstStyle/>
                    <a:p>
                      <a:pPr algn="ctr"/>
                      <a:r>
                        <a:rPr lang="en-US" dirty="0"/>
                        <a:t>0</a:t>
                      </a:r>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tc>
                  <a:txBody>
                    <a:bodyPr/>
                    <a:lstStyle/>
                    <a:p>
                      <a:pPr algn="ctr"/>
                      <a:r>
                        <a:rPr lang="en-US" dirty="0"/>
                        <a:t>0</a:t>
                      </a:r>
                    </a:p>
                  </a:txBody>
                  <a:tcPr anchor="ctr"/>
                </a:tc>
                <a:extLst>
                  <a:ext uri="{0D108BD9-81ED-4DB2-BD59-A6C34878D82A}">
                    <a16:rowId xmlns:a16="http://schemas.microsoft.com/office/drawing/2014/main" val="122307687"/>
                  </a:ext>
                </a:extLst>
              </a:tr>
              <a:tr h="382291">
                <a:tc>
                  <a:txBody>
                    <a:bodyPr/>
                    <a:lstStyle/>
                    <a:p>
                      <a:pPr algn="ctr"/>
                      <a:r>
                        <a:rPr lang="en-US" dirty="0"/>
                        <a:t>0</a:t>
                      </a:r>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r>
                        <a:rPr lang="en-US" dirty="0"/>
                        <a:t>0</a:t>
                      </a:r>
                    </a:p>
                  </a:txBody>
                  <a:tcPr anchor="ctr"/>
                </a:tc>
                <a:extLst>
                  <a:ext uri="{0D108BD9-81ED-4DB2-BD59-A6C34878D82A}">
                    <a16:rowId xmlns:a16="http://schemas.microsoft.com/office/drawing/2014/main" val="327148248"/>
                  </a:ext>
                </a:extLst>
              </a:tr>
              <a:tr h="382291">
                <a:tc>
                  <a:txBody>
                    <a:bodyPr/>
                    <a:lstStyle/>
                    <a:p>
                      <a:pPr algn="ctr"/>
                      <a:r>
                        <a:rPr lang="en-US" dirty="0"/>
                        <a:t>0</a:t>
                      </a:r>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r>
                        <a:rPr lang="en-US" dirty="0"/>
                        <a:t>0</a:t>
                      </a:r>
                    </a:p>
                  </a:txBody>
                  <a:tcPr anchor="ctr"/>
                </a:tc>
                <a:extLst>
                  <a:ext uri="{0D108BD9-81ED-4DB2-BD59-A6C34878D82A}">
                    <a16:rowId xmlns:a16="http://schemas.microsoft.com/office/drawing/2014/main" val="3807760174"/>
                  </a:ext>
                </a:extLst>
              </a:tr>
              <a:tr h="382291">
                <a:tc>
                  <a:txBody>
                    <a:bodyPr/>
                    <a:lstStyle/>
                    <a:p>
                      <a:pPr algn="ctr"/>
                      <a:r>
                        <a:rPr lang="en-US" dirty="0"/>
                        <a:t>0</a:t>
                      </a:r>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r>
                        <a:rPr lang="en-US" dirty="0"/>
                        <a:t>0</a:t>
                      </a:r>
                    </a:p>
                  </a:txBody>
                  <a:tcPr anchor="ctr"/>
                </a:tc>
                <a:extLst>
                  <a:ext uri="{0D108BD9-81ED-4DB2-BD59-A6C34878D82A}">
                    <a16:rowId xmlns:a16="http://schemas.microsoft.com/office/drawing/2014/main" val="189591463"/>
                  </a:ext>
                </a:extLst>
              </a:tr>
              <a:tr h="382291">
                <a:tc>
                  <a:txBody>
                    <a:bodyPr/>
                    <a:lstStyle/>
                    <a:p>
                      <a:pPr algn="ctr"/>
                      <a:r>
                        <a:rPr lang="en-US" dirty="0"/>
                        <a:t>0</a:t>
                      </a:r>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r>
                        <a:rPr lang="en-US" dirty="0"/>
                        <a:t>0</a:t>
                      </a:r>
                    </a:p>
                  </a:txBody>
                  <a:tcPr anchor="ctr"/>
                </a:tc>
                <a:extLst>
                  <a:ext uri="{0D108BD9-81ED-4DB2-BD59-A6C34878D82A}">
                    <a16:rowId xmlns:a16="http://schemas.microsoft.com/office/drawing/2014/main" val="1844451045"/>
                  </a:ext>
                </a:extLst>
              </a:tr>
              <a:tr h="382291">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extLst>
                  <a:ext uri="{0D108BD9-81ED-4DB2-BD59-A6C34878D82A}">
                    <a16:rowId xmlns:a16="http://schemas.microsoft.com/office/drawing/2014/main" val="41784807"/>
                  </a:ext>
                </a:extLst>
              </a:tr>
            </a:tbl>
          </a:graphicData>
        </a:graphic>
      </p:graphicFrame>
      <p:graphicFrame>
        <p:nvGraphicFramePr>
          <p:cNvPr id="11" name="Table 10">
            <a:extLst>
              <a:ext uri="{FF2B5EF4-FFF2-40B4-BE49-F238E27FC236}">
                <a16:creationId xmlns:a16="http://schemas.microsoft.com/office/drawing/2014/main" id="{2CF008FC-F4B5-408C-AED6-F56A478D2140}"/>
              </a:ext>
            </a:extLst>
          </p:cNvPr>
          <p:cNvGraphicFramePr>
            <a:graphicFrameLocks/>
          </p:cNvGraphicFramePr>
          <p:nvPr/>
        </p:nvGraphicFramePr>
        <p:xfrm>
          <a:off x="196949" y="1825624"/>
          <a:ext cx="1097280" cy="1146873"/>
        </p:xfrm>
        <a:graphic>
          <a:graphicData uri="http://schemas.openxmlformats.org/drawingml/2006/table">
            <a:tbl>
              <a:tblPr firstRow="1" bandRow="1">
                <a:tableStyleId>{5940675A-B579-460E-94D1-54222C63F5DA}</a:tableStyleId>
              </a:tblPr>
              <a:tblGrid>
                <a:gridCol w="365760">
                  <a:extLst>
                    <a:ext uri="{9D8B030D-6E8A-4147-A177-3AD203B41FA5}">
                      <a16:colId xmlns:a16="http://schemas.microsoft.com/office/drawing/2014/main" val="2325746083"/>
                    </a:ext>
                  </a:extLst>
                </a:gridCol>
                <a:gridCol w="365760">
                  <a:extLst>
                    <a:ext uri="{9D8B030D-6E8A-4147-A177-3AD203B41FA5}">
                      <a16:colId xmlns:a16="http://schemas.microsoft.com/office/drawing/2014/main" val="1306752537"/>
                    </a:ext>
                  </a:extLst>
                </a:gridCol>
                <a:gridCol w="365760">
                  <a:extLst>
                    <a:ext uri="{9D8B030D-6E8A-4147-A177-3AD203B41FA5}">
                      <a16:colId xmlns:a16="http://schemas.microsoft.com/office/drawing/2014/main" val="879769399"/>
                    </a:ext>
                  </a:extLst>
                </a:gridCol>
              </a:tblGrid>
              <a:tr h="382291">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2530891781"/>
                  </a:ext>
                </a:extLst>
              </a:tr>
              <a:tr h="382291">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1246867671"/>
                  </a:ext>
                </a:extLst>
              </a:tr>
              <a:tr h="382291">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extLst>
                  <a:ext uri="{0D108BD9-81ED-4DB2-BD59-A6C34878D82A}">
                    <a16:rowId xmlns:a16="http://schemas.microsoft.com/office/drawing/2014/main" val="122307687"/>
                  </a:ext>
                </a:extLst>
              </a:tr>
            </a:tbl>
          </a:graphicData>
        </a:graphic>
      </p:graphicFrame>
      <p:sp>
        <p:nvSpPr>
          <p:cNvPr id="3" name="Oval 2">
            <a:extLst>
              <a:ext uri="{FF2B5EF4-FFF2-40B4-BE49-F238E27FC236}">
                <a16:creationId xmlns:a16="http://schemas.microsoft.com/office/drawing/2014/main" id="{5192DD35-6300-4A35-804B-30E5F3BEA32E}"/>
              </a:ext>
            </a:extLst>
          </p:cNvPr>
          <p:cNvSpPr/>
          <p:nvPr/>
        </p:nvSpPr>
        <p:spPr>
          <a:xfrm>
            <a:off x="4273735" y="2490502"/>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Equals 4">
            <a:extLst>
              <a:ext uri="{FF2B5EF4-FFF2-40B4-BE49-F238E27FC236}">
                <a16:creationId xmlns:a16="http://schemas.microsoft.com/office/drawing/2014/main" id="{038550AA-ED90-42C8-B086-5191944C3C92}"/>
              </a:ext>
            </a:extLst>
          </p:cNvPr>
          <p:cNvSpPr/>
          <p:nvPr/>
        </p:nvSpPr>
        <p:spPr>
          <a:xfrm>
            <a:off x="3516925" y="3035129"/>
            <a:ext cx="602064" cy="422031"/>
          </a:xfrm>
          <a:prstGeom prst="mathEqual">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graphicFrame>
        <p:nvGraphicFramePr>
          <p:cNvPr id="12" name="Table 9">
            <a:extLst>
              <a:ext uri="{FF2B5EF4-FFF2-40B4-BE49-F238E27FC236}">
                <a16:creationId xmlns:a16="http://schemas.microsoft.com/office/drawing/2014/main" id="{FD1BDA49-5148-4E01-88F5-B46706D4F4B5}"/>
              </a:ext>
            </a:extLst>
          </p:cNvPr>
          <p:cNvGraphicFramePr>
            <a:graphicFrameLocks/>
          </p:cNvGraphicFramePr>
          <p:nvPr>
            <p:extLst>
              <p:ext uri="{D42A27DB-BD31-4B8C-83A1-F6EECF244321}">
                <p14:modId xmlns:p14="http://schemas.microsoft.com/office/powerpoint/2010/main" val="566639647"/>
              </p:ext>
            </p:extLst>
          </p:nvPr>
        </p:nvGraphicFramePr>
        <p:xfrm>
          <a:off x="4214446" y="2430538"/>
          <a:ext cx="1562852" cy="1529164"/>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gridCol w="390713">
                  <a:extLst>
                    <a:ext uri="{9D8B030D-6E8A-4147-A177-3AD203B41FA5}">
                      <a16:colId xmlns:a16="http://schemas.microsoft.com/office/drawing/2014/main" val="2185225175"/>
                    </a:ext>
                  </a:extLst>
                </a:gridCol>
              </a:tblGrid>
              <a:tr h="382291">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extLst>
                  <a:ext uri="{0D108BD9-81ED-4DB2-BD59-A6C34878D82A}">
                    <a16:rowId xmlns:a16="http://schemas.microsoft.com/office/drawing/2014/main" val="253089178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4686767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2307687"/>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327148248"/>
                  </a:ext>
                </a:extLst>
              </a:tr>
            </a:tbl>
          </a:graphicData>
        </a:graphic>
      </p:graphicFrame>
      <p:sp>
        <p:nvSpPr>
          <p:cNvPr id="10" name="Content Placeholder 3">
            <a:extLst>
              <a:ext uri="{FF2B5EF4-FFF2-40B4-BE49-F238E27FC236}">
                <a16:creationId xmlns:a16="http://schemas.microsoft.com/office/drawing/2014/main" id="{46FB4FF0-16D1-4449-ADC9-FCA09A730D4C}"/>
              </a:ext>
            </a:extLst>
          </p:cNvPr>
          <p:cNvSpPr txBox="1">
            <a:spLocks/>
          </p:cNvSpPr>
          <p:nvPr/>
        </p:nvSpPr>
        <p:spPr>
          <a:xfrm>
            <a:off x="7001301" y="1825625"/>
            <a:ext cx="435249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What does the stride S do?</a:t>
            </a:r>
          </a:p>
        </p:txBody>
      </p:sp>
      <p:sp>
        <p:nvSpPr>
          <p:cNvPr id="13" name="Rectangle 12"/>
          <p:cNvSpPr/>
          <p:nvPr/>
        </p:nvSpPr>
        <p:spPr>
          <a:xfrm>
            <a:off x="6848060" y="2907700"/>
            <a:ext cx="4651513" cy="1938992"/>
          </a:xfrm>
          <a:prstGeom prst="rect">
            <a:avLst/>
          </a:prstGeom>
        </p:spPr>
        <p:txBody>
          <a:bodyPr wrap="square">
            <a:spAutoFit/>
          </a:bodyPr>
          <a:lstStyle/>
          <a:p>
            <a:pPr>
              <a:buFont typeface="Arial" pitchFamily="34" charset="0"/>
              <a:buChar char="•"/>
            </a:pPr>
            <a:r>
              <a:rPr lang="en-US" sz="2400" b="1" dirty="0"/>
              <a:t> Stride</a:t>
            </a:r>
            <a:r>
              <a:rPr lang="en-US" sz="2400" dirty="0"/>
              <a:t>: This parameter determines how many pixels the kernel moves after each operation. </a:t>
            </a:r>
          </a:p>
          <a:p>
            <a:pPr>
              <a:buFont typeface="Arial" pitchFamily="34" charset="0"/>
              <a:buChar char="•"/>
            </a:pPr>
            <a:r>
              <a:rPr lang="en-US" sz="2400" dirty="0"/>
              <a:t> A larger stride results in a smaller output size.</a:t>
            </a:r>
          </a:p>
        </p:txBody>
      </p:sp>
    </p:spTree>
    <p:extLst>
      <p:ext uri="{BB962C8B-B14F-4D97-AF65-F5344CB8AC3E}">
        <p14:creationId xmlns:p14="http://schemas.microsoft.com/office/powerpoint/2010/main" val="73460003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5A970-D3FC-4B0F-A9B9-55F8EB30EB8E}"/>
              </a:ext>
            </a:extLst>
          </p:cNvPr>
          <p:cNvSpPr>
            <a:spLocks noGrp="1"/>
          </p:cNvSpPr>
          <p:nvPr>
            <p:ph type="title"/>
          </p:nvPr>
        </p:nvSpPr>
        <p:spPr>
          <a:xfrm>
            <a:off x="838200" y="365126"/>
            <a:ext cx="10515600" cy="738118"/>
          </a:xfrm>
        </p:spPr>
        <p:txBody>
          <a:bodyPr/>
          <a:lstStyle/>
          <a:p>
            <a:pPr algn="ctr"/>
            <a:r>
              <a:rPr lang="en-US" dirty="0"/>
              <a:t>Stride</a:t>
            </a:r>
          </a:p>
        </p:txBody>
      </p:sp>
      <p:graphicFrame>
        <p:nvGraphicFramePr>
          <p:cNvPr id="9" name="Table 9">
            <a:extLst>
              <a:ext uri="{FF2B5EF4-FFF2-40B4-BE49-F238E27FC236}">
                <a16:creationId xmlns:a16="http://schemas.microsoft.com/office/drawing/2014/main" id="{EA01B71A-6B5D-40C0-889A-126145B38D68}"/>
              </a:ext>
            </a:extLst>
          </p:cNvPr>
          <p:cNvGraphicFramePr>
            <a:graphicFrameLocks noGrp="1"/>
          </p:cNvGraphicFramePr>
          <p:nvPr>
            <p:ph sz="half" idx="1"/>
          </p:nvPr>
        </p:nvGraphicFramePr>
        <p:xfrm>
          <a:off x="196949" y="1825624"/>
          <a:ext cx="3275811" cy="3440619"/>
        </p:xfrm>
        <a:graphic>
          <a:graphicData uri="http://schemas.openxmlformats.org/drawingml/2006/table">
            <a:tbl>
              <a:tblPr firstRow="1" bandRow="1">
                <a:tableStyleId>{5940675A-B579-460E-94D1-54222C63F5DA}</a:tableStyleId>
              </a:tblPr>
              <a:tblGrid>
                <a:gridCol w="363979">
                  <a:extLst>
                    <a:ext uri="{9D8B030D-6E8A-4147-A177-3AD203B41FA5}">
                      <a16:colId xmlns:a16="http://schemas.microsoft.com/office/drawing/2014/main" val="1450421238"/>
                    </a:ext>
                  </a:extLst>
                </a:gridCol>
                <a:gridCol w="363979">
                  <a:extLst>
                    <a:ext uri="{9D8B030D-6E8A-4147-A177-3AD203B41FA5}">
                      <a16:colId xmlns:a16="http://schemas.microsoft.com/office/drawing/2014/main" val="2325746083"/>
                    </a:ext>
                  </a:extLst>
                </a:gridCol>
                <a:gridCol w="363979">
                  <a:extLst>
                    <a:ext uri="{9D8B030D-6E8A-4147-A177-3AD203B41FA5}">
                      <a16:colId xmlns:a16="http://schemas.microsoft.com/office/drawing/2014/main" val="1306752537"/>
                    </a:ext>
                  </a:extLst>
                </a:gridCol>
                <a:gridCol w="363979">
                  <a:extLst>
                    <a:ext uri="{9D8B030D-6E8A-4147-A177-3AD203B41FA5}">
                      <a16:colId xmlns:a16="http://schemas.microsoft.com/office/drawing/2014/main" val="879769399"/>
                    </a:ext>
                  </a:extLst>
                </a:gridCol>
                <a:gridCol w="363979">
                  <a:extLst>
                    <a:ext uri="{9D8B030D-6E8A-4147-A177-3AD203B41FA5}">
                      <a16:colId xmlns:a16="http://schemas.microsoft.com/office/drawing/2014/main" val="2185225175"/>
                    </a:ext>
                  </a:extLst>
                </a:gridCol>
                <a:gridCol w="363979">
                  <a:extLst>
                    <a:ext uri="{9D8B030D-6E8A-4147-A177-3AD203B41FA5}">
                      <a16:colId xmlns:a16="http://schemas.microsoft.com/office/drawing/2014/main" val="2001228772"/>
                    </a:ext>
                  </a:extLst>
                </a:gridCol>
                <a:gridCol w="363979">
                  <a:extLst>
                    <a:ext uri="{9D8B030D-6E8A-4147-A177-3AD203B41FA5}">
                      <a16:colId xmlns:a16="http://schemas.microsoft.com/office/drawing/2014/main" val="4010749547"/>
                    </a:ext>
                  </a:extLst>
                </a:gridCol>
                <a:gridCol w="363979">
                  <a:extLst>
                    <a:ext uri="{9D8B030D-6E8A-4147-A177-3AD203B41FA5}">
                      <a16:colId xmlns:a16="http://schemas.microsoft.com/office/drawing/2014/main" val="1701568956"/>
                    </a:ext>
                  </a:extLst>
                </a:gridCol>
                <a:gridCol w="363979">
                  <a:extLst>
                    <a:ext uri="{9D8B030D-6E8A-4147-A177-3AD203B41FA5}">
                      <a16:colId xmlns:a16="http://schemas.microsoft.com/office/drawing/2014/main" val="3047849370"/>
                    </a:ext>
                  </a:extLst>
                </a:gridCol>
              </a:tblGrid>
              <a:tr h="382291">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extLst>
                  <a:ext uri="{0D108BD9-81ED-4DB2-BD59-A6C34878D82A}">
                    <a16:rowId xmlns:a16="http://schemas.microsoft.com/office/drawing/2014/main" val="850174952"/>
                  </a:ext>
                </a:extLst>
              </a:tr>
              <a:tr h="382291">
                <a:tc>
                  <a:txBody>
                    <a:bodyPr/>
                    <a:lstStyle/>
                    <a:p>
                      <a:pPr algn="ctr"/>
                      <a:r>
                        <a:rPr lang="en-US" dirty="0"/>
                        <a:t>0</a:t>
                      </a:r>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r>
                        <a:rPr lang="en-US" dirty="0"/>
                        <a:t>0</a:t>
                      </a:r>
                    </a:p>
                  </a:txBody>
                  <a:tcPr anchor="ctr"/>
                </a:tc>
                <a:extLst>
                  <a:ext uri="{0D108BD9-81ED-4DB2-BD59-A6C34878D82A}">
                    <a16:rowId xmlns:a16="http://schemas.microsoft.com/office/drawing/2014/main" val="2530891781"/>
                  </a:ext>
                </a:extLst>
              </a:tr>
              <a:tr h="382291">
                <a:tc>
                  <a:txBody>
                    <a:bodyPr/>
                    <a:lstStyle/>
                    <a:p>
                      <a:pPr algn="ctr"/>
                      <a:r>
                        <a:rPr lang="en-US" dirty="0"/>
                        <a:t>0</a:t>
                      </a:r>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tc>
                  <a:txBody>
                    <a:bodyPr/>
                    <a:lstStyle/>
                    <a:p>
                      <a:pPr algn="ctr"/>
                      <a:r>
                        <a:rPr lang="en-US" dirty="0"/>
                        <a:t>0</a:t>
                      </a:r>
                    </a:p>
                  </a:txBody>
                  <a:tcPr anchor="ctr"/>
                </a:tc>
                <a:extLst>
                  <a:ext uri="{0D108BD9-81ED-4DB2-BD59-A6C34878D82A}">
                    <a16:rowId xmlns:a16="http://schemas.microsoft.com/office/drawing/2014/main" val="1246867671"/>
                  </a:ext>
                </a:extLst>
              </a:tr>
              <a:tr h="382291">
                <a:tc>
                  <a:txBody>
                    <a:bodyPr/>
                    <a:lstStyle/>
                    <a:p>
                      <a:pPr algn="ctr"/>
                      <a:r>
                        <a:rPr lang="en-US" dirty="0"/>
                        <a:t>0</a:t>
                      </a:r>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tc>
                  <a:txBody>
                    <a:bodyPr/>
                    <a:lstStyle/>
                    <a:p>
                      <a:pPr algn="ctr"/>
                      <a:r>
                        <a:rPr lang="en-US" dirty="0"/>
                        <a:t>0</a:t>
                      </a:r>
                    </a:p>
                  </a:txBody>
                  <a:tcPr anchor="ctr"/>
                </a:tc>
                <a:extLst>
                  <a:ext uri="{0D108BD9-81ED-4DB2-BD59-A6C34878D82A}">
                    <a16:rowId xmlns:a16="http://schemas.microsoft.com/office/drawing/2014/main" val="122307687"/>
                  </a:ext>
                </a:extLst>
              </a:tr>
              <a:tr h="382291">
                <a:tc>
                  <a:txBody>
                    <a:bodyPr/>
                    <a:lstStyle/>
                    <a:p>
                      <a:pPr algn="ctr"/>
                      <a:r>
                        <a:rPr lang="en-US" dirty="0"/>
                        <a:t>0</a:t>
                      </a:r>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r>
                        <a:rPr lang="en-US" dirty="0"/>
                        <a:t>0</a:t>
                      </a:r>
                    </a:p>
                  </a:txBody>
                  <a:tcPr anchor="ctr"/>
                </a:tc>
                <a:extLst>
                  <a:ext uri="{0D108BD9-81ED-4DB2-BD59-A6C34878D82A}">
                    <a16:rowId xmlns:a16="http://schemas.microsoft.com/office/drawing/2014/main" val="327148248"/>
                  </a:ext>
                </a:extLst>
              </a:tr>
              <a:tr h="382291">
                <a:tc>
                  <a:txBody>
                    <a:bodyPr/>
                    <a:lstStyle/>
                    <a:p>
                      <a:pPr algn="ctr"/>
                      <a:r>
                        <a:rPr lang="en-US" dirty="0"/>
                        <a:t>0</a:t>
                      </a:r>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r>
                        <a:rPr lang="en-US" dirty="0"/>
                        <a:t>0</a:t>
                      </a:r>
                    </a:p>
                  </a:txBody>
                  <a:tcPr anchor="ctr"/>
                </a:tc>
                <a:extLst>
                  <a:ext uri="{0D108BD9-81ED-4DB2-BD59-A6C34878D82A}">
                    <a16:rowId xmlns:a16="http://schemas.microsoft.com/office/drawing/2014/main" val="3807760174"/>
                  </a:ext>
                </a:extLst>
              </a:tr>
              <a:tr h="382291">
                <a:tc>
                  <a:txBody>
                    <a:bodyPr/>
                    <a:lstStyle/>
                    <a:p>
                      <a:pPr algn="ctr"/>
                      <a:r>
                        <a:rPr lang="en-US" dirty="0"/>
                        <a:t>0</a:t>
                      </a:r>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r>
                        <a:rPr lang="en-US" dirty="0"/>
                        <a:t>0</a:t>
                      </a:r>
                    </a:p>
                  </a:txBody>
                  <a:tcPr anchor="ctr"/>
                </a:tc>
                <a:extLst>
                  <a:ext uri="{0D108BD9-81ED-4DB2-BD59-A6C34878D82A}">
                    <a16:rowId xmlns:a16="http://schemas.microsoft.com/office/drawing/2014/main" val="189591463"/>
                  </a:ext>
                </a:extLst>
              </a:tr>
              <a:tr h="382291">
                <a:tc>
                  <a:txBody>
                    <a:bodyPr/>
                    <a:lstStyle/>
                    <a:p>
                      <a:pPr algn="ctr"/>
                      <a:r>
                        <a:rPr lang="en-US" dirty="0"/>
                        <a:t>0</a:t>
                      </a:r>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r>
                        <a:rPr lang="en-US" dirty="0"/>
                        <a:t>0</a:t>
                      </a:r>
                    </a:p>
                  </a:txBody>
                  <a:tcPr anchor="ctr"/>
                </a:tc>
                <a:extLst>
                  <a:ext uri="{0D108BD9-81ED-4DB2-BD59-A6C34878D82A}">
                    <a16:rowId xmlns:a16="http://schemas.microsoft.com/office/drawing/2014/main" val="1844451045"/>
                  </a:ext>
                </a:extLst>
              </a:tr>
              <a:tr h="382291">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extLst>
                  <a:ext uri="{0D108BD9-81ED-4DB2-BD59-A6C34878D82A}">
                    <a16:rowId xmlns:a16="http://schemas.microsoft.com/office/drawing/2014/main" val="41784807"/>
                  </a:ext>
                </a:extLst>
              </a:tr>
            </a:tbl>
          </a:graphicData>
        </a:graphic>
      </p:graphicFrame>
      <p:graphicFrame>
        <p:nvGraphicFramePr>
          <p:cNvPr id="11" name="Table 10">
            <a:extLst>
              <a:ext uri="{FF2B5EF4-FFF2-40B4-BE49-F238E27FC236}">
                <a16:creationId xmlns:a16="http://schemas.microsoft.com/office/drawing/2014/main" id="{2CF008FC-F4B5-408C-AED6-F56A478D2140}"/>
              </a:ext>
            </a:extLst>
          </p:cNvPr>
          <p:cNvGraphicFramePr>
            <a:graphicFrameLocks/>
          </p:cNvGraphicFramePr>
          <p:nvPr>
            <p:extLst>
              <p:ext uri="{D42A27DB-BD31-4B8C-83A1-F6EECF244321}">
                <p14:modId xmlns:p14="http://schemas.microsoft.com/office/powerpoint/2010/main" val="1075159602"/>
              </p:ext>
            </p:extLst>
          </p:nvPr>
        </p:nvGraphicFramePr>
        <p:xfrm>
          <a:off x="914404" y="1825624"/>
          <a:ext cx="1097280" cy="1146873"/>
        </p:xfrm>
        <a:graphic>
          <a:graphicData uri="http://schemas.openxmlformats.org/drawingml/2006/table">
            <a:tbl>
              <a:tblPr firstRow="1" bandRow="1">
                <a:tableStyleId>{5940675A-B579-460E-94D1-54222C63F5DA}</a:tableStyleId>
              </a:tblPr>
              <a:tblGrid>
                <a:gridCol w="365760">
                  <a:extLst>
                    <a:ext uri="{9D8B030D-6E8A-4147-A177-3AD203B41FA5}">
                      <a16:colId xmlns:a16="http://schemas.microsoft.com/office/drawing/2014/main" val="2325746083"/>
                    </a:ext>
                  </a:extLst>
                </a:gridCol>
                <a:gridCol w="365760">
                  <a:extLst>
                    <a:ext uri="{9D8B030D-6E8A-4147-A177-3AD203B41FA5}">
                      <a16:colId xmlns:a16="http://schemas.microsoft.com/office/drawing/2014/main" val="1306752537"/>
                    </a:ext>
                  </a:extLst>
                </a:gridCol>
                <a:gridCol w="365760">
                  <a:extLst>
                    <a:ext uri="{9D8B030D-6E8A-4147-A177-3AD203B41FA5}">
                      <a16:colId xmlns:a16="http://schemas.microsoft.com/office/drawing/2014/main" val="879769399"/>
                    </a:ext>
                  </a:extLst>
                </a:gridCol>
              </a:tblGrid>
              <a:tr h="382291">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2530891781"/>
                  </a:ext>
                </a:extLst>
              </a:tr>
              <a:tr h="382291">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1246867671"/>
                  </a:ext>
                </a:extLst>
              </a:tr>
              <a:tr h="382291">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extLst>
                  <a:ext uri="{0D108BD9-81ED-4DB2-BD59-A6C34878D82A}">
                    <a16:rowId xmlns:a16="http://schemas.microsoft.com/office/drawing/2014/main" val="122307687"/>
                  </a:ext>
                </a:extLst>
              </a:tr>
            </a:tbl>
          </a:graphicData>
        </a:graphic>
      </p:graphicFrame>
      <p:sp>
        <p:nvSpPr>
          <p:cNvPr id="3" name="Oval 2">
            <a:extLst>
              <a:ext uri="{FF2B5EF4-FFF2-40B4-BE49-F238E27FC236}">
                <a16:creationId xmlns:a16="http://schemas.microsoft.com/office/drawing/2014/main" id="{5192DD35-6300-4A35-804B-30E5F3BEA32E}"/>
              </a:ext>
            </a:extLst>
          </p:cNvPr>
          <p:cNvSpPr/>
          <p:nvPr/>
        </p:nvSpPr>
        <p:spPr>
          <a:xfrm>
            <a:off x="4448083" y="2719279"/>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Equals 4">
            <a:extLst>
              <a:ext uri="{FF2B5EF4-FFF2-40B4-BE49-F238E27FC236}">
                <a16:creationId xmlns:a16="http://schemas.microsoft.com/office/drawing/2014/main" id="{038550AA-ED90-42C8-B086-5191944C3C92}"/>
              </a:ext>
            </a:extLst>
          </p:cNvPr>
          <p:cNvSpPr/>
          <p:nvPr/>
        </p:nvSpPr>
        <p:spPr>
          <a:xfrm>
            <a:off x="3516925" y="3035129"/>
            <a:ext cx="602064" cy="422031"/>
          </a:xfrm>
          <a:prstGeom prst="mathEqual">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graphicFrame>
        <p:nvGraphicFramePr>
          <p:cNvPr id="12" name="Table 9">
            <a:extLst>
              <a:ext uri="{FF2B5EF4-FFF2-40B4-BE49-F238E27FC236}">
                <a16:creationId xmlns:a16="http://schemas.microsoft.com/office/drawing/2014/main" id="{FD1BDA49-5148-4E01-88F5-B46706D4F4B5}"/>
              </a:ext>
            </a:extLst>
          </p:cNvPr>
          <p:cNvGraphicFramePr>
            <a:graphicFrameLocks/>
          </p:cNvGraphicFramePr>
          <p:nvPr>
            <p:extLst>
              <p:ext uri="{D42A27DB-BD31-4B8C-83A1-F6EECF244321}">
                <p14:modId xmlns:p14="http://schemas.microsoft.com/office/powerpoint/2010/main" val="3160862202"/>
              </p:ext>
            </p:extLst>
          </p:nvPr>
        </p:nvGraphicFramePr>
        <p:xfrm>
          <a:off x="4383432" y="2664418"/>
          <a:ext cx="1562852" cy="1529164"/>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gridCol w="390713">
                  <a:extLst>
                    <a:ext uri="{9D8B030D-6E8A-4147-A177-3AD203B41FA5}">
                      <a16:colId xmlns:a16="http://schemas.microsoft.com/office/drawing/2014/main" val="2185225175"/>
                    </a:ext>
                  </a:extLst>
                </a:gridCol>
              </a:tblGrid>
              <a:tr h="382291">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extLst>
                  <a:ext uri="{0D108BD9-81ED-4DB2-BD59-A6C34878D82A}">
                    <a16:rowId xmlns:a16="http://schemas.microsoft.com/office/drawing/2014/main" val="253089178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4686767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2307687"/>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327148248"/>
                  </a:ext>
                </a:extLst>
              </a:tr>
            </a:tbl>
          </a:graphicData>
        </a:graphic>
      </p:graphicFrame>
      <p:sp>
        <p:nvSpPr>
          <p:cNvPr id="10" name="Oval 9">
            <a:extLst>
              <a:ext uri="{FF2B5EF4-FFF2-40B4-BE49-F238E27FC236}">
                <a16:creationId xmlns:a16="http://schemas.microsoft.com/office/drawing/2014/main" id="{ED6A19D3-A119-4E08-B5F5-4F7F8C737BBC}"/>
              </a:ext>
            </a:extLst>
          </p:cNvPr>
          <p:cNvSpPr/>
          <p:nvPr/>
        </p:nvSpPr>
        <p:spPr>
          <a:xfrm>
            <a:off x="4825566" y="2716934"/>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Content Placeholder 3">
            <a:extLst>
              <a:ext uri="{FF2B5EF4-FFF2-40B4-BE49-F238E27FC236}">
                <a16:creationId xmlns:a16="http://schemas.microsoft.com/office/drawing/2014/main" id="{46FB4FF0-16D1-4449-ADC9-FCA09A730D4C}"/>
              </a:ext>
            </a:extLst>
          </p:cNvPr>
          <p:cNvSpPr txBox="1">
            <a:spLocks/>
          </p:cNvSpPr>
          <p:nvPr/>
        </p:nvSpPr>
        <p:spPr>
          <a:xfrm>
            <a:off x="7001301" y="1825625"/>
            <a:ext cx="4352499" cy="33228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What does the stride S do?</a:t>
            </a:r>
          </a:p>
          <a:p>
            <a:r>
              <a:rPr lang="en-US" dirty="0"/>
              <a:t>S=2 means the kernel moves 2 pixels after each operation. </a:t>
            </a:r>
          </a:p>
          <a:p>
            <a:r>
              <a:rPr lang="en-US" dirty="0"/>
              <a:t>It defines the intervals at which the filter is applied (here S = 2)</a:t>
            </a:r>
          </a:p>
          <a:p>
            <a:pPr>
              <a:buNone/>
            </a:pPr>
            <a:endParaRPr lang="en-US" dirty="0"/>
          </a:p>
        </p:txBody>
      </p:sp>
    </p:spTree>
    <p:extLst>
      <p:ext uri="{BB962C8B-B14F-4D97-AF65-F5344CB8AC3E}">
        <p14:creationId xmlns:p14="http://schemas.microsoft.com/office/powerpoint/2010/main" val="136777357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5A970-D3FC-4B0F-A9B9-55F8EB30EB8E}"/>
              </a:ext>
            </a:extLst>
          </p:cNvPr>
          <p:cNvSpPr>
            <a:spLocks noGrp="1"/>
          </p:cNvSpPr>
          <p:nvPr>
            <p:ph type="title"/>
          </p:nvPr>
        </p:nvSpPr>
        <p:spPr>
          <a:xfrm>
            <a:off x="838200" y="365126"/>
            <a:ext cx="10515600" cy="688422"/>
          </a:xfrm>
        </p:spPr>
        <p:txBody>
          <a:bodyPr>
            <a:normAutofit fontScale="90000"/>
          </a:bodyPr>
          <a:lstStyle/>
          <a:p>
            <a:pPr algn="ctr"/>
            <a:r>
              <a:rPr lang="en-US" dirty="0"/>
              <a:t>Stride</a:t>
            </a:r>
          </a:p>
        </p:txBody>
      </p:sp>
      <p:graphicFrame>
        <p:nvGraphicFramePr>
          <p:cNvPr id="9" name="Table 9">
            <a:extLst>
              <a:ext uri="{FF2B5EF4-FFF2-40B4-BE49-F238E27FC236}">
                <a16:creationId xmlns:a16="http://schemas.microsoft.com/office/drawing/2014/main" id="{EA01B71A-6B5D-40C0-889A-126145B38D68}"/>
              </a:ext>
            </a:extLst>
          </p:cNvPr>
          <p:cNvGraphicFramePr>
            <a:graphicFrameLocks noGrp="1"/>
          </p:cNvGraphicFramePr>
          <p:nvPr>
            <p:ph sz="half" idx="1"/>
          </p:nvPr>
        </p:nvGraphicFramePr>
        <p:xfrm>
          <a:off x="196949" y="1825624"/>
          <a:ext cx="3275811" cy="3440619"/>
        </p:xfrm>
        <a:graphic>
          <a:graphicData uri="http://schemas.openxmlformats.org/drawingml/2006/table">
            <a:tbl>
              <a:tblPr firstRow="1" bandRow="1">
                <a:tableStyleId>{5940675A-B579-460E-94D1-54222C63F5DA}</a:tableStyleId>
              </a:tblPr>
              <a:tblGrid>
                <a:gridCol w="363979">
                  <a:extLst>
                    <a:ext uri="{9D8B030D-6E8A-4147-A177-3AD203B41FA5}">
                      <a16:colId xmlns:a16="http://schemas.microsoft.com/office/drawing/2014/main" val="1450421238"/>
                    </a:ext>
                  </a:extLst>
                </a:gridCol>
                <a:gridCol w="363979">
                  <a:extLst>
                    <a:ext uri="{9D8B030D-6E8A-4147-A177-3AD203B41FA5}">
                      <a16:colId xmlns:a16="http://schemas.microsoft.com/office/drawing/2014/main" val="2325746083"/>
                    </a:ext>
                  </a:extLst>
                </a:gridCol>
                <a:gridCol w="363979">
                  <a:extLst>
                    <a:ext uri="{9D8B030D-6E8A-4147-A177-3AD203B41FA5}">
                      <a16:colId xmlns:a16="http://schemas.microsoft.com/office/drawing/2014/main" val="1306752537"/>
                    </a:ext>
                  </a:extLst>
                </a:gridCol>
                <a:gridCol w="363979">
                  <a:extLst>
                    <a:ext uri="{9D8B030D-6E8A-4147-A177-3AD203B41FA5}">
                      <a16:colId xmlns:a16="http://schemas.microsoft.com/office/drawing/2014/main" val="879769399"/>
                    </a:ext>
                  </a:extLst>
                </a:gridCol>
                <a:gridCol w="363979">
                  <a:extLst>
                    <a:ext uri="{9D8B030D-6E8A-4147-A177-3AD203B41FA5}">
                      <a16:colId xmlns:a16="http://schemas.microsoft.com/office/drawing/2014/main" val="2185225175"/>
                    </a:ext>
                  </a:extLst>
                </a:gridCol>
                <a:gridCol w="363979">
                  <a:extLst>
                    <a:ext uri="{9D8B030D-6E8A-4147-A177-3AD203B41FA5}">
                      <a16:colId xmlns:a16="http://schemas.microsoft.com/office/drawing/2014/main" val="2001228772"/>
                    </a:ext>
                  </a:extLst>
                </a:gridCol>
                <a:gridCol w="363979">
                  <a:extLst>
                    <a:ext uri="{9D8B030D-6E8A-4147-A177-3AD203B41FA5}">
                      <a16:colId xmlns:a16="http://schemas.microsoft.com/office/drawing/2014/main" val="4010749547"/>
                    </a:ext>
                  </a:extLst>
                </a:gridCol>
                <a:gridCol w="363979">
                  <a:extLst>
                    <a:ext uri="{9D8B030D-6E8A-4147-A177-3AD203B41FA5}">
                      <a16:colId xmlns:a16="http://schemas.microsoft.com/office/drawing/2014/main" val="1701568956"/>
                    </a:ext>
                  </a:extLst>
                </a:gridCol>
                <a:gridCol w="363979">
                  <a:extLst>
                    <a:ext uri="{9D8B030D-6E8A-4147-A177-3AD203B41FA5}">
                      <a16:colId xmlns:a16="http://schemas.microsoft.com/office/drawing/2014/main" val="3047849370"/>
                    </a:ext>
                  </a:extLst>
                </a:gridCol>
              </a:tblGrid>
              <a:tr h="382291">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extLst>
                  <a:ext uri="{0D108BD9-81ED-4DB2-BD59-A6C34878D82A}">
                    <a16:rowId xmlns:a16="http://schemas.microsoft.com/office/drawing/2014/main" val="850174952"/>
                  </a:ext>
                </a:extLst>
              </a:tr>
              <a:tr h="382291">
                <a:tc>
                  <a:txBody>
                    <a:bodyPr/>
                    <a:lstStyle/>
                    <a:p>
                      <a:pPr algn="ctr"/>
                      <a:r>
                        <a:rPr lang="en-US" dirty="0"/>
                        <a:t>0</a:t>
                      </a:r>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r>
                        <a:rPr lang="en-US" dirty="0"/>
                        <a:t>0</a:t>
                      </a:r>
                    </a:p>
                  </a:txBody>
                  <a:tcPr anchor="ctr"/>
                </a:tc>
                <a:extLst>
                  <a:ext uri="{0D108BD9-81ED-4DB2-BD59-A6C34878D82A}">
                    <a16:rowId xmlns:a16="http://schemas.microsoft.com/office/drawing/2014/main" val="2530891781"/>
                  </a:ext>
                </a:extLst>
              </a:tr>
              <a:tr h="382291">
                <a:tc>
                  <a:txBody>
                    <a:bodyPr/>
                    <a:lstStyle/>
                    <a:p>
                      <a:pPr algn="ctr"/>
                      <a:r>
                        <a:rPr lang="en-US" dirty="0"/>
                        <a:t>0</a:t>
                      </a:r>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tc>
                  <a:txBody>
                    <a:bodyPr/>
                    <a:lstStyle/>
                    <a:p>
                      <a:pPr algn="ctr"/>
                      <a:r>
                        <a:rPr lang="en-US" dirty="0"/>
                        <a:t>0</a:t>
                      </a:r>
                    </a:p>
                  </a:txBody>
                  <a:tcPr anchor="ctr"/>
                </a:tc>
                <a:extLst>
                  <a:ext uri="{0D108BD9-81ED-4DB2-BD59-A6C34878D82A}">
                    <a16:rowId xmlns:a16="http://schemas.microsoft.com/office/drawing/2014/main" val="1246867671"/>
                  </a:ext>
                </a:extLst>
              </a:tr>
              <a:tr h="382291">
                <a:tc>
                  <a:txBody>
                    <a:bodyPr/>
                    <a:lstStyle/>
                    <a:p>
                      <a:pPr algn="ctr"/>
                      <a:r>
                        <a:rPr lang="en-US" dirty="0"/>
                        <a:t>0</a:t>
                      </a:r>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tc>
                  <a:txBody>
                    <a:bodyPr/>
                    <a:lstStyle/>
                    <a:p>
                      <a:pPr algn="ctr"/>
                      <a:r>
                        <a:rPr lang="en-US" dirty="0"/>
                        <a:t>0</a:t>
                      </a:r>
                    </a:p>
                  </a:txBody>
                  <a:tcPr anchor="ctr"/>
                </a:tc>
                <a:extLst>
                  <a:ext uri="{0D108BD9-81ED-4DB2-BD59-A6C34878D82A}">
                    <a16:rowId xmlns:a16="http://schemas.microsoft.com/office/drawing/2014/main" val="122307687"/>
                  </a:ext>
                </a:extLst>
              </a:tr>
              <a:tr h="382291">
                <a:tc>
                  <a:txBody>
                    <a:bodyPr/>
                    <a:lstStyle/>
                    <a:p>
                      <a:pPr algn="ctr"/>
                      <a:r>
                        <a:rPr lang="en-US" dirty="0"/>
                        <a:t>0</a:t>
                      </a:r>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r>
                        <a:rPr lang="en-US" dirty="0"/>
                        <a:t>0</a:t>
                      </a:r>
                    </a:p>
                  </a:txBody>
                  <a:tcPr anchor="ctr"/>
                </a:tc>
                <a:extLst>
                  <a:ext uri="{0D108BD9-81ED-4DB2-BD59-A6C34878D82A}">
                    <a16:rowId xmlns:a16="http://schemas.microsoft.com/office/drawing/2014/main" val="327148248"/>
                  </a:ext>
                </a:extLst>
              </a:tr>
              <a:tr h="382291">
                <a:tc>
                  <a:txBody>
                    <a:bodyPr/>
                    <a:lstStyle/>
                    <a:p>
                      <a:pPr algn="ctr"/>
                      <a:r>
                        <a:rPr lang="en-US" dirty="0"/>
                        <a:t>0</a:t>
                      </a:r>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r>
                        <a:rPr lang="en-US" dirty="0"/>
                        <a:t>0</a:t>
                      </a:r>
                    </a:p>
                  </a:txBody>
                  <a:tcPr anchor="ctr"/>
                </a:tc>
                <a:extLst>
                  <a:ext uri="{0D108BD9-81ED-4DB2-BD59-A6C34878D82A}">
                    <a16:rowId xmlns:a16="http://schemas.microsoft.com/office/drawing/2014/main" val="3807760174"/>
                  </a:ext>
                </a:extLst>
              </a:tr>
              <a:tr h="382291">
                <a:tc>
                  <a:txBody>
                    <a:bodyPr/>
                    <a:lstStyle/>
                    <a:p>
                      <a:pPr algn="ctr"/>
                      <a:r>
                        <a:rPr lang="en-US" dirty="0"/>
                        <a:t>0</a:t>
                      </a:r>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r>
                        <a:rPr lang="en-US" dirty="0"/>
                        <a:t>0</a:t>
                      </a:r>
                    </a:p>
                  </a:txBody>
                  <a:tcPr anchor="ctr"/>
                </a:tc>
                <a:extLst>
                  <a:ext uri="{0D108BD9-81ED-4DB2-BD59-A6C34878D82A}">
                    <a16:rowId xmlns:a16="http://schemas.microsoft.com/office/drawing/2014/main" val="189591463"/>
                  </a:ext>
                </a:extLst>
              </a:tr>
              <a:tr h="382291">
                <a:tc>
                  <a:txBody>
                    <a:bodyPr/>
                    <a:lstStyle/>
                    <a:p>
                      <a:pPr algn="ctr"/>
                      <a:r>
                        <a:rPr lang="en-US" dirty="0"/>
                        <a:t>0</a:t>
                      </a:r>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r>
                        <a:rPr lang="en-US" dirty="0"/>
                        <a:t>0</a:t>
                      </a:r>
                    </a:p>
                  </a:txBody>
                  <a:tcPr anchor="ctr"/>
                </a:tc>
                <a:extLst>
                  <a:ext uri="{0D108BD9-81ED-4DB2-BD59-A6C34878D82A}">
                    <a16:rowId xmlns:a16="http://schemas.microsoft.com/office/drawing/2014/main" val="1844451045"/>
                  </a:ext>
                </a:extLst>
              </a:tr>
              <a:tr h="382291">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extLst>
                  <a:ext uri="{0D108BD9-81ED-4DB2-BD59-A6C34878D82A}">
                    <a16:rowId xmlns:a16="http://schemas.microsoft.com/office/drawing/2014/main" val="41784807"/>
                  </a:ext>
                </a:extLst>
              </a:tr>
            </a:tbl>
          </a:graphicData>
        </a:graphic>
      </p:graphicFrame>
      <p:sp>
        <p:nvSpPr>
          <p:cNvPr id="4" name="Content Placeholder 3">
            <a:extLst>
              <a:ext uri="{FF2B5EF4-FFF2-40B4-BE49-F238E27FC236}">
                <a16:creationId xmlns:a16="http://schemas.microsoft.com/office/drawing/2014/main" id="{46FB4FF0-16D1-4449-ADC9-FCA09A730D4C}"/>
              </a:ext>
            </a:extLst>
          </p:cNvPr>
          <p:cNvSpPr>
            <a:spLocks noGrp="1"/>
          </p:cNvSpPr>
          <p:nvPr>
            <p:ph sz="half" idx="2"/>
          </p:nvPr>
        </p:nvSpPr>
        <p:spPr>
          <a:xfrm>
            <a:off x="7001301" y="1825625"/>
            <a:ext cx="4352499" cy="4351338"/>
          </a:xfrm>
        </p:spPr>
        <p:txBody>
          <a:bodyPr/>
          <a:lstStyle/>
          <a:p>
            <a:r>
              <a:rPr lang="en-US" dirty="0"/>
              <a:t>What does the stride S do?</a:t>
            </a:r>
          </a:p>
          <a:p>
            <a:r>
              <a:rPr lang="en-US" dirty="0"/>
              <a:t>It defines the intervals at which the filter is applied (here S = 2)</a:t>
            </a:r>
          </a:p>
          <a:p>
            <a:r>
              <a:rPr lang="en-US" dirty="0"/>
              <a:t>Here, we are essentially skipping every 2nd pixel which will again result in an output which is of smaller dimensions</a:t>
            </a:r>
          </a:p>
        </p:txBody>
      </p:sp>
      <p:graphicFrame>
        <p:nvGraphicFramePr>
          <p:cNvPr id="11" name="Table 10">
            <a:extLst>
              <a:ext uri="{FF2B5EF4-FFF2-40B4-BE49-F238E27FC236}">
                <a16:creationId xmlns:a16="http://schemas.microsoft.com/office/drawing/2014/main" id="{2CF008FC-F4B5-408C-AED6-F56A478D2140}"/>
              </a:ext>
            </a:extLst>
          </p:cNvPr>
          <p:cNvGraphicFramePr>
            <a:graphicFrameLocks/>
          </p:cNvGraphicFramePr>
          <p:nvPr>
            <p:extLst>
              <p:ext uri="{D42A27DB-BD31-4B8C-83A1-F6EECF244321}">
                <p14:modId xmlns:p14="http://schemas.microsoft.com/office/powerpoint/2010/main" val="2641310742"/>
              </p:ext>
            </p:extLst>
          </p:nvPr>
        </p:nvGraphicFramePr>
        <p:xfrm>
          <a:off x="1645929" y="1825624"/>
          <a:ext cx="1097280" cy="1146873"/>
        </p:xfrm>
        <a:graphic>
          <a:graphicData uri="http://schemas.openxmlformats.org/drawingml/2006/table">
            <a:tbl>
              <a:tblPr firstRow="1" bandRow="1">
                <a:tableStyleId>{5940675A-B579-460E-94D1-54222C63F5DA}</a:tableStyleId>
              </a:tblPr>
              <a:tblGrid>
                <a:gridCol w="365760">
                  <a:extLst>
                    <a:ext uri="{9D8B030D-6E8A-4147-A177-3AD203B41FA5}">
                      <a16:colId xmlns:a16="http://schemas.microsoft.com/office/drawing/2014/main" val="2325746083"/>
                    </a:ext>
                  </a:extLst>
                </a:gridCol>
                <a:gridCol w="365760">
                  <a:extLst>
                    <a:ext uri="{9D8B030D-6E8A-4147-A177-3AD203B41FA5}">
                      <a16:colId xmlns:a16="http://schemas.microsoft.com/office/drawing/2014/main" val="1306752537"/>
                    </a:ext>
                  </a:extLst>
                </a:gridCol>
                <a:gridCol w="365760">
                  <a:extLst>
                    <a:ext uri="{9D8B030D-6E8A-4147-A177-3AD203B41FA5}">
                      <a16:colId xmlns:a16="http://schemas.microsoft.com/office/drawing/2014/main" val="879769399"/>
                    </a:ext>
                  </a:extLst>
                </a:gridCol>
              </a:tblGrid>
              <a:tr h="382291">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2530891781"/>
                  </a:ext>
                </a:extLst>
              </a:tr>
              <a:tr h="382291">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1246867671"/>
                  </a:ext>
                </a:extLst>
              </a:tr>
              <a:tr h="382291">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extLst>
                  <a:ext uri="{0D108BD9-81ED-4DB2-BD59-A6C34878D82A}">
                    <a16:rowId xmlns:a16="http://schemas.microsoft.com/office/drawing/2014/main" val="122307687"/>
                  </a:ext>
                </a:extLst>
              </a:tr>
            </a:tbl>
          </a:graphicData>
        </a:graphic>
      </p:graphicFrame>
      <p:sp>
        <p:nvSpPr>
          <p:cNvPr id="3" name="Oval 2">
            <a:extLst>
              <a:ext uri="{FF2B5EF4-FFF2-40B4-BE49-F238E27FC236}">
                <a16:creationId xmlns:a16="http://schemas.microsoft.com/office/drawing/2014/main" id="{5192DD35-6300-4A35-804B-30E5F3BEA32E}"/>
              </a:ext>
            </a:extLst>
          </p:cNvPr>
          <p:cNvSpPr/>
          <p:nvPr/>
        </p:nvSpPr>
        <p:spPr>
          <a:xfrm>
            <a:off x="4448083" y="2719279"/>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Equals 4">
            <a:extLst>
              <a:ext uri="{FF2B5EF4-FFF2-40B4-BE49-F238E27FC236}">
                <a16:creationId xmlns:a16="http://schemas.microsoft.com/office/drawing/2014/main" id="{038550AA-ED90-42C8-B086-5191944C3C92}"/>
              </a:ext>
            </a:extLst>
          </p:cNvPr>
          <p:cNvSpPr/>
          <p:nvPr/>
        </p:nvSpPr>
        <p:spPr>
          <a:xfrm>
            <a:off x="3516925" y="3035129"/>
            <a:ext cx="602064" cy="422031"/>
          </a:xfrm>
          <a:prstGeom prst="mathEqual">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graphicFrame>
        <p:nvGraphicFramePr>
          <p:cNvPr id="12" name="Table 9">
            <a:extLst>
              <a:ext uri="{FF2B5EF4-FFF2-40B4-BE49-F238E27FC236}">
                <a16:creationId xmlns:a16="http://schemas.microsoft.com/office/drawing/2014/main" id="{FD1BDA49-5148-4E01-88F5-B46706D4F4B5}"/>
              </a:ext>
            </a:extLst>
          </p:cNvPr>
          <p:cNvGraphicFramePr>
            <a:graphicFrameLocks/>
          </p:cNvGraphicFramePr>
          <p:nvPr/>
        </p:nvGraphicFramePr>
        <p:xfrm>
          <a:off x="4383432" y="2664418"/>
          <a:ext cx="1562852" cy="1529164"/>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gridCol w="390713">
                  <a:extLst>
                    <a:ext uri="{9D8B030D-6E8A-4147-A177-3AD203B41FA5}">
                      <a16:colId xmlns:a16="http://schemas.microsoft.com/office/drawing/2014/main" val="2185225175"/>
                    </a:ext>
                  </a:extLst>
                </a:gridCol>
              </a:tblGrid>
              <a:tr h="382291">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extLst>
                  <a:ext uri="{0D108BD9-81ED-4DB2-BD59-A6C34878D82A}">
                    <a16:rowId xmlns:a16="http://schemas.microsoft.com/office/drawing/2014/main" val="253089178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4686767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2307687"/>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327148248"/>
                  </a:ext>
                </a:extLst>
              </a:tr>
            </a:tbl>
          </a:graphicData>
        </a:graphic>
      </p:graphicFrame>
      <p:sp>
        <p:nvSpPr>
          <p:cNvPr id="10" name="Oval 9">
            <a:extLst>
              <a:ext uri="{FF2B5EF4-FFF2-40B4-BE49-F238E27FC236}">
                <a16:creationId xmlns:a16="http://schemas.microsoft.com/office/drawing/2014/main" id="{ED6A19D3-A119-4E08-B5F5-4F7F8C737BBC}"/>
              </a:ext>
            </a:extLst>
          </p:cNvPr>
          <p:cNvSpPr/>
          <p:nvPr/>
        </p:nvSpPr>
        <p:spPr>
          <a:xfrm>
            <a:off x="4825566" y="2716934"/>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6B09D9D9-A876-4379-A52D-3FA26F08AF8F}"/>
              </a:ext>
            </a:extLst>
          </p:cNvPr>
          <p:cNvSpPr/>
          <p:nvPr/>
        </p:nvSpPr>
        <p:spPr>
          <a:xfrm>
            <a:off x="5231186" y="2714589"/>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430238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5A970-D3FC-4B0F-A9B9-55F8EB30EB8E}"/>
              </a:ext>
            </a:extLst>
          </p:cNvPr>
          <p:cNvSpPr>
            <a:spLocks noGrp="1"/>
          </p:cNvSpPr>
          <p:nvPr>
            <p:ph type="title"/>
          </p:nvPr>
        </p:nvSpPr>
        <p:spPr>
          <a:xfrm>
            <a:off x="838200" y="365126"/>
            <a:ext cx="10515600" cy="509518"/>
          </a:xfrm>
        </p:spPr>
        <p:txBody>
          <a:bodyPr>
            <a:normAutofit fontScale="90000"/>
          </a:bodyPr>
          <a:lstStyle/>
          <a:p>
            <a:pPr algn="ctr"/>
            <a:r>
              <a:rPr lang="en-US" dirty="0"/>
              <a:t>Stride</a:t>
            </a:r>
          </a:p>
        </p:txBody>
      </p:sp>
      <p:graphicFrame>
        <p:nvGraphicFramePr>
          <p:cNvPr id="9" name="Table 9">
            <a:extLst>
              <a:ext uri="{FF2B5EF4-FFF2-40B4-BE49-F238E27FC236}">
                <a16:creationId xmlns:a16="http://schemas.microsoft.com/office/drawing/2014/main" id="{EA01B71A-6B5D-40C0-889A-126145B38D68}"/>
              </a:ext>
            </a:extLst>
          </p:cNvPr>
          <p:cNvGraphicFramePr>
            <a:graphicFrameLocks noGrp="1"/>
          </p:cNvGraphicFramePr>
          <p:nvPr>
            <p:ph sz="half" idx="1"/>
          </p:nvPr>
        </p:nvGraphicFramePr>
        <p:xfrm>
          <a:off x="872801" y="1825624"/>
          <a:ext cx="3275811" cy="3440619"/>
        </p:xfrm>
        <a:graphic>
          <a:graphicData uri="http://schemas.openxmlformats.org/drawingml/2006/table">
            <a:tbl>
              <a:tblPr firstRow="1" bandRow="1">
                <a:tableStyleId>{5940675A-B579-460E-94D1-54222C63F5DA}</a:tableStyleId>
              </a:tblPr>
              <a:tblGrid>
                <a:gridCol w="363979">
                  <a:extLst>
                    <a:ext uri="{9D8B030D-6E8A-4147-A177-3AD203B41FA5}">
                      <a16:colId xmlns:a16="http://schemas.microsoft.com/office/drawing/2014/main" val="1450421238"/>
                    </a:ext>
                  </a:extLst>
                </a:gridCol>
                <a:gridCol w="363979">
                  <a:extLst>
                    <a:ext uri="{9D8B030D-6E8A-4147-A177-3AD203B41FA5}">
                      <a16:colId xmlns:a16="http://schemas.microsoft.com/office/drawing/2014/main" val="2325746083"/>
                    </a:ext>
                  </a:extLst>
                </a:gridCol>
                <a:gridCol w="363979">
                  <a:extLst>
                    <a:ext uri="{9D8B030D-6E8A-4147-A177-3AD203B41FA5}">
                      <a16:colId xmlns:a16="http://schemas.microsoft.com/office/drawing/2014/main" val="1306752537"/>
                    </a:ext>
                  </a:extLst>
                </a:gridCol>
                <a:gridCol w="363979">
                  <a:extLst>
                    <a:ext uri="{9D8B030D-6E8A-4147-A177-3AD203B41FA5}">
                      <a16:colId xmlns:a16="http://schemas.microsoft.com/office/drawing/2014/main" val="879769399"/>
                    </a:ext>
                  </a:extLst>
                </a:gridCol>
                <a:gridCol w="363979">
                  <a:extLst>
                    <a:ext uri="{9D8B030D-6E8A-4147-A177-3AD203B41FA5}">
                      <a16:colId xmlns:a16="http://schemas.microsoft.com/office/drawing/2014/main" val="2185225175"/>
                    </a:ext>
                  </a:extLst>
                </a:gridCol>
                <a:gridCol w="363979">
                  <a:extLst>
                    <a:ext uri="{9D8B030D-6E8A-4147-A177-3AD203B41FA5}">
                      <a16:colId xmlns:a16="http://schemas.microsoft.com/office/drawing/2014/main" val="2001228772"/>
                    </a:ext>
                  </a:extLst>
                </a:gridCol>
                <a:gridCol w="363979">
                  <a:extLst>
                    <a:ext uri="{9D8B030D-6E8A-4147-A177-3AD203B41FA5}">
                      <a16:colId xmlns:a16="http://schemas.microsoft.com/office/drawing/2014/main" val="4010749547"/>
                    </a:ext>
                  </a:extLst>
                </a:gridCol>
                <a:gridCol w="363979">
                  <a:extLst>
                    <a:ext uri="{9D8B030D-6E8A-4147-A177-3AD203B41FA5}">
                      <a16:colId xmlns:a16="http://schemas.microsoft.com/office/drawing/2014/main" val="1701568956"/>
                    </a:ext>
                  </a:extLst>
                </a:gridCol>
                <a:gridCol w="363979">
                  <a:extLst>
                    <a:ext uri="{9D8B030D-6E8A-4147-A177-3AD203B41FA5}">
                      <a16:colId xmlns:a16="http://schemas.microsoft.com/office/drawing/2014/main" val="3047849370"/>
                    </a:ext>
                  </a:extLst>
                </a:gridCol>
              </a:tblGrid>
              <a:tr h="382291">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extLst>
                  <a:ext uri="{0D108BD9-81ED-4DB2-BD59-A6C34878D82A}">
                    <a16:rowId xmlns:a16="http://schemas.microsoft.com/office/drawing/2014/main" val="850174952"/>
                  </a:ext>
                </a:extLst>
              </a:tr>
              <a:tr h="382291">
                <a:tc>
                  <a:txBody>
                    <a:bodyPr/>
                    <a:lstStyle/>
                    <a:p>
                      <a:pPr algn="ctr"/>
                      <a:r>
                        <a:rPr lang="en-US" dirty="0"/>
                        <a:t>0</a:t>
                      </a:r>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r>
                        <a:rPr lang="en-US" dirty="0"/>
                        <a:t>0</a:t>
                      </a:r>
                    </a:p>
                  </a:txBody>
                  <a:tcPr anchor="ctr"/>
                </a:tc>
                <a:extLst>
                  <a:ext uri="{0D108BD9-81ED-4DB2-BD59-A6C34878D82A}">
                    <a16:rowId xmlns:a16="http://schemas.microsoft.com/office/drawing/2014/main" val="2530891781"/>
                  </a:ext>
                </a:extLst>
              </a:tr>
              <a:tr h="382291">
                <a:tc>
                  <a:txBody>
                    <a:bodyPr/>
                    <a:lstStyle/>
                    <a:p>
                      <a:pPr algn="ctr"/>
                      <a:r>
                        <a:rPr lang="en-US" dirty="0"/>
                        <a:t>0</a:t>
                      </a:r>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tc>
                  <a:txBody>
                    <a:bodyPr/>
                    <a:lstStyle/>
                    <a:p>
                      <a:pPr algn="ctr"/>
                      <a:r>
                        <a:rPr lang="en-US" dirty="0"/>
                        <a:t>0</a:t>
                      </a:r>
                    </a:p>
                  </a:txBody>
                  <a:tcPr anchor="ctr"/>
                </a:tc>
                <a:extLst>
                  <a:ext uri="{0D108BD9-81ED-4DB2-BD59-A6C34878D82A}">
                    <a16:rowId xmlns:a16="http://schemas.microsoft.com/office/drawing/2014/main" val="1246867671"/>
                  </a:ext>
                </a:extLst>
              </a:tr>
              <a:tr h="382291">
                <a:tc>
                  <a:txBody>
                    <a:bodyPr/>
                    <a:lstStyle/>
                    <a:p>
                      <a:pPr algn="ctr"/>
                      <a:r>
                        <a:rPr lang="en-US" dirty="0"/>
                        <a:t>0</a:t>
                      </a:r>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a:p>
                  </a:txBody>
                  <a:tcPr anchor="ctr"/>
                </a:tc>
                <a:tc>
                  <a:txBody>
                    <a:bodyPr/>
                    <a:lstStyle/>
                    <a:p>
                      <a:pPr algn="ctr"/>
                      <a:r>
                        <a:rPr lang="en-US" dirty="0"/>
                        <a:t>0</a:t>
                      </a:r>
                    </a:p>
                  </a:txBody>
                  <a:tcPr anchor="ctr"/>
                </a:tc>
                <a:extLst>
                  <a:ext uri="{0D108BD9-81ED-4DB2-BD59-A6C34878D82A}">
                    <a16:rowId xmlns:a16="http://schemas.microsoft.com/office/drawing/2014/main" val="122307687"/>
                  </a:ext>
                </a:extLst>
              </a:tr>
              <a:tr h="382291">
                <a:tc>
                  <a:txBody>
                    <a:bodyPr/>
                    <a:lstStyle/>
                    <a:p>
                      <a:pPr algn="ctr"/>
                      <a:r>
                        <a:rPr lang="en-US" dirty="0"/>
                        <a:t>0</a:t>
                      </a:r>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r>
                        <a:rPr lang="en-US" dirty="0"/>
                        <a:t>0</a:t>
                      </a:r>
                    </a:p>
                  </a:txBody>
                  <a:tcPr anchor="ctr"/>
                </a:tc>
                <a:extLst>
                  <a:ext uri="{0D108BD9-81ED-4DB2-BD59-A6C34878D82A}">
                    <a16:rowId xmlns:a16="http://schemas.microsoft.com/office/drawing/2014/main" val="327148248"/>
                  </a:ext>
                </a:extLst>
              </a:tr>
              <a:tr h="382291">
                <a:tc>
                  <a:txBody>
                    <a:bodyPr/>
                    <a:lstStyle/>
                    <a:p>
                      <a:pPr algn="ctr"/>
                      <a:r>
                        <a:rPr lang="en-US" dirty="0"/>
                        <a:t>0</a:t>
                      </a:r>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r>
                        <a:rPr lang="en-US" dirty="0"/>
                        <a:t>0</a:t>
                      </a:r>
                    </a:p>
                  </a:txBody>
                  <a:tcPr anchor="ctr"/>
                </a:tc>
                <a:extLst>
                  <a:ext uri="{0D108BD9-81ED-4DB2-BD59-A6C34878D82A}">
                    <a16:rowId xmlns:a16="http://schemas.microsoft.com/office/drawing/2014/main" val="3807760174"/>
                  </a:ext>
                </a:extLst>
              </a:tr>
              <a:tr h="382291">
                <a:tc>
                  <a:txBody>
                    <a:bodyPr/>
                    <a:lstStyle/>
                    <a:p>
                      <a:pPr algn="ctr"/>
                      <a:r>
                        <a:rPr lang="en-US" dirty="0"/>
                        <a:t>0</a:t>
                      </a:r>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r>
                        <a:rPr lang="en-US" dirty="0"/>
                        <a:t>0</a:t>
                      </a:r>
                    </a:p>
                  </a:txBody>
                  <a:tcPr anchor="ctr"/>
                </a:tc>
                <a:extLst>
                  <a:ext uri="{0D108BD9-81ED-4DB2-BD59-A6C34878D82A}">
                    <a16:rowId xmlns:a16="http://schemas.microsoft.com/office/drawing/2014/main" val="189591463"/>
                  </a:ext>
                </a:extLst>
              </a:tr>
              <a:tr h="382291">
                <a:tc>
                  <a:txBody>
                    <a:bodyPr/>
                    <a:lstStyle/>
                    <a:p>
                      <a:pPr algn="ctr"/>
                      <a:r>
                        <a:rPr lang="en-US" dirty="0"/>
                        <a:t>0</a:t>
                      </a:r>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r>
                        <a:rPr lang="en-US" dirty="0"/>
                        <a:t>0</a:t>
                      </a:r>
                    </a:p>
                  </a:txBody>
                  <a:tcPr anchor="ctr"/>
                </a:tc>
                <a:extLst>
                  <a:ext uri="{0D108BD9-81ED-4DB2-BD59-A6C34878D82A}">
                    <a16:rowId xmlns:a16="http://schemas.microsoft.com/office/drawing/2014/main" val="1844451045"/>
                  </a:ext>
                </a:extLst>
              </a:tr>
              <a:tr h="382291">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tc>
                  <a:txBody>
                    <a:bodyPr/>
                    <a:lstStyle/>
                    <a:p>
                      <a:pPr algn="ctr"/>
                      <a:r>
                        <a:rPr lang="en-US" dirty="0"/>
                        <a:t>0</a:t>
                      </a:r>
                    </a:p>
                  </a:txBody>
                  <a:tcPr anchor="ctr"/>
                </a:tc>
                <a:extLst>
                  <a:ext uri="{0D108BD9-81ED-4DB2-BD59-A6C34878D82A}">
                    <a16:rowId xmlns:a16="http://schemas.microsoft.com/office/drawing/2014/main" val="41784807"/>
                  </a:ext>
                </a:extLst>
              </a:tr>
            </a:tbl>
          </a:graphicData>
        </a:graphic>
      </p:graphicFrame>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46FB4FF0-16D1-4449-ADC9-FCA09A730D4C}"/>
                  </a:ext>
                </a:extLst>
              </p:cNvPr>
              <p:cNvSpPr>
                <a:spLocks noGrp="1"/>
              </p:cNvSpPr>
              <p:nvPr>
                <p:ph sz="half" idx="2"/>
              </p:nvPr>
            </p:nvSpPr>
            <p:spPr>
              <a:xfrm>
                <a:off x="7202658" y="1825625"/>
                <a:ext cx="4151142" cy="4351338"/>
              </a:xfrm>
            </p:spPr>
            <p:txBody>
              <a:bodyPr/>
              <a:lstStyle/>
              <a:p>
                <a:r>
                  <a:rPr lang="en-US" dirty="0"/>
                  <a:t>Now we have;</a:t>
                </a:r>
              </a:p>
              <a:p>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2</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𝑊</m:t>
                              </m:r>
                            </m:e>
                            <m:sub>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𝐹</m:t>
                          </m:r>
                          <m:r>
                            <a:rPr lang="en-US" i="1">
                              <a:latin typeface="Cambria Math" panose="02040503050406030204" pitchFamily="18" charset="0"/>
                            </a:rPr>
                            <m:t>+2</m:t>
                          </m:r>
                          <m:r>
                            <a:rPr lang="en-US" i="1">
                              <a:latin typeface="Cambria Math" panose="02040503050406030204" pitchFamily="18" charset="0"/>
                            </a:rPr>
                            <m:t>𝑃</m:t>
                          </m:r>
                        </m:num>
                        <m:den>
                          <m:r>
                            <a:rPr lang="en-US" b="0" i="1" smtClean="0">
                              <a:latin typeface="Cambria Math" panose="02040503050406030204" pitchFamily="18" charset="0"/>
                            </a:rPr>
                            <m:t>𝑆</m:t>
                          </m:r>
                        </m:den>
                      </m:f>
                      <m:r>
                        <a:rPr lang="en-US" b="0" i="1" smtClean="0">
                          <a:latin typeface="Cambria Math" panose="02040503050406030204" pitchFamily="18" charset="0"/>
                        </a:rPr>
                        <m:t>+1</m:t>
                      </m:r>
                    </m:oMath>
                  </m:oMathPara>
                </a14:m>
                <a:endParaRPr lang="en-US" b="0" dirty="0"/>
              </a:p>
              <a:p>
                <a:pPr marL="0" indent="0">
                  <a:buNone/>
                </a:pPr>
                <a:endParaRPr lang="en-US" b="0" dirty="0"/>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2</m:t>
                          </m:r>
                        </m:sub>
                      </m:sSub>
                      <m:r>
                        <a:rPr lang="en-US" b="0" i="1" smtClean="0">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b="0" i="1" smtClean="0">
                                  <a:latin typeface="Cambria Math" panose="02040503050406030204" pitchFamily="18" charset="0"/>
                                </a:rPr>
                                <m:t>𝐻</m:t>
                              </m:r>
                            </m:e>
                            <m:sub>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𝐹</m:t>
                          </m:r>
                          <m:r>
                            <a:rPr lang="en-US" i="1">
                              <a:latin typeface="Cambria Math" panose="02040503050406030204" pitchFamily="18" charset="0"/>
                            </a:rPr>
                            <m:t>+2</m:t>
                          </m:r>
                          <m:r>
                            <a:rPr lang="en-US" i="1">
                              <a:latin typeface="Cambria Math" panose="02040503050406030204" pitchFamily="18" charset="0"/>
                            </a:rPr>
                            <m:t>𝑃</m:t>
                          </m:r>
                        </m:num>
                        <m:den>
                          <m:r>
                            <a:rPr lang="en-US" i="1">
                              <a:latin typeface="Cambria Math" panose="02040503050406030204" pitchFamily="18" charset="0"/>
                            </a:rPr>
                            <m:t>𝑆</m:t>
                          </m:r>
                        </m:den>
                      </m:f>
                      <m:r>
                        <a:rPr lang="en-US" b="0" i="1" smtClean="0">
                          <a:latin typeface="Cambria Math" panose="02040503050406030204" pitchFamily="18" charset="0"/>
                        </a:rPr>
                        <m:t>+1</m:t>
                      </m:r>
                    </m:oMath>
                  </m:oMathPara>
                </a14:m>
                <a:endParaRPr lang="en-US" dirty="0"/>
              </a:p>
            </p:txBody>
          </p:sp>
        </mc:Choice>
        <mc:Fallback xmlns="">
          <p:sp>
            <p:nvSpPr>
              <p:cNvPr id="4" name="Content Placeholder 3">
                <a:extLst>
                  <a:ext uri="{FF2B5EF4-FFF2-40B4-BE49-F238E27FC236}">
                    <a16:creationId xmlns:a14="http://schemas.microsoft.com/office/drawing/2010/main" xmlns="" xmlns:a16="http://schemas.microsoft.com/office/drawing/2014/main" id="{46FB4FF0-16D1-4449-ADC9-FCA09A730D4C}"/>
                  </a:ext>
                </a:extLst>
              </p:cNvPr>
              <p:cNvSpPr>
                <a:spLocks noGrp="1" noRot="1" noChangeAspect="1" noMove="1" noResize="1" noEditPoints="1" noAdjustHandles="1" noChangeArrowheads="1" noChangeShapeType="1" noTextEdit="1"/>
              </p:cNvSpPr>
              <p:nvPr>
                <p:ph sz="half" idx="2"/>
              </p:nvPr>
            </p:nvSpPr>
            <p:spPr>
              <a:xfrm>
                <a:off x="7202658" y="1825625"/>
                <a:ext cx="4151142" cy="4351338"/>
              </a:xfrm>
              <a:blipFill>
                <a:blip r:embed="rId2"/>
                <a:stretch>
                  <a:fillRect l="-2643" t="-2241"/>
                </a:stretch>
              </a:blipFill>
            </p:spPr>
            <p:txBody>
              <a:bodyPr/>
              <a:lstStyle/>
              <a:p>
                <a:r>
                  <a:rPr lang="en-US">
                    <a:noFill/>
                  </a:rPr>
                  <a:t> </a:t>
                </a:r>
              </a:p>
            </p:txBody>
          </p:sp>
        </mc:Fallback>
      </mc:AlternateContent>
      <p:graphicFrame>
        <p:nvGraphicFramePr>
          <p:cNvPr id="11" name="Table 10">
            <a:extLst>
              <a:ext uri="{FF2B5EF4-FFF2-40B4-BE49-F238E27FC236}">
                <a16:creationId xmlns:a16="http://schemas.microsoft.com/office/drawing/2014/main" id="{2CF008FC-F4B5-408C-AED6-F56A478D2140}"/>
              </a:ext>
            </a:extLst>
          </p:cNvPr>
          <p:cNvGraphicFramePr>
            <a:graphicFrameLocks/>
          </p:cNvGraphicFramePr>
          <p:nvPr>
            <p:extLst>
              <p:ext uri="{D42A27DB-BD31-4B8C-83A1-F6EECF244321}">
                <p14:modId xmlns:p14="http://schemas.microsoft.com/office/powerpoint/2010/main" val="2637355458"/>
              </p:ext>
            </p:extLst>
          </p:nvPr>
        </p:nvGraphicFramePr>
        <p:xfrm>
          <a:off x="3009420" y="1825624"/>
          <a:ext cx="1097280" cy="1146873"/>
        </p:xfrm>
        <a:graphic>
          <a:graphicData uri="http://schemas.openxmlformats.org/drawingml/2006/table">
            <a:tbl>
              <a:tblPr firstRow="1" bandRow="1">
                <a:tableStyleId>{5940675A-B579-460E-94D1-54222C63F5DA}</a:tableStyleId>
              </a:tblPr>
              <a:tblGrid>
                <a:gridCol w="365760">
                  <a:extLst>
                    <a:ext uri="{9D8B030D-6E8A-4147-A177-3AD203B41FA5}">
                      <a16:colId xmlns:a16="http://schemas.microsoft.com/office/drawing/2014/main" val="2325746083"/>
                    </a:ext>
                  </a:extLst>
                </a:gridCol>
                <a:gridCol w="365760">
                  <a:extLst>
                    <a:ext uri="{9D8B030D-6E8A-4147-A177-3AD203B41FA5}">
                      <a16:colId xmlns:a16="http://schemas.microsoft.com/office/drawing/2014/main" val="1306752537"/>
                    </a:ext>
                  </a:extLst>
                </a:gridCol>
                <a:gridCol w="365760">
                  <a:extLst>
                    <a:ext uri="{9D8B030D-6E8A-4147-A177-3AD203B41FA5}">
                      <a16:colId xmlns:a16="http://schemas.microsoft.com/office/drawing/2014/main" val="879769399"/>
                    </a:ext>
                  </a:extLst>
                </a:gridCol>
              </a:tblGrid>
              <a:tr h="382291">
                <a:tc>
                  <a:txBody>
                    <a:bodyPr/>
                    <a:lstStyle/>
                    <a:p>
                      <a:pPr algn="ctr"/>
                      <a:endParaRPr lang="en-US" dirty="0"/>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solidFill>
                        <a:srgbClr val="0217DC"/>
                      </a:solid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2530891781"/>
                  </a:ext>
                </a:extLst>
              </a:tr>
              <a:tr h="382291">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tc>
                  <a:txBody>
                    <a:bodyPr/>
                    <a:lstStyle/>
                    <a:p>
                      <a:pPr algn="ctr"/>
                      <a:endParaRPr lang="en-US"/>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1246867671"/>
                  </a:ext>
                </a:extLst>
              </a:tr>
              <a:tr h="382291">
                <a:tc>
                  <a:txBody>
                    <a:bodyPr/>
                    <a:lstStyle/>
                    <a:p>
                      <a:pPr algn="ctr"/>
                      <a:endParaRPr lang="en-US"/>
                    </a:p>
                  </a:txBody>
                  <a:tcPr anchor="ctr">
                    <a:lnL w="57150" cap="flat" cmpd="sng" algn="ctr">
                      <a:solidFill>
                        <a:srgbClr val="0217DC"/>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tc>
                  <a:txBody>
                    <a:bodyPr/>
                    <a:lstStyle/>
                    <a:p>
                      <a:pPr algn="ctr"/>
                      <a:endParaRPr lang="en-US" dirty="0"/>
                    </a:p>
                  </a:txBody>
                  <a:tcPr anchor="ctr">
                    <a:lnL w="57150" cap="flat" cmpd="sng" algn="ctr">
                      <a:noFill/>
                      <a:prstDash val="solid"/>
                      <a:round/>
                      <a:headEnd type="none" w="med" len="med"/>
                      <a:tailEnd type="none" w="med" len="med"/>
                    </a:lnL>
                    <a:lnR w="57150" cap="flat" cmpd="sng" algn="ctr">
                      <a:solidFill>
                        <a:srgbClr val="0217DC"/>
                      </a:solid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rgbClr val="0217DC"/>
                      </a:solidFill>
                      <a:prstDash val="solid"/>
                      <a:round/>
                      <a:headEnd type="none" w="med" len="med"/>
                      <a:tailEnd type="none" w="med" len="med"/>
                    </a:lnB>
                  </a:tcPr>
                </a:tc>
                <a:extLst>
                  <a:ext uri="{0D108BD9-81ED-4DB2-BD59-A6C34878D82A}">
                    <a16:rowId xmlns:a16="http://schemas.microsoft.com/office/drawing/2014/main" val="122307687"/>
                  </a:ext>
                </a:extLst>
              </a:tr>
            </a:tbl>
          </a:graphicData>
        </a:graphic>
      </p:graphicFrame>
      <p:sp>
        <p:nvSpPr>
          <p:cNvPr id="3" name="Oval 2">
            <a:extLst>
              <a:ext uri="{FF2B5EF4-FFF2-40B4-BE49-F238E27FC236}">
                <a16:creationId xmlns:a16="http://schemas.microsoft.com/office/drawing/2014/main" id="{5192DD35-6300-4A35-804B-30E5F3BEA32E}"/>
              </a:ext>
            </a:extLst>
          </p:cNvPr>
          <p:cNvSpPr/>
          <p:nvPr/>
        </p:nvSpPr>
        <p:spPr>
          <a:xfrm>
            <a:off x="5143813" y="2719279"/>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Equals 4">
            <a:extLst>
              <a:ext uri="{FF2B5EF4-FFF2-40B4-BE49-F238E27FC236}">
                <a16:creationId xmlns:a16="http://schemas.microsoft.com/office/drawing/2014/main" id="{038550AA-ED90-42C8-B086-5191944C3C92}"/>
              </a:ext>
            </a:extLst>
          </p:cNvPr>
          <p:cNvSpPr/>
          <p:nvPr/>
        </p:nvSpPr>
        <p:spPr>
          <a:xfrm>
            <a:off x="4192777" y="3035129"/>
            <a:ext cx="602064" cy="422031"/>
          </a:xfrm>
          <a:prstGeom prst="mathEqual">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graphicFrame>
        <p:nvGraphicFramePr>
          <p:cNvPr id="12" name="Table 9">
            <a:extLst>
              <a:ext uri="{FF2B5EF4-FFF2-40B4-BE49-F238E27FC236}">
                <a16:creationId xmlns:a16="http://schemas.microsoft.com/office/drawing/2014/main" id="{FD1BDA49-5148-4E01-88F5-B46706D4F4B5}"/>
              </a:ext>
            </a:extLst>
          </p:cNvPr>
          <p:cNvGraphicFramePr>
            <a:graphicFrameLocks/>
          </p:cNvGraphicFramePr>
          <p:nvPr/>
        </p:nvGraphicFramePr>
        <p:xfrm>
          <a:off x="5059284" y="2664418"/>
          <a:ext cx="1562852" cy="1529164"/>
        </p:xfrm>
        <a:graphic>
          <a:graphicData uri="http://schemas.openxmlformats.org/drawingml/2006/table">
            <a:tbl>
              <a:tblPr firstRow="1" bandRow="1">
                <a:tableStyleId>{5940675A-B579-460E-94D1-54222C63F5DA}</a:tableStyleId>
              </a:tblPr>
              <a:tblGrid>
                <a:gridCol w="390713">
                  <a:extLst>
                    <a:ext uri="{9D8B030D-6E8A-4147-A177-3AD203B41FA5}">
                      <a16:colId xmlns:a16="http://schemas.microsoft.com/office/drawing/2014/main" val="2325746083"/>
                    </a:ext>
                  </a:extLst>
                </a:gridCol>
                <a:gridCol w="390713">
                  <a:extLst>
                    <a:ext uri="{9D8B030D-6E8A-4147-A177-3AD203B41FA5}">
                      <a16:colId xmlns:a16="http://schemas.microsoft.com/office/drawing/2014/main" val="1306752537"/>
                    </a:ext>
                  </a:extLst>
                </a:gridCol>
                <a:gridCol w="390713">
                  <a:extLst>
                    <a:ext uri="{9D8B030D-6E8A-4147-A177-3AD203B41FA5}">
                      <a16:colId xmlns:a16="http://schemas.microsoft.com/office/drawing/2014/main" val="879769399"/>
                    </a:ext>
                  </a:extLst>
                </a:gridCol>
                <a:gridCol w="390713">
                  <a:extLst>
                    <a:ext uri="{9D8B030D-6E8A-4147-A177-3AD203B41FA5}">
                      <a16:colId xmlns:a16="http://schemas.microsoft.com/office/drawing/2014/main" val="2185225175"/>
                    </a:ext>
                  </a:extLst>
                </a:gridCol>
              </a:tblGrid>
              <a:tr h="382291">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a:p>
                  </a:txBody>
                  <a:tcPr anchor="ctr"/>
                </a:tc>
                <a:extLst>
                  <a:ext uri="{0D108BD9-81ED-4DB2-BD59-A6C34878D82A}">
                    <a16:rowId xmlns:a16="http://schemas.microsoft.com/office/drawing/2014/main" val="253089178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46867671"/>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extLst>
                  <a:ext uri="{0D108BD9-81ED-4DB2-BD59-A6C34878D82A}">
                    <a16:rowId xmlns:a16="http://schemas.microsoft.com/office/drawing/2014/main" val="122307687"/>
                  </a:ext>
                </a:extLst>
              </a:tr>
              <a:tr h="382291">
                <a:tc>
                  <a:txBody>
                    <a:bodyPr/>
                    <a:lstStyle/>
                    <a:p>
                      <a:pPr algn="ctr"/>
                      <a:endParaRPr lang="en-US"/>
                    </a:p>
                  </a:txBody>
                  <a:tcPr anchor="ctr"/>
                </a:tc>
                <a:tc>
                  <a:txBody>
                    <a:bodyPr/>
                    <a:lstStyle/>
                    <a:p>
                      <a:pPr algn="ctr"/>
                      <a:endParaRPr lang="en-US"/>
                    </a:p>
                  </a:txBody>
                  <a:tcPr anchor="ctr"/>
                </a:tc>
                <a:tc>
                  <a:txBody>
                    <a:bodyPr/>
                    <a:lstStyle/>
                    <a:p>
                      <a:pPr algn="ctr"/>
                      <a:endParaRPr lang="en-US"/>
                    </a:p>
                  </a:txBody>
                  <a:tcPr anchor="ctr"/>
                </a:tc>
                <a:tc>
                  <a:txBody>
                    <a:bodyPr/>
                    <a:lstStyle/>
                    <a:p>
                      <a:pPr algn="ctr"/>
                      <a:endParaRPr lang="en-US" dirty="0"/>
                    </a:p>
                  </a:txBody>
                  <a:tcPr anchor="ctr"/>
                </a:tc>
                <a:extLst>
                  <a:ext uri="{0D108BD9-81ED-4DB2-BD59-A6C34878D82A}">
                    <a16:rowId xmlns:a16="http://schemas.microsoft.com/office/drawing/2014/main" val="327148248"/>
                  </a:ext>
                </a:extLst>
              </a:tr>
            </a:tbl>
          </a:graphicData>
        </a:graphic>
      </p:graphicFrame>
      <p:sp>
        <p:nvSpPr>
          <p:cNvPr id="10" name="Oval 9">
            <a:extLst>
              <a:ext uri="{FF2B5EF4-FFF2-40B4-BE49-F238E27FC236}">
                <a16:creationId xmlns:a16="http://schemas.microsoft.com/office/drawing/2014/main" id="{ED6A19D3-A119-4E08-B5F5-4F7F8C737BBC}"/>
              </a:ext>
            </a:extLst>
          </p:cNvPr>
          <p:cNvSpPr/>
          <p:nvPr/>
        </p:nvSpPr>
        <p:spPr>
          <a:xfrm>
            <a:off x="5511357" y="2716934"/>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6B09D9D9-A876-4379-A52D-3FA26F08AF8F}"/>
              </a:ext>
            </a:extLst>
          </p:cNvPr>
          <p:cNvSpPr/>
          <p:nvPr/>
        </p:nvSpPr>
        <p:spPr>
          <a:xfrm>
            <a:off x="5926916" y="2714589"/>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2E27FC9E-290A-4BF9-BBC3-5B52620DCDAD}"/>
              </a:ext>
            </a:extLst>
          </p:cNvPr>
          <p:cNvSpPr/>
          <p:nvPr/>
        </p:nvSpPr>
        <p:spPr>
          <a:xfrm>
            <a:off x="6302717" y="2712244"/>
            <a:ext cx="239151" cy="26728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TextBox 14"/>
          <p:cNvSpPr txBox="1"/>
          <p:nvPr/>
        </p:nvSpPr>
        <p:spPr>
          <a:xfrm>
            <a:off x="6023113" y="5277679"/>
            <a:ext cx="5546035" cy="954107"/>
          </a:xfrm>
          <a:prstGeom prst="rect">
            <a:avLst/>
          </a:prstGeom>
          <a:noFill/>
        </p:spPr>
        <p:txBody>
          <a:bodyPr wrap="square" rtlCol="0">
            <a:spAutoFit/>
          </a:bodyPr>
          <a:lstStyle/>
          <a:p>
            <a:pPr>
              <a:buFont typeface="Arial" pitchFamily="34" charset="0"/>
              <a:buChar char="•"/>
            </a:pPr>
            <a:r>
              <a:rPr lang="en-US" sz="2800" dirty="0"/>
              <a:t> Since the output size must be an integer, we typically floor </a:t>
            </a:r>
            <a:r>
              <a:rPr lang="en-US" sz="2800"/>
              <a:t>the result.</a:t>
            </a:r>
            <a:endParaRPr lang="en-US" sz="2800" dirty="0"/>
          </a:p>
        </p:txBody>
      </p:sp>
    </p:spTree>
    <p:extLst>
      <p:ext uri="{BB962C8B-B14F-4D97-AF65-F5344CB8AC3E}">
        <p14:creationId xmlns:p14="http://schemas.microsoft.com/office/powerpoint/2010/main" val="237664425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38E55-07EF-48E4-97B5-2B1BADBFA19C}"/>
              </a:ext>
            </a:extLst>
          </p:cNvPr>
          <p:cNvSpPr>
            <a:spLocks noGrp="1"/>
          </p:cNvSpPr>
          <p:nvPr>
            <p:ph type="title"/>
          </p:nvPr>
        </p:nvSpPr>
        <p:spPr>
          <a:xfrm>
            <a:off x="838200" y="365126"/>
            <a:ext cx="10515600" cy="718240"/>
          </a:xfrm>
        </p:spPr>
        <p:txBody>
          <a:bodyPr/>
          <a:lstStyle/>
          <a:p>
            <a:pPr algn="ctr"/>
            <a:r>
              <a:rPr lang="en-US" dirty="0"/>
              <a:t>Numerical Example</a:t>
            </a:r>
          </a:p>
        </p:txBody>
      </p:sp>
      <p:pic>
        <p:nvPicPr>
          <p:cNvPr id="6" name="Picture 5">
            <a:extLst>
              <a:ext uri="{FF2B5EF4-FFF2-40B4-BE49-F238E27FC236}">
                <a16:creationId xmlns:a16="http://schemas.microsoft.com/office/drawing/2014/main" id="{082F5A66-1023-4A8B-B8B3-5503D94BA8A1}"/>
              </a:ext>
            </a:extLst>
          </p:cNvPr>
          <p:cNvPicPr>
            <a:picLocks noChangeAspect="1"/>
          </p:cNvPicPr>
          <p:nvPr/>
        </p:nvPicPr>
        <p:blipFill>
          <a:blip r:embed="rId2"/>
          <a:stretch>
            <a:fillRect/>
          </a:stretch>
        </p:blipFill>
        <p:spPr>
          <a:xfrm>
            <a:off x="1138237" y="1500981"/>
            <a:ext cx="9915525" cy="5000625"/>
          </a:xfrm>
          <a:prstGeom prst="rect">
            <a:avLst/>
          </a:prstGeom>
        </p:spPr>
      </p:pic>
    </p:spTree>
    <p:extLst>
      <p:ext uri="{BB962C8B-B14F-4D97-AF65-F5344CB8AC3E}">
        <p14:creationId xmlns:p14="http://schemas.microsoft.com/office/powerpoint/2010/main" val="328255823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B3959-2026-4874-8088-0546E5D09267}"/>
              </a:ext>
            </a:extLst>
          </p:cNvPr>
          <p:cNvSpPr>
            <a:spLocks noGrp="1"/>
          </p:cNvSpPr>
          <p:nvPr>
            <p:ph type="title"/>
          </p:nvPr>
        </p:nvSpPr>
        <p:spPr>
          <a:xfrm>
            <a:off x="838200" y="365125"/>
            <a:ext cx="10515600" cy="638727"/>
          </a:xfrm>
        </p:spPr>
        <p:txBody>
          <a:bodyPr>
            <a:normAutofit fontScale="90000"/>
          </a:bodyPr>
          <a:lstStyle/>
          <a:p>
            <a:pPr algn="ctr"/>
            <a:r>
              <a:rPr lang="en-US" dirty="0"/>
              <a:t>Numerical Example</a:t>
            </a:r>
          </a:p>
        </p:txBody>
      </p:sp>
      <p:pic>
        <p:nvPicPr>
          <p:cNvPr id="6" name="Picture 5">
            <a:extLst>
              <a:ext uri="{FF2B5EF4-FFF2-40B4-BE49-F238E27FC236}">
                <a16:creationId xmlns:a16="http://schemas.microsoft.com/office/drawing/2014/main" id="{3BC9DEE7-1B1E-41C6-97E8-921BFABFDA0F}"/>
              </a:ext>
            </a:extLst>
          </p:cNvPr>
          <p:cNvPicPr>
            <a:picLocks noChangeAspect="1"/>
          </p:cNvPicPr>
          <p:nvPr/>
        </p:nvPicPr>
        <p:blipFill>
          <a:blip r:embed="rId2"/>
          <a:stretch>
            <a:fillRect/>
          </a:stretch>
        </p:blipFill>
        <p:spPr>
          <a:xfrm>
            <a:off x="1251660" y="1549484"/>
            <a:ext cx="9801225" cy="4791075"/>
          </a:xfrm>
          <a:prstGeom prst="rect">
            <a:avLst/>
          </a:prstGeom>
        </p:spPr>
      </p:pic>
    </p:spTree>
    <p:extLst>
      <p:ext uri="{BB962C8B-B14F-4D97-AF65-F5344CB8AC3E}">
        <p14:creationId xmlns:p14="http://schemas.microsoft.com/office/powerpoint/2010/main" val="128823035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0C610-23C1-470E-9E78-EB91F0ABEAD5}"/>
              </a:ext>
            </a:extLst>
          </p:cNvPr>
          <p:cNvSpPr>
            <a:spLocks noGrp="1"/>
          </p:cNvSpPr>
          <p:nvPr>
            <p:ph type="title"/>
          </p:nvPr>
        </p:nvSpPr>
        <p:spPr>
          <a:xfrm>
            <a:off x="838200" y="365126"/>
            <a:ext cx="10515600" cy="608910"/>
          </a:xfrm>
        </p:spPr>
        <p:txBody>
          <a:bodyPr>
            <a:normAutofit fontScale="90000"/>
          </a:bodyPr>
          <a:lstStyle/>
          <a:p>
            <a:pPr algn="ctr"/>
            <a:r>
              <a:rPr lang="en-US" dirty="0"/>
              <a:t>Numerical Example</a:t>
            </a:r>
          </a:p>
        </p:txBody>
      </p:sp>
      <p:pic>
        <p:nvPicPr>
          <p:cNvPr id="6" name="Picture 5">
            <a:extLst>
              <a:ext uri="{FF2B5EF4-FFF2-40B4-BE49-F238E27FC236}">
                <a16:creationId xmlns:a16="http://schemas.microsoft.com/office/drawing/2014/main" id="{34095C49-6578-4C30-8D62-06F15FA72F9B}"/>
              </a:ext>
            </a:extLst>
          </p:cNvPr>
          <p:cNvPicPr>
            <a:picLocks noChangeAspect="1"/>
          </p:cNvPicPr>
          <p:nvPr/>
        </p:nvPicPr>
        <p:blipFill>
          <a:blip r:embed="rId2"/>
          <a:stretch>
            <a:fillRect/>
          </a:stretch>
        </p:blipFill>
        <p:spPr>
          <a:xfrm>
            <a:off x="1176776" y="1551240"/>
            <a:ext cx="9782175" cy="4562475"/>
          </a:xfrm>
          <a:prstGeom prst="rect">
            <a:avLst/>
          </a:prstGeom>
        </p:spPr>
      </p:pic>
    </p:spTree>
    <p:extLst>
      <p:ext uri="{BB962C8B-B14F-4D97-AF65-F5344CB8AC3E}">
        <p14:creationId xmlns:p14="http://schemas.microsoft.com/office/powerpoint/2010/main" val="10022727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CAC0B-06FD-42A2-9776-D67052060BA9}"/>
              </a:ext>
            </a:extLst>
          </p:cNvPr>
          <p:cNvSpPr>
            <a:spLocks noGrp="1"/>
          </p:cNvSpPr>
          <p:nvPr>
            <p:ph type="title"/>
          </p:nvPr>
        </p:nvSpPr>
        <p:spPr>
          <a:xfrm>
            <a:off x="838200" y="365126"/>
            <a:ext cx="10515600" cy="787814"/>
          </a:xfrm>
        </p:spPr>
        <p:txBody>
          <a:bodyPr/>
          <a:lstStyle/>
          <a:p>
            <a:pPr algn="ctr"/>
            <a:r>
              <a:rPr lang="en-US" dirty="0"/>
              <a:t>Numerical Example</a:t>
            </a:r>
          </a:p>
        </p:txBody>
      </p:sp>
      <p:pic>
        <p:nvPicPr>
          <p:cNvPr id="6" name="Picture 5">
            <a:extLst>
              <a:ext uri="{FF2B5EF4-FFF2-40B4-BE49-F238E27FC236}">
                <a16:creationId xmlns:a16="http://schemas.microsoft.com/office/drawing/2014/main" id="{819399D1-94BF-43F2-AF7C-696C289B2CFA}"/>
              </a:ext>
            </a:extLst>
          </p:cNvPr>
          <p:cNvPicPr>
            <a:picLocks noChangeAspect="1"/>
          </p:cNvPicPr>
          <p:nvPr/>
        </p:nvPicPr>
        <p:blipFill>
          <a:blip r:embed="rId2"/>
          <a:stretch>
            <a:fillRect/>
          </a:stretch>
        </p:blipFill>
        <p:spPr>
          <a:xfrm>
            <a:off x="1284777" y="1611616"/>
            <a:ext cx="9763125" cy="4638675"/>
          </a:xfrm>
          <a:prstGeom prst="rect">
            <a:avLst/>
          </a:prstGeom>
        </p:spPr>
      </p:pic>
    </p:spTree>
    <p:extLst>
      <p:ext uri="{BB962C8B-B14F-4D97-AF65-F5344CB8AC3E}">
        <p14:creationId xmlns:p14="http://schemas.microsoft.com/office/powerpoint/2010/main" val="165215418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88423"/>
          </a:xfrm>
        </p:spPr>
        <p:txBody>
          <a:bodyPr>
            <a:normAutofit fontScale="90000"/>
          </a:bodyPr>
          <a:lstStyle/>
          <a:p>
            <a:pPr algn="ctr"/>
            <a:r>
              <a:rPr lang="en-US" dirty="0"/>
              <a:t>Convolutional Neural Networks</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5450" y="1706707"/>
            <a:ext cx="8801100" cy="1504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6558" y="3352800"/>
            <a:ext cx="8820150" cy="1362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3062" y="4932845"/>
            <a:ext cx="8905875" cy="1219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20404" y="6152045"/>
            <a:ext cx="6734175" cy="466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0054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8545"/>
          </a:xfrm>
        </p:spPr>
        <p:txBody>
          <a:bodyPr>
            <a:normAutofit fontScale="90000"/>
          </a:bodyPr>
          <a:lstStyle/>
          <a:p>
            <a:pPr algn="ctr"/>
            <a:r>
              <a:rPr lang="en-US" dirty="0"/>
              <a:t>Convolutional Neural Networks</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542" y="981232"/>
            <a:ext cx="10048528" cy="28524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3912" y="3749718"/>
            <a:ext cx="9471991" cy="28560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52742" y="5529263"/>
            <a:ext cx="3171825" cy="371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176008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59214"/>
          </a:xfrm>
        </p:spPr>
        <p:txBody>
          <a:bodyPr>
            <a:normAutofit fontScale="90000"/>
          </a:bodyPr>
          <a:lstStyle/>
          <a:p>
            <a:pPr algn="ctr"/>
            <a:r>
              <a:rPr lang="en-US" dirty="0"/>
              <a:t>Convolutional Neural Networks</a:t>
            </a:r>
          </a:p>
        </p:txBody>
      </p:sp>
      <p:sp>
        <p:nvSpPr>
          <p:cNvPr id="3" name="Content Placeholder 2"/>
          <p:cNvSpPr>
            <a:spLocks noGrp="1"/>
          </p:cNvSpPr>
          <p:nvPr>
            <p:ph sz="half" idx="1"/>
          </p:nvPr>
        </p:nvSpPr>
        <p:spPr>
          <a:xfrm>
            <a:off x="520505" y="4058948"/>
            <a:ext cx="11380763" cy="2118014"/>
          </a:xfrm>
        </p:spPr>
        <p:txBody>
          <a:bodyPr>
            <a:normAutofit fontScale="92500" lnSpcReduction="10000"/>
          </a:bodyPr>
          <a:lstStyle/>
          <a:p>
            <a:r>
              <a:rPr lang="en-IN" dirty="0"/>
              <a:t>We can learn multiple layers of meaningful kernels / filters in addition to learning the weights of the classier</a:t>
            </a:r>
          </a:p>
          <a:p>
            <a:endParaRPr lang="en-IN" dirty="0"/>
          </a:p>
          <a:p>
            <a:r>
              <a:rPr lang="en-IN" dirty="0"/>
              <a:t>Simply by treating these kernels as parameters and learning them in addition to the weights of the </a:t>
            </a:r>
            <a:r>
              <a:rPr lang="en-IN" dirty="0" err="1"/>
              <a:t>classfier</a:t>
            </a:r>
            <a:r>
              <a:rPr lang="en-IN" dirty="0"/>
              <a:t> (using back propagation)</a:t>
            </a:r>
            <a:endParaRPr lang="en-US" dirty="0"/>
          </a:p>
        </p:txBody>
      </p:sp>
      <p:pic>
        <p:nvPicPr>
          <p:cNvPr id="307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9275" y="1960418"/>
            <a:ext cx="8553450" cy="1828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8160855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365125"/>
            <a:ext cx="10515600" cy="305435"/>
          </a:xfrm>
        </p:spPr>
        <p:txBody>
          <a:bodyPr>
            <a:noAutofit/>
          </a:bodyPr>
          <a:lstStyle/>
          <a:p>
            <a:pPr algn="ctr"/>
            <a:r>
              <a:rPr lang="en-US" sz="3200" b="1" dirty="0" err="1"/>
              <a:t>Convolutional</a:t>
            </a:r>
            <a:r>
              <a:rPr lang="en-US" sz="3200" b="1" dirty="0"/>
              <a:t> Neural Networks</a:t>
            </a:r>
          </a:p>
        </p:txBody>
      </p:sp>
      <p:sp>
        <p:nvSpPr>
          <p:cNvPr id="6" name="Content Placeholder 5"/>
          <p:cNvSpPr>
            <a:spLocks noGrp="1"/>
          </p:cNvSpPr>
          <p:nvPr>
            <p:ph idx="1"/>
          </p:nvPr>
        </p:nvSpPr>
        <p:spPr>
          <a:xfrm>
            <a:off x="838200" y="949234"/>
            <a:ext cx="10515600" cy="5227729"/>
          </a:xfrm>
        </p:spPr>
        <p:txBody>
          <a:bodyPr>
            <a:normAutofit fontScale="92500" lnSpcReduction="10000"/>
          </a:bodyPr>
          <a:lstStyle/>
          <a:p>
            <a:r>
              <a:rPr lang="en-US" b="1" dirty="0"/>
              <a:t>Random Initialization</a:t>
            </a:r>
            <a:r>
              <a:rPr lang="en-US" dirty="0"/>
              <a:t>: When a CNN model is first created, the kernel weights are typically initialized randomly, often with small values. </a:t>
            </a:r>
          </a:p>
          <a:p>
            <a:r>
              <a:rPr lang="en-US" dirty="0"/>
              <a:t>These random kernels will not necessarily be useful initially, but they will evolve during training. They are </a:t>
            </a:r>
            <a:r>
              <a:rPr lang="en-US" b="1" dirty="0"/>
              <a:t>learned through training</a:t>
            </a:r>
            <a:r>
              <a:rPr lang="en-US" dirty="0"/>
              <a:t> based on the data via </a:t>
            </a:r>
            <a:r>
              <a:rPr lang="en-US" dirty="0" err="1"/>
              <a:t>backpropagation</a:t>
            </a:r>
            <a:r>
              <a:rPr lang="en-US" dirty="0"/>
              <a:t>.</a:t>
            </a:r>
          </a:p>
          <a:p>
            <a:r>
              <a:rPr lang="en-US" dirty="0"/>
              <a:t>Common initialization techniques include </a:t>
            </a:r>
            <a:r>
              <a:rPr lang="en-US" b="1" dirty="0"/>
              <a:t>Xavier initialization</a:t>
            </a:r>
            <a:r>
              <a:rPr lang="en-US" dirty="0"/>
              <a:t> or </a:t>
            </a:r>
            <a:r>
              <a:rPr lang="en-US" b="1" dirty="0"/>
              <a:t>He initialization</a:t>
            </a:r>
            <a:r>
              <a:rPr lang="en-US" dirty="0"/>
              <a:t>, designed to ensure that the starting weights allow the network to learn effectively.</a:t>
            </a:r>
          </a:p>
          <a:p>
            <a:r>
              <a:rPr lang="en-US" b="1" dirty="0"/>
              <a:t>Why Random?</a:t>
            </a:r>
            <a:r>
              <a:rPr lang="en-US" dirty="0"/>
              <a:t> Starting with random kernels prevents the network from having any bias toward specific patterns and ensures that it can learn a wide variety of features from the data.</a:t>
            </a:r>
            <a:endParaRPr lang="en-US" b="1" dirty="0"/>
          </a:p>
          <a:p>
            <a:r>
              <a:rPr lang="en-US" dirty="0"/>
              <a:t>Predefined kernels are generally </a:t>
            </a:r>
            <a:r>
              <a:rPr lang="en-US" b="1" dirty="0"/>
              <a:t>not used</a:t>
            </a:r>
            <a:r>
              <a:rPr lang="en-US" dirty="0"/>
              <a:t> in deep learning, as learned kernels are more effective for complex tasks.</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66560" y="226422"/>
            <a:ext cx="4587240" cy="357051"/>
          </a:xfrm>
        </p:spPr>
        <p:txBody>
          <a:bodyPr>
            <a:normAutofit fontScale="90000"/>
          </a:bodyPr>
          <a:lstStyle/>
          <a:p>
            <a:r>
              <a:rPr lang="en-US" dirty="0"/>
              <a:t> </a:t>
            </a:r>
            <a:r>
              <a:rPr lang="en-US" sz="4000" b="1" dirty="0"/>
              <a:t>Image classification</a:t>
            </a:r>
            <a:r>
              <a:rPr lang="en-US" dirty="0"/>
              <a:t>                     </a:t>
            </a:r>
            <a:endParaRPr lang="en-IN" dirty="0"/>
          </a:p>
        </p:txBody>
      </p:sp>
      <p:sp>
        <p:nvSpPr>
          <p:cNvPr id="4" name="Content Placeholder 3"/>
          <p:cNvSpPr>
            <a:spLocks noGrp="1"/>
          </p:cNvSpPr>
          <p:nvPr>
            <p:ph sz="half" idx="2"/>
          </p:nvPr>
        </p:nvSpPr>
        <p:spPr>
          <a:xfrm>
            <a:off x="6698215" y="1111521"/>
            <a:ext cx="5181600" cy="4351338"/>
          </a:xfrm>
        </p:spPr>
        <p:txBody>
          <a:bodyPr>
            <a:normAutofit/>
          </a:bodyPr>
          <a:lstStyle/>
          <a:p>
            <a:pPr algn="just"/>
            <a:r>
              <a:rPr lang="en-IN" dirty="0"/>
              <a:t>This is what a regular feed-forward neural network will look like</a:t>
            </a:r>
          </a:p>
          <a:p>
            <a:pPr algn="just"/>
            <a:r>
              <a:rPr lang="en-IN" dirty="0"/>
              <a:t>There are many dense connections here</a:t>
            </a:r>
          </a:p>
          <a:p>
            <a:pPr algn="just"/>
            <a:r>
              <a:rPr lang="en-IN" dirty="0"/>
              <a:t>For example all the 16 input neurons are contributing to the computation of h</a:t>
            </a:r>
            <a:r>
              <a:rPr lang="en-IN" baseline="-25000" dirty="0"/>
              <a:t>11</a:t>
            </a:r>
          </a:p>
          <a:p>
            <a:pPr algn="just"/>
            <a:r>
              <a:rPr lang="en-IN" dirty="0"/>
              <a:t>Contrast this to what happens in the case of convolution</a:t>
            </a:r>
          </a:p>
        </p:txBody>
      </p:sp>
      <p:pic>
        <p:nvPicPr>
          <p:cNvPr id="5" name="Picture 4"/>
          <p:cNvPicPr>
            <a:picLocks noChangeAspect="1"/>
          </p:cNvPicPr>
          <p:nvPr/>
        </p:nvPicPr>
        <p:blipFill>
          <a:blip r:embed="rId2"/>
          <a:stretch>
            <a:fillRect/>
          </a:stretch>
        </p:blipFill>
        <p:spPr>
          <a:xfrm rot="5400000">
            <a:off x="591880" y="334802"/>
            <a:ext cx="5582802" cy="5651864"/>
          </a:xfrm>
          <a:prstGeom prst="rect">
            <a:avLst/>
          </a:prstGeom>
        </p:spPr>
      </p:pic>
    </p:spTree>
    <p:extLst>
      <p:ext uri="{BB962C8B-B14F-4D97-AF65-F5344CB8AC3E}">
        <p14:creationId xmlns:p14="http://schemas.microsoft.com/office/powerpoint/2010/main" val="179552223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8910"/>
          </a:xfrm>
        </p:spPr>
        <p:txBody>
          <a:bodyPr>
            <a:normAutofit fontScale="90000"/>
          </a:bodyPr>
          <a:lstStyle/>
          <a:p>
            <a:pPr algn="ctr"/>
            <a:r>
              <a:rPr lang="en-US" dirty="0"/>
              <a:t>Sparsity of connections</a:t>
            </a:r>
          </a:p>
        </p:txBody>
      </p:sp>
      <p:sp>
        <p:nvSpPr>
          <p:cNvPr id="4" name="Content Placeholder 3"/>
          <p:cNvSpPr>
            <a:spLocks noGrp="1"/>
          </p:cNvSpPr>
          <p:nvPr>
            <p:ph sz="half" idx="2"/>
          </p:nvPr>
        </p:nvSpPr>
        <p:spPr/>
        <p:txBody>
          <a:bodyPr>
            <a:normAutofit/>
          </a:bodyPr>
          <a:lstStyle/>
          <a:p>
            <a:pPr algn="just"/>
            <a:r>
              <a:rPr lang="en-IN" dirty="0"/>
              <a:t>The image of size 4×4 is considered as a vector [1, 2, 3, 4, 5, 6, 7, 8, 9, 10, 11, 12, 13, 14, 15, 16]</a:t>
            </a:r>
          </a:p>
          <a:p>
            <a:pPr algn="just"/>
            <a:r>
              <a:rPr lang="en-IN" dirty="0"/>
              <a:t>Only a few local neurons participate in the computation of h</a:t>
            </a:r>
            <a:r>
              <a:rPr lang="en-IN" baseline="-25000" dirty="0"/>
              <a:t>11</a:t>
            </a:r>
          </a:p>
          <a:p>
            <a:pPr algn="just"/>
            <a:r>
              <a:rPr lang="en-IN" dirty="0"/>
              <a:t>For example, only pixels 1, 2, 5, 6 </a:t>
            </a:r>
            <a:r>
              <a:rPr lang="en-US" dirty="0"/>
              <a:t>contribute to h</a:t>
            </a:r>
            <a:r>
              <a:rPr lang="en-US" baseline="-25000" dirty="0"/>
              <a:t>11</a:t>
            </a:r>
          </a:p>
          <a:p>
            <a:pPr algn="just"/>
            <a:endParaRPr 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1356" y="1793298"/>
            <a:ext cx="4667250" cy="4476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6246622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48666"/>
          </a:xfrm>
        </p:spPr>
        <p:txBody>
          <a:bodyPr>
            <a:normAutofit fontScale="90000"/>
          </a:bodyPr>
          <a:lstStyle/>
          <a:p>
            <a:pPr algn="ctr"/>
            <a:r>
              <a:rPr lang="en-US" dirty="0"/>
              <a:t>Sparsity of connections</a:t>
            </a:r>
          </a:p>
        </p:txBody>
      </p:sp>
      <p:sp>
        <p:nvSpPr>
          <p:cNvPr id="4" name="Content Placeholder 3"/>
          <p:cNvSpPr>
            <a:spLocks noGrp="1"/>
          </p:cNvSpPr>
          <p:nvPr>
            <p:ph sz="half" idx="2"/>
          </p:nvPr>
        </p:nvSpPr>
        <p:spPr/>
        <p:txBody>
          <a:bodyPr>
            <a:normAutofit fontScale="92500"/>
          </a:bodyPr>
          <a:lstStyle/>
          <a:p>
            <a:pPr algn="just"/>
            <a:r>
              <a:rPr lang="en-IN" dirty="0"/>
              <a:t>Similarly, only pixels 3, 4, 7, 8 </a:t>
            </a:r>
            <a:r>
              <a:rPr lang="en-US" dirty="0"/>
              <a:t>contribute to h</a:t>
            </a:r>
            <a:r>
              <a:rPr lang="en-US" baseline="-25000" dirty="0"/>
              <a:t>12</a:t>
            </a:r>
          </a:p>
          <a:p>
            <a:pPr algn="just"/>
            <a:r>
              <a:rPr lang="en-IN" dirty="0"/>
              <a:t>The connections are much sparser</a:t>
            </a:r>
          </a:p>
          <a:p>
            <a:pPr algn="just"/>
            <a:r>
              <a:rPr lang="en-IN" dirty="0"/>
              <a:t>We are taking advantage of the </a:t>
            </a:r>
            <a:r>
              <a:rPr lang="en-US" dirty="0"/>
              <a:t>structure of the image (interactions </a:t>
            </a:r>
            <a:r>
              <a:rPr lang="en-IN" dirty="0"/>
              <a:t>between </a:t>
            </a:r>
            <a:r>
              <a:rPr lang="en-IN" dirty="0" err="1"/>
              <a:t>neighboring</a:t>
            </a:r>
            <a:r>
              <a:rPr lang="en-IN" dirty="0"/>
              <a:t> pixels are more </a:t>
            </a:r>
            <a:r>
              <a:rPr lang="en-US" dirty="0"/>
              <a:t>interesting)</a:t>
            </a:r>
          </a:p>
          <a:p>
            <a:pPr algn="just"/>
            <a:r>
              <a:rPr lang="en-US" dirty="0"/>
              <a:t>This </a:t>
            </a:r>
            <a:r>
              <a:rPr lang="en-US" b="1" dirty="0">
                <a:solidFill>
                  <a:srgbClr val="0217DC"/>
                </a:solidFill>
              </a:rPr>
              <a:t>sparse connectivity </a:t>
            </a:r>
            <a:r>
              <a:rPr lang="en-US" dirty="0"/>
              <a:t>reduces </a:t>
            </a:r>
            <a:r>
              <a:rPr lang="en-IN" dirty="0"/>
              <a:t>the number of parameters in the </a:t>
            </a:r>
            <a:r>
              <a:rPr lang="en-US" dirty="0"/>
              <a:t>model</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8966" y="1829665"/>
            <a:ext cx="4171950" cy="4362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9522404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18240"/>
          </a:xfrm>
        </p:spPr>
        <p:txBody>
          <a:bodyPr/>
          <a:lstStyle/>
          <a:p>
            <a:pPr algn="ctr"/>
            <a:r>
              <a:rPr lang="en-US" dirty="0"/>
              <a:t>Weight sharing</a:t>
            </a:r>
          </a:p>
        </p:txBody>
      </p:sp>
      <p:sp>
        <p:nvSpPr>
          <p:cNvPr id="4" name="Content Placeholder 3"/>
          <p:cNvSpPr>
            <a:spLocks noGrp="1"/>
          </p:cNvSpPr>
          <p:nvPr>
            <p:ph sz="half" idx="2"/>
          </p:nvPr>
        </p:nvSpPr>
        <p:spPr/>
        <p:txBody>
          <a:bodyPr/>
          <a:lstStyle/>
          <a:p>
            <a:r>
              <a:rPr lang="en-IN" dirty="0"/>
              <a:t>We are not learning a single kernel</a:t>
            </a:r>
          </a:p>
          <a:p>
            <a:endParaRPr lang="en-IN" dirty="0"/>
          </a:p>
          <a:p>
            <a:r>
              <a:rPr lang="en-IN" dirty="0"/>
              <a:t>We can have many such kernels but the kernels will be shared by all </a:t>
            </a:r>
            <a:r>
              <a:rPr lang="en-US" dirty="0"/>
              <a:t>locations in the image</a:t>
            </a:r>
          </a:p>
          <a:p>
            <a:endParaRPr lang="en-US" dirty="0"/>
          </a:p>
          <a:p>
            <a:r>
              <a:rPr lang="en-IN" dirty="0"/>
              <a:t>This is called “</a:t>
            </a:r>
            <a:r>
              <a:rPr lang="en-IN" b="1" dirty="0">
                <a:solidFill>
                  <a:srgbClr val="0217DC"/>
                </a:solidFill>
              </a:rPr>
              <a:t>weight sharing</a:t>
            </a:r>
            <a:r>
              <a:rPr lang="en-IN" dirty="0"/>
              <a:t>"</a:t>
            </a:r>
            <a:endParaRPr lang="en-US"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525" y="1911124"/>
            <a:ext cx="5324475" cy="1990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5824" y="4027488"/>
            <a:ext cx="5095875" cy="2257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1762418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365126"/>
            <a:ext cx="10515600" cy="559214"/>
          </a:xfrm>
        </p:spPr>
        <p:txBody>
          <a:bodyPr>
            <a:normAutofit/>
          </a:bodyPr>
          <a:lstStyle/>
          <a:p>
            <a:r>
              <a:rPr lang="en-IN" sz="2800" dirty="0"/>
              <a:t>Advantages of </a:t>
            </a:r>
            <a:r>
              <a:rPr lang="en-US" sz="2800" dirty="0" err="1"/>
              <a:t>sparsity</a:t>
            </a:r>
            <a:r>
              <a:rPr lang="en-US" sz="2800" dirty="0"/>
              <a:t> of connection and weight sharing in CNN</a:t>
            </a:r>
          </a:p>
        </p:txBody>
      </p:sp>
      <p:sp>
        <p:nvSpPr>
          <p:cNvPr id="6" name="Content Placeholder 5"/>
          <p:cNvSpPr>
            <a:spLocks noGrp="1"/>
          </p:cNvSpPr>
          <p:nvPr>
            <p:ph idx="1"/>
          </p:nvPr>
        </p:nvSpPr>
        <p:spPr>
          <a:xfrm>
            <a:off x="838200" y="1013791"/>
            <a:ext cx="10515600" cy="5163172"/>
          </a:xfrm>
        </p:spPr>
        <p:txBody>
          <a:bodyPr>
            <a:normAutofit fontScale="92500" lnSpcReduction="20000"/>
          </a:bodyPr>
          <a:lstStyle/>
          <a:p>
            <a:r>
              <a:rPr lang="en-US" dirty="0"/>
              <a:t>CNNs offer several advantages over traditional ANNs due to their use of </a:t>
            </a:r>
            <a:r>
              <a:rPr lang="en-US" dirty="0" err="1"/>
              <a:t>sparsity</a:t>
            </a:r>
            <a:r>
              <a:rPr lang="en-US" dirty="0"/>
              <a:t> of connection and weight sharing. </a:t>
            </a:r>
          </a:p>
          <a:p>
            <a:pPr marL="514350" indent="-514350">
              <a:buAutoNum type="arabicPeriod"/>
            </a:pPr>
            <a:r>
              <a:rPr lang="en-US" b="1" dirty="0"/>
              <a:t>Reduced Parameters</a:t>
            </a:r>
            <a:r>
              <a:rPr lang="en-US" dirty="0"/>
              <a:t>: In CNNs, weight sharing means that the same filter (or kernel) is applied across different regions of the input. This significantly reduces the number of parameters compared to fully connected layers in ANNs, which require a unique weight for every connection.</a:t>
            </a:r>
          </a:p>
          <a:p>
            <a:pPr marL="514350" indent="-514350">
              <a:buAutoNum type="arabicPeriod"/>
            </a:pPr>
            <a:r>
              <a:rPr lang="en-US" b="1" dirty="0"/>
              <a:t>Computational Efficiency</a:t>
            </a:r>
            <a:r>
              <a:rPr lang="en-US" dirty="0"/>
              <a:t>: Because of the reduced number of parameters, CNNs require less memory and computational resources, making them faster to train and easier to deploy, especially for large datasets and high-dimensional inputs like images.</a:t>
            </a:r>
          </a:p>
          <a:p>
            <a:pPr marL="514350" indent="-514350">
              <a:buAutoNum type="arabicPeriod"/>
            </a:pPr>
            <a:r>
              <a:rPr lang="en-US" b="1" dirty="0"/>
              <a:t>Translation Invariance</a:t>
            </a:r>
            <a:r>
              <a:rPr lang="en-US" dirty="0"/>
              <a:t>: The sparse connections allow CNNs to learn features that are translation invariant. This means that the model can recognize patterns regardless of their position in the input, which is particularly useful in image processing. </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270978"/>
          </a:xfrm>
        </p:spPr>
        <p:txBody>
          <a:bodyPr>
            <a:noAutofit/>
          </a:bodyPr>
          <a:lstStyle/>
          <a:p>
            <a:r>
              <a:rPr lang="en-IN" sz="2800" dirty="0"/>
              <a:t>Advantages Contd..</a:t>
            </a:r>
            <a:endParaRPr lang="en-US" sz="2800" dirty="0"/>
          </a:p>
        </p:txBody>
      </p:sp>
      <p:sp>
        <p:nvSpPr>
          <p:cNvPr id="3" name="Content Placeholder 2"/>
          <p:cNvSpPr>
            <a:spLocks noGrp="1"/>
          </p:cNvSpPr>
          <p:nvPr>
            <p:ph idx="1"/>
          </p:nvPr>
        </p:nvSpPr>
        <p:spPr>
          <a:xfrm>
            <a:off x="868018" y="854765"/>
            <a:ext cx="10800522" cy="5536095"/>
          </a:xfrm>
        </p:spPr>
        <p:txBody>
          <a:bodyPr>
            <a:normAutofit fontScale="92500"/>
          </a:bodyPr>
          <a:lstStyle/>
          <a:p>
            <a:pPr>
              <a:buNone/>
            </a:pPr>
            <a:r>
              <a:rPr lang="en-US" b="1" dirty="0"/>
              <a:t>4. Hierarchical Feature Learning</a:t>
            </a:r>
            <a:r>
              <a:rPr lang="en-US" dirty="0"/>
              <a:t>: CNNs can learn hierarchical representations of data, where lower layers capture simple features (like edges) and higher layers capture more complex patterns (like shapes and objects). This hierarchy is facilitated by the localized connections and weight sharing.</a:t>
            </a:r>
          </a:p>
          <a:p>
            <a:pPr>
              <a:buNone/>
            </a:pPr>
            <a:r>
              <a:rPr lang="en-US" b="1" dirty="0"/>
              <a:t>5. Better Generalization</a:t>
            </a:r>
            <a:r>
              <a:rPr lang="en-US" dirty="0"/>
              <a:t>: The reduction in the number of parameters and the emphasis on shared features can lead to better generalization on unseen data, as the model is less likely to </a:t>
            </a:r>
            <a:r>
              <a:rPr lang="en-US" dirty="0" err="1"/>
              <a:t>overfit</a:t>
            </a:r>
            <a:r>
              <a:rPr lang="en-US" dirty="0"/>
              <a:t> compared to a fully connected ANN with many parameters.</a:t>
            </a:r>
          </a:p>
          <a:p>
            <a:pPr>
              <a:buNone/>
            </a:pPr>
            <a:r>
              <a:rPr lang="en-US" b="1" dirty="0"/>
              <a:t>6. Robustness to Noise and Variability</a:t>
            </a:r>
            <a:r>
              <a:rPr lang="en-US" dirty="0"/>
              <a:t>: The ability to learn from local patterns and use shared weights makes CNNs more robust to noise and variations in the input data, such as changes in lighting, scale, and rotation.</a:t>
            </a:r>
          </a:p>
          <a:p>
            <a:pPr>
              <a:buNone/>
            </a:pPr>
            <a:r>
              <a:rPr lang="en-US" dirty="0"/>
              <a:t>Overall, these advantages make CNNs particularly well-suited for tasks like image recognition, object detection, and other applications involving spatial data.</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321710"/>
          </a:xfrm>
        </p:spPr>
        <p:txBody>
          <a:bodyPr>
            <a:normAutofit fontScale="90000"/>
          </a:bodyPr>
          <a:lstStyle/>
          <a:p>
            <a:r>
              <a:rPr lang="en-IN" dirty="0"/>
              <a:t>			Pooling Layer</a:t>
            </a:r>
            <a:endParaRPr lang="en-US" dirty="0"/>
          </a:p>
        </p:txBody>
      </p:sp>
      <p:sp>
        <p:nvSpPr>
          <p:cNvPr id="3" name="Content Placeholder 2"/>
          <p:cNvSpPr>
            <a:spLocks noGrp="1"/>
          </p:cNvSpPr>
          <p:nvPr>
            <p:ph idx="1"/>
          </p:nvPr>
        </p:nvSpPr>
        <p:spPr>
          <a:xfrm>
            <a:off x="599661" y="904462"/>
            <a:ext cx="10303565" cy="5128590"/>
          </a:xfrm>
        </p:spPr>
        <p:txBody>
          <a:bodyPr>
            <a:normAutofit/>
          </a:bodyPr>
          <a:lstStyle/>
          <a:p>
            <a:pPr>
              <a:buNone/>
            </a:pPr>
            <a:r>
              <a:rPr lang="en-US" b="1" dirty="0"/>
              <a:t>Pooling Layer: </a:t>
            </a:r>
            <a:r>
              <a:rPr lang="en-US" dirty="0"/>
              <a:t>Reduce the spatial dimensions of the feature maps, which decreases the number of parameters and computation in the network.</a:t>
            </a:r>
          </a:p>
          <a:p>
            <a:r>
              <a:rPr lang="en-US" b="1" dirty="0"/>
              <a:t>Types: </a:t>
            </a:r>
          </a:p>
          <a:p>
            <a:pPr marL="571500" indent="-571500">
              <a:buAutoNum type="romanLcParenBoth"/>
            </a:pPr>
            <a:r>
              <a:rPr lang="en-US" b="1" dirty="0"/>
              <a:t>Max Pooling:</a:t>
            </a:r>
            <a:r>
              <a:rPr lang="en-US" dirty="0"/>
              <a:t> Takes the maximum value from a defined window. It retains the most </a:t>
            </a:r>
            <a:r>
              <a:rPr lang="en-US" dirty="0">
                <a:solidFill>
                  <a:srgbClr val="FF0000"/>
                </a:solidFill>
              </a:rPr>
              <a:t>prominent features</a:t>
            </a:r>
            <a:r>
              <a:rPr lang="en-US" dirty="0"/>
              <a:t>, making it effective for detecting </a:t>
            </a:r>
            <a:r>
              <a:rPr lang="en-US" dirty="0">
                <a:solidFill>
                  <a:srgbClr val="FF0000"/>
                </a:solidFill>
              </a:rPr>
              <a:t>edges and textures</a:t>
            </a:r>
            <a:r>
              <a:rPr lang="en-US" dirty="0"/>
              <a:t>. </a:t>
            </a:r>
          </a:p>
          <a:p>
            <a:pPr marL="571500" indent="-571500">
              <a:buAutoNum type="romanLcParenBoth"/>
            </a:pPr>
            <a:r>
              <a:rPr lang="en-US" b="1" dirty="0"/>
              <a:t>Average Pooling:</a:t>
            </a:r>
            <a:r>
              <a:rPr lang="en-US" dirty="0"/>
              <a:t> Takes the average value from a defined window. It provides a </a:t>
            </a:r>
            <a:r>
              <a:rPr lang="en-US" dirty="0">
                <a:solidFill>
                  <a:srgbClr val="FF0000"/>
                </a:solidFill>
              </a:rPr>
              <a:t>smoother feature map </a:t>
            </a:r>
            <a:r>
              <a:rPr lang="en-US" dirty="0"/>
              <a:t>and can be </a:t>
            </a:r>
            <a:r>
              <a:rPr lang="en-US" dirty="0">
                <a:solidFill>
                  <a:srgbClr val="FF0000"/>
                </a:solidFill>
              </a:rPr>
              <a:t>less sensitive to noise </a:t>
            </a:r>
            <a:r>
              <a:rPr lang="en-US" dirty="0"/>
              <a:t>than max pooling. It is sometimes in cases where we want to </a:t>
            </a:r>
            <a:r>
              <a:rPr lang="en-US" dirty="0">
                <a:solidFill>
                  <a:srgbClr val="FF0000"/>
                </a:solidFill>
              </a:rPr>
              <a:t>retain more contextual information.</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Pooling</a:t>
            </a:r>
            <a:endParaRPr lang="en-US" dirty="0"/>
          </a:p>
        </p:txBody>
      </p:sp>
      <p:pic>
        <p:nvPicPr>
          <p:cNvPr id="3074" name="Picture 2"/>
          <p:cNvPicPr>
            <a:picLocks noGrp="1" noChangeAspect="1" noChangeArrowheads="1"/>
          </p:cNvPicPr>
          <p:nvPr>
            <p:ph idx="1"/>
          </p:nvPr>
        </p:nvPicPr>
        <p:blipFill>
          <a:blip r:embed="rId2"/>
          <a:srcRect/>
          <a:stretch>
            <a:fillRect/>
          </a:stretch>
        </p:blipFill>
        <p:spPr bwMode="auto">
          <a:xfrm>
            <a:off x="1798981" y="2018226"/>
            <a:ext cx="8030818" cy="3390000"/>
          </a:xfrm>
          <a:prstGeom prst="rect">
            <a:avLst/>
          </a:prstGeom>
          <a:noFill/>
          <a:ln w="9525">
            <a:noFill/>
            <a:miter lim="800000"/>
            <a:headEnd/>
            <a:tailEnd/>
          </a:ln>
          <a:effectLst/>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439718"/>
          </a:xfrm>
        </p:spPr>
        <p:txBody>
          <a:bodyPr>
            <a:normAutofit fontScale="90000"/>
          </a:bodyPr>
          <a:lstStyle/>
          <a:p>
            <a:pPr algn="ctr"/>
            <a:r>
              <a:rPr lang="en-IN" dirty="0"/>
              <a:t>Pooling</a:t>
            </a:r>
            <a:endParaRPr lang="en-US" dirty="0"/>
          </a:p>
        </p:txBody>
      </p:sp>
      <p:sp>
        <p:nvSpPr>
          <p:cNvPr id="3" name="Content Placeholder 2"/>
          <p:cNvSpPr>
            <a:spLocks noGrp="1"/>
          </p:cNvSpPr>
          <p:nvPr>
            <p:ph idx="1"/>
          </p:nvPr>
        </p:nvSpPr>
        <p:spPr>
          <a:xfrm>
            <a:off x="609600" y="928670"/>
            <a:ext cx="10972800" cy="5197493"/>
          </a:xfrm>
        </p:spPr>
        <p:txBody>
          <a:bodyPr>
            <a:normAutofit/>
          </a:bodyPr>
          <a:lstStyle/>
          <a:p>
            <a:pPr>
              <a:buNone/>
            </a:pPr>
            <a:r>
              <a:rPr lang="en-US" b="1" dirty="0"/>
              <a:t>(iii) Global Average Pooling</a:t>
            </a:r>
          </a:p>
          <a:p>
            <a:pPr algn="just"/>
            <a:r>
              <a:rPr lang="en-US" dirty="0"/>
              <a:t>It takes the average of the entire feature map, producing a single output for each feature map. It is helpful for reducing the size of feature maps and can be effective in classification tasks. It is generally used in the final layers of CNN architectures before the output layer.</a:t>
            </a:r>
          </a:p>
          <a:p>
            <a:pPr>
              <a:buNone/>
            </a:pPr>
            <a:r>
              <a:rPr lang="en-US" b="1" dirty="0"/>
              <a:t>(iv) Global Max Pooling</a:t>
            </a:r>
          </a:p>
          <a:p>
            <a:pPr algn="just"/>
            <a:r>
              <a:rPr lang="en-US" dirty="0"/>
              <a:t>It takes the maximum value from the entire feature map. Similar to global average pooling it is helpful for reducing the size of feature maps but it retains the most significant feature. It is also used before the output layer, especially when </a:t>
            </a:r>
            <a:r>
              <a:rPr lang="en-US" dirty="0">
                <a:solidFill>
                  <a:srgbClr val="FF0000"/>
                </a:solidFill>
              </a:rPr>
              <a:t>spatial resolution is less important.</a:t>
            </a:r>
          </a:p>
          <a:p>
            <a:pPr>
              <a:buNone/>
            </a:pPr>
            <a:endParaRPr lang="en-US" dirty="0"/>
          </a:p>
          <a:p>
            <a:endParaRPr lang="en-US"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511156"/>
          </a:xfrm>
        </p:spPr>
        <p:txBody>
          <a:bodyPr>
            <a:normAutofit fontScale="90000"/>
          </a:bodyPr>
          <a:lstStyle/>
          <a:p>
            <a:pPr algn="ctr"/>
            <a:r>
              <a:rPr lang="en-IN" dirty="0"/>
              <a:t>Pooling</a:t>
            </a:r>
            <a:endParaRPr lang="en-US" dirty="0"/>
          </a:p>
        </p:txBody>
      </p:sp>
      <p:sp>
        <p:nvSpPr>
          <p:cNvPr id="3" name="Content Placeholder 2"/>
          <p:cNvSpPr>
            <a:spLocks noGrp="1"/>
          </p:cNvSpPr>
          <p:nvPr>
            <p:ph idx="1"/>
          </p:nvPr>
        </p:nvSpPr>
        <p:spPr>
          <a:xfrm>
            <a:off x="609600" y="1000109"/>
            <a:ext cx="10972800" cy="5126055"/>
          </a:xfrm>
        </p:spPr>
        <p:txBody>
          <a:bodyPr>
            <a:normAutofit/>
          </a:bodyPr>
          <a:lstStyle/>
          <a:p>
            <a:pPr algn="just"/>
            <a:r>
              <a:rPr lang="en-US" dirty="0">
                <a:solidFill>
                  <a:srgbClr val="FF0000"/>
                </a:solidFill>
              </a:rPr>
              <a:t>Pooling operations </a:t>
            </a:r>
            <a:r>
              <a:rPr lang="en-US" dirty="0"/>
              <a:t>like max pooling and average pooling generally </a:t>
            </a:r>
            <a:r>
              <a:rPr lang="en-US" dirty="0">
                <a:solidFill>
                  <a:srgbClr val="FF0000"/>
                </a:solidFill>
              </a:rPr>
              <a:t>reduce spatial resolution</a:t>
            </a:r>
            <a:r>
              <a:rPr lang="en-US" dirty="0"/>
              <a:t>. </a:t>
            </a:r>
          </a:p>
          <a:p>
            <a:pPr algn="just"/>
            <a:r>
              <a:rPr lang="en-US" dirty="0"/>
              <a:t>However, the specific impact on spatial resolution depends on how the pooling is configured (e.g., window size and stride).</a:t>
            </a:r>
          </a:p>
          <a:p>
            <a:r>
              <a:rPr lang="en-US" b="1" dirty="0"/>
              <a:t>Pooling Parameters</a:t>
            </a:r>
          </a:p>
          <a:p>
            <a:pPr algn="just">
              <a:buNone/>
            </a:pPr>
            <a:r>
              <a:rPr lang="en-US" b="1" dirty="0"/>
              <a:t>(</a:t>
            </a:r>
            <a:r>
              <a:rPr lang="en-US" b="1" dirty="0" err="1"/>
              <a:t>i</a:t>
            </a:r>
            <a:r>
              <a:rPr lang="en-US" b="1" dirty="0"/>
              <a:t>) Window Size:</a:t>
            </a:r>
            <a:r>
              <a:rPr lang="en-US" dirty="0"/>
              <a:t> The size of the pooling filter (e.g., 2x2, 3x3).</a:t>
            </a:r>
          </a:p>
          <a:p>
            <a:pPr algn="just">
              <a:buNone/>
            </a:pPr>
            <a:r>
              <a:rPr lang="en-US" b="1" dirty="0"/>
              <a:t>(ii) Stride:</a:t>
            </a:r>
            <a:r>
              <a:rPr lang="en-US" dirty="0"/>
              <a:t> The number of pixels the filter moves after each operation. A larger stride reduces the output size more significantly.</a:t>
            </a:r>
          </a:p>
          <a:p>
            <a:pPr algn="just">
              <a:buNone/>
            </a:pPr>
            <a:r>
              <a:rPr lang="en-US" b="1" dirty="0"/>
              <a:t>(iii) Padding:</a:t>
            </a:r>
            <a:r>
              <a:rPr lang="en-US" dirty="0"/>
              <a:t> Adding extra pixels around the input feature map before pooling. Typically, pooling layers don’t use padding, but it can be useful in certain architectures.</a:t>
            </a:r>
          </a:p>
          <a:p>
            <a:endParaRPr lang="en-US"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48058"/>
          </a:xfrm>
        </p:spPr>
        <p:txBody>
          <a:bodyPr/>
          <a:lstStyle/>
          <a:p>
            <a:pPr algn="ctr"/>
            <a:r>
              <a:rPr lang="en-IN" dirty="0"/>
              <a:t>Pooling</a:t>
            </a:r>
            <a:endParaRPr lang="en-US" dirty="0"/>
          </a:p>
        </p:txBody>
      </p:sp>
      <p:sp>
        <p:nvSpPr>
          <p:cNvPr id="3" name="Content Placeholder 2"/>
          <p:cNvSpPr>
            <a:spLocks noGrp="1"/>
          </p:cNvSpPr>
          <p:nvPr>
            <p:ph idx="1"/>
          </p:nvPr>
        </p:nvSpPr>
        <p:spPr>
          <a:xfrm>
            <a:off x="1146313" y="1325617"/>
            <a:ext cx="9906000" cy="4840303"/>
          </a:xfrm>
        </p:spPr>
        <p:txBody>
          <a:bodyPr>
            <a:normAutofit/>
          </a:bodyPr>
          <a:lstStyle/>
          <a:p>
            <a:pPr algn="just"/>
            <a:r>
              <a:rPr lang="en-US" dirty="0"/>
              <a:t>Instead of pooling, some architectures use convolutions with strides greater than one to achieve </a:t>
            </a:r>
            <a:r>
              <a:rPr lang="en-US" dirty="0" err="1"/>
              <a:t>downsampling</a:t>
            </a:r>
            <a:r>
              <a:rPr lang="en-US" dirty="0"/>
              <a:t> while learning features.</a:t>
            </a:r>
          </a:p>
          <a:p>
            <a:pPr algn="just"/>
            <a:r>
              <a:rPr lang="en-US" dirty="0">
                <a:solidFill>
                  <a:srgbClr val="FF0000"/>
                </a:solidFill>
              </a:rPr>
              <a:t>Pooling </a:t>
            </a:r>
            <a:r>
              <a:rPr lang="en-US" dirty="0"/>
              <a:t>can lead to a </a:t>
            </a:r>
            <a:r>
              <a:rPr lang="en-US" dirty="0">
                <a:solidFill>
                  <a:srgbClr val="FF0000"/>
                </a:solidFill>
              </a:rPr>
              <a:t>loss of spatial information</a:t>
            </a:r>
            <a:r>
              <a:rPr lang="en-US" dirty="0"/>
              <a:t>, which might be </a:t>
            </a:r>
            <a:r>
              <a:rPr lang="en-US" dirty="0">
                <a:solidFill>
                  <a:srgbClr val="FF0000"/>
                </a:solidFill>
              </a:rPr>
              <a:t>critical </a:t>
            </a:r>
            <a:r>
              <a:rPr lang="en-US" dirty="0"/>
              <a:t>for some tasks (e.g., </a:t>
            </a:r>
            <a:r>
              <a:rPr lang="en-US" dirty="0">
                <a:solidFill>
                  <a:srgbClr val="FF0000"/>
                </a:solidFill>
              </a:rPr>
              <a:t>image segmentation</a:t>
            </a:r>
            <a:r>
              <a:rPr lang="en-US" dirty="0"/>
              <a:t>).</a:t>
            </a:r>
            <a:r>
              <a:rPr lang="en-US" b="1" dirty="0"/>
              <a:t> </a:t>
            </a:r>
          </a:p>
          <a:p>
            <a:pPr algn="just"/>
            <a:r>
              <a:rPr lang="en-US" dirty="0"/>
              <a:t>The choice between max pooling, average pooling, or other pooling techniques often depends on the specific task and desired outcomes.</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7997"/>
          </a:xfrm>
        </p:spPr>
        <p:txBody>
          <a:bodyPr/>
          <a:lstStyle/>
          <a:p>
            <a:pPr algn="ctr"/>
            <a:r>
              <a:rPr lang="en-US" dirty="0"/>
              <a:t>Pooling layer</a:t>
            </a:r>
          </a:p>
        </p:txBody>
      </p:sp>
      <p:graphicFrame>
        <p:nvGraphicFramePr>
          <p:cNvPr id="5" name="Content Placeholder 4"/>
          <p:cNvGraphicFramePr>
            <a:graphicFrameLocks noGrp="1"/>
          </p:cNvGraphicFramePr>
          <p:nvPr>
            <p:ph sz="half" idx="1"/>
            <p:extLst>
              <p:ext uri="{D42A27DB-BD31-4B8C-83A1-F6EECF244321}">
                <p14:modId xmlns:p14="http://schemas.microsoft.com/office/powerpoint/2010/main" val="2832997465"/>
              </p:ext>
            </p:extLst>
          </p:nvPr>
        </p:nvGraphicFramePr>
        <p:xfrm>
          <a:off x="4713514" y="1941877"/>
          <a:ext cx="1614716" cy="1643152"/>
        </p:xfrm>
        <a:graphic>
          <a:graphicData uri="http://schemas.openxmlformats.org/drawingml/2006/table">
            <a:tbl>
              <a:tblPr firstRow="1" bandRow="1">
                <a:tableStyleId>{5940675A-B579-460E-94D1-54222C63F5DA}</a:tableStyleId>
              </a:tblPr>
              <a:tblGrid>
                <a:gridCol w="403679">
                  <a:extLst>
                    <a:ext uri="{9D8B030D-6E8A-4147-A177-3AD203B41FA5}">
                      <a16:colId xmlns:a16="http://schemas.microsoft.com/office/drawing/2014/main" val="20000"/>
                    </a:ext>
                  </a:extLst>
                </a:gridCol>
                <a:gridCol w="403679">
                  <a:extLst>
                    <a:ext uri="{9D8B030D-6E8A-4147-A177-3AD203B41FA5}">
                      <a16:colId xmlns:a16="http://schemas.microsoft.com/office/drawing/2014/main" val="20001"/>
                    </a:ext>
                  </a:extLst>
                </a:gridCol>
                <a:gridCol w="403679">
                  <a:extLst>
                    <a:ext uri="{9D8B030D-6E8A-4147-A177-3AD203B41FA5}">
                      <a16:colId xmlns:a16="http://schemas.microsoft.com/office/drawing/2014/main" val="20002"/>
                    </a:ext>
                  </a:extLst>
                </a:gridCol>
                <a:gridCol w="403679">
                  <a:extLst>
                    <a:ext uri="{9D8B030D-6E8A-4147-A177-3AD203B41FA5}">
                      <a16:colId xmlns:a16="http://schemas.microsoft.com/office/drawing/2014/main" val="20003"/>
                    </a:ext>
                  </a:extLst>
                </a:gridCol>
              </a:tblGrid>
              <a:tr h="410788">
                <a:tc>
                  <a:txBody>
                    <a:bodyPr/>
                    <a:lstStyle/>
                    <a:p>
                      <a:pPr algn="ctr"/>
                      <a:r>
                        <a:rPr lang="en-US" dirty="0"/>
                        <a:t>1</a:t>
                      </a:r>
                    </a:p>
                  </a:txBody>
                  <a:tcPr anchor="ctr"/>
                </a:tc>
                <a:tc>
                  <a:txBody>
                    <a:bodyPr/>
                    <a:lstStyle/>
                    <a:p>
                      <a:pPr algn="ctr"/>
                      <a:r>
                        <a:rPr lang="en-US" dirty="0"/>
                        <a:t>4</a:t>
                      </a:r>
                    </a:p>
                  </a:txBody>
                  <a:tcPr anchor="ctr"/>
                </a:tc>
                <a:tc>
                  <a:txBody>
                    <a:bodyPr/>
                    <a:lstStyle/>
                    <a:p>
                      <a:pPr algn="ctr"/>
                      <a:r>
                        <a:rPr lang="en-US" dirty="0"/>
                        <a:t>2</a:t>
                      </a:r>
                    </a:p>
                  </a:txBody>
                  <a:tcPr anchor="ctr"/>
                </a:tc>
                <a:tc>
                  <a:txBody>
                    <a:bodyPr/>
                    <a:lstStyle/>
                    <a:p>
                      <a:pPr algn="ctr"/>
                      <a:r>
                        <a:rPr lang="en-US" dirty="0"/>
                        <a:t>1</a:t>
                      </a:r>
                    </a:p>
                  </a:txBody>
                  <a:tcPr anchor="ctr"/>
                </a:tc>
                <a:extLst>
                  <a:ext uri="{0D108BD9-81ED-4DB2-BD59-A6C34878D82A}">
                    <a16:rowId xmlns:a16="http://schemas.microsoft.com/office/drawing/2014/main" val="10000"/>
                  </a:ext>
                </a:extLst>
              </a:tr>
              <a:tr h="410788">
                <a:tc>
                  <a:txBody>
                    <a:bodyPr/>
                    <a:lstStyle/>
                    <a:p>
                      <a:pPr algn="ctr"/>
                      <a:r>
                        <a:rPr lang="en-US" dirty="0"/>
                        <a:t>5</a:t>
                      </a:r>
                    </a:p>
                  </a:txBody>
                  <a:tcPr anchor="ctr"/>
                </a:tc>
                <a:tc>
                  <a:txBody>
                    <a:bodyPr/>
                    <a:lstStyle/>
                    <a:p>
                      <a:pPr algn="ctr"/>
                      <a:r>
                        <a:rPr lang="en-US" dirty="0"/>
                        <a:t>8</a:t>
                      </a:r>
                    </a:p>
                  </a:txBody>
                  <a:tcPr anchor="ctr"/>
                </a:tc>
                <a:tc>
                  <a:txBody>
                    <a:bodyPr/>
                    <a:lstStyle/>
                    <a:p>
                      <a:pPr algn="ctr"/>
                      <a:r>
                        <a:rPr lang="en-US" dirty="0"/>
                        <a:t>3</a:t>
                      </a:r>
                    </a:p>
                  </a:txBody>
                  <a:tcPr anchor="ctr"/>
                </a:tc>
                <a:tc>
                  <a:txBody>
                    <a:bodyPr/>
                    <a:lstStyle/>
                    <a:p>
                      <a:pPr algn="ctr"/>
                      <a:r>
                        <a:rPr lang="en-US" dirty="0"/>
                        <a:t>4</a:t>
                      </a:r>
                    </a:p>
                  </a:txBody>
                  <a:tcPr anchor="ctr"/>
                </a:tc>
                <a:extLst>
                  <a:ext uri="{0D108BD9-81ED-4DB2-BD59-A6C34878D82A}">
                    <a16:rowId xmlns:a16="http://schemas.microsoft.com/office/drawing/2014/main" val="10001"/>
                  </a:ext>
                </a:extLst>
              </a:tr>
              <a:tr h="410788">
                <a:tc>
                  <a:txBody>
                    <a:bodyPr/>
                    <a:lstStyle/>
                    <a:p>
                      <a:pPr algn="ctr"/>
                      <a:r>
                        <a:rPr lang="en-US" dirty="0"/>
                        <a:t>7</a:t>
                      </a:r>
                    </a:p>
                  </a:txBody>
                  <a:tcPr anchor="ctr"/>
                </a:tc>
                <a:tc>
                  <a:txBody>
                    <a:bodyPr/>
                    <a:lstStyle/>
                    <a:p>
                      <a:pPr algn="ctr"/>
                      <a:r>
                        <a:rPr lang="en-US" dirty="0"/>
                        <a:t>6</a:t>
                      </a:r>
                    </a:p>
                  </a:txBody>
                  <a:tcPr anchor="ctr"/>
                </a:tc>
                <a:tc>
                  <a:txBody>
                    <a:bodyPr/>
                    <a:lstStyle/>
                    <a:p>
                      <a:pPr algn="ctr"/>
                      <a:r>
                        <a:rPr lang="en-US" dirty="0"/>
                        <a:t>4</a:t>
                      </a:r>
                    </a:p>
                  </a:txBody>
                  <a:tcPr anchor="ctr"/>
                </a:tc>
                <a:tc>
                  <a:txBody>
                    <a:bodyPr/>
                    <a:lstStyle/>
                    <a:p>
                      <a:pPr algn="ctr"/>
                      <a:r>
                        <a:rPr lang="en-US" dirty="0"/>
                        <a:t>5</a:t>
                      </a:r>
                    </a:p>
                  </a:txBody>
                  <a:tcPr anchor="ctr"/>
                </a:tc>
                <a:extLst>
                  <a:ext uri="{0D108BD9-81ED-4DB2-BD59-A6C34878D82A}">
                    <a16:rowId xmlns:a16="http://schemas.microsoft.com/office/drawing/2014/main" val="10002"/>
                  </a:ext>
                </a:extLst>
              </a:tr>
              <a:tr h="410788">
                <a:tc>
                  <a:txBody>
                    <a:bodyPr/>
                    <a:lstStyle/>
                    <a:p>
                      <a:pPr algn="ctr"/>
                      <a:r>
                        <a:rPr lang="en-US" dirty="0"/>
                        <a:t>1</a:t>
                      </a:r>
                    </a:p>
                  </a:txBody>
                  <a:tcPr anchor="ctr"/>
                </a:tc>
                <a:tc>
                  <a:txBody>
                    <a:bodyPr/>
                    <a:lstStyle/>
                    <a:p>
                      <a:pPr algn="ctr"/>
                      <a:r>
                        <a:rPr lang="en-US" dirty="0"/>
                        <a:t>3</a:t>
                      </a:r>
                    </a:p>
                  </a:txBody>
                  <a:tcPr anchor="ctr"/>
                </a:tc>
                <a:tc>
                  <a:txBody>
                    <a:bodyPr/>
                    <a:lstStyle/>
                    <a:p>
                      <a:pPr algn="ctr"/>
                      <a:r>
                        <a:rPr lang="en-US" dirty="0"/>
                        <a:t>1</a:t>
                      </a:r>
                    </a:p>
                  </a:txBody>
                  <a:tcPr anchor="ctr"/>
                </a:tc>
                <a:tc>
                  <a:txBody>
                    <a:bodyPr/>
                    <a:lstStyle/>
                    <a:p>
                      <a:pPr algn="ctr"/>
                      <a:r>
                        <a:rPr lang="en-US" dirty="0"/>
                        <a:t>2</a:t>
                      </a:r>
                    </a:p>
                  </a:txBody>
                  <a:tcPr anchor="ctr"/>
                </a:tc>
                <a:extLst>
                  <a:ext uri="{0D108BD9-81ED-4DB2-BD59-A6C34878D82A}">
                    <a16:rowId xmlns:a16="http://schemas.microsoft.com/office/drawing/2014/main" val="10003"/>
                  </a:ext>
                </a:extLst>
              </a:tr>
            </a:tbl>
          </a:graphicData>
        </a:graphic>
      </p:graphicFrame>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075" y="1648960"/>
            <a:ext cx="3409950" cy="2486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9028" y="2214563"/>
            <a:ext cx="1524000" cy="809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8" name="Content Placeholder 4"/>
          <p:cNvGraphicFramePr>
            <a:graphicFrameLocks/>
          </p:cNvGraphicFramePr>
          <p:nvPr>
            <p:extLst>
              <p:ext uri="{D42A27DB-BD31-4B8C-83A1-F6EECF244321}">
                <p14:modId xmlns:p14="http://schemas.microsoft.com/office/powerpoint/2010/main" val="3757971154"/>
              </p:ext>
            </p:extLst>
          </p:nvPr>
        </p:nvGraphicFramePr>
        <p:xfrm>
          <a:off x="8015514" y="2317139"/>
          <a:ext cx="807358" cy="821576"/>
        </p:xfrm>
        <a:graphic>
          <a:graphicData uri="http://schemas.openxmlformats.org/drawingml/2006/table">
            <a:tbl>
              <a:tblPr firstRow="1" bandRow="1">
                <a:tableStyleId>{5940675A-B579-460E-94D1-54222C63F5DA}</a:tableStyleId>
              </a:tblPr>
              <a:tblGrid>
                <a:gridCol w="403679">
                  <a:extLst>
                    <a:ext uri="{9D8B030D-6E8A-4147-A177-3AD203B41FA5}">
                      <a16:colId xmlns:a16="http://schemas.microsoft.com/office/drawing/2014/main" val="20000"/>
                    </a:ext>
                  </a:extLst>
                </a:gridCol>
                <a:gridCol w="403679">
                  <a:extLst>
                    <a:ext uri="{9D8B030D-6E8A-4147-A177-3AD203B41FA5}">
                      <a16:colId xmlns:a16="http://schemas.microsoft.com/office/drawing/2014/main" val="20001"/>
                    </a:ext>
                  </a:extLst>
                </a:gridCol>
              </a:tblGrid>
              <a:tr h="410788">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000"/>
                  </a:ext>
                </a:extLst>
              </a:tr>
              <a:tr h="410788">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001"/>
                  </a:ext>
                </a:extLst>
              </a:tr>
            </a:tbl>
          </a:graphicData>
        </a:graphic>
      </p:graphicFrame>
      <p:sp>
        <p:nvSpPr>
          <p:cNvPr id="9" name="TextBox 8"/>
          <p:cNvSpPr txBox="1"/>
          <p:nvPr/>
        </p:nvSpPr>
        <p:spPr>
          <a:xfrm>
            <a:off x="4870175" y="3717235"/>
            <a:ext cx="1384803" cy="369332"/>
          </a:xfrm>
          <a:prstGeom prst="rect">
            <a:avLst/>
          </a:prstGeom>
          <a:noFill/>
        </p:spPr>
        <p:txBody>
          <a:bodyPr wrap="none" rtlCol="0">
            <a:spAutoFit/>
          </a:bodyPr>
          <a:lstStyle/>
          <a:p>
            <a:r>
              <a:rPr lang="en-IN" dirty="0"/>
              <a:t>Feature Map</a:t>
            </a:r>
            <a:endParaRPr lang="en-US" dirty="0"/>
          </a:p>
        </p:txBody>
      </p:sp>
    </p:spTree>
    <p:extLst>
      <p:ext uri="{BB962C8B-B14F-4D97-AF65-F5344CB8AC3E}">
        <p14:creationId xmlns:p14="http://schemas.microsoft.com/office/powerpoint/2010/main" val="3261812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4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07692"/>
          </a:xfrm>
        </p:spPr>
        <p:txBody>
          <a:bodyPr/>
          <a:lstStyle/>
          <a:p>
            <a:pPr algn="ctr"/>
            <a:r>
              <a:rPr lang="en-US" dirty="0"/>
              <a:t>Pooling layer</a:t>
            </a:r>
          </a:p>
        </p:txBody>
      </p:sp>
      <p:graphicFrame>
        <p:nvGraphicFramePr>
          <p:cNvPr id="5" name="Content Placeholder 4"/>
          <p:cNvGraphicFramePr>
            <a:graphicFrameLocks noGrp="1"/>
          </p:cNvGraphicFramePr>
          <p:nvPr>
            <p:ph sz="half" idx="1"/>
            <p:extLst>
              <p:ext uri="{D42A27DB-BD31-4B8C-83A1-F6EECF244321}">
                <p14:modId xmlns:p14="http://schemas.microsoft.com/office/powerpoint/2010/main" val="762821067"/>
              </p:ext>
            </p:extLst>
          </p:nvPr>
        </p:nvGraphicFramePr>
        <p:xfrm>
          <a:off x="4713514" y="1941877"/>
          <a:ext cx="1614716" cy="1643152"/>
        </p:xfrm>
        <a:graphic>
          <a:graphicData uri="http://schemas.openxmlformats.org/drawingml/2006/table">
            <a:tbl>
              <a:tblPr firstRow="1" bandRow="1">
                <a:tableStyleId>{5940675A-B579-460E-94D1-54222C63F5DA}</a:tableStyleId>
              </a:tblPr>
              <a:tblGrid>
                <a:gridCol w="403679">
                  <a:extLst>
                    <a:ext uri="{9D8B030D-6E8A-4147-A177-3AD203B41FA5}">
                      <a16:colId xmlns:a16="http://schemas.microsoft.com/office/drawing/2014/main" val="20000"/>
                    </a:ext>
                  </a:extLst>
                </a:gridCol>
                <a:gridCol w="403679">
                  <a:extLst>
                    <a:ext uri="{9D8B030D-6E8A-4147-A177-3AD203B41FA5}">
                      <a16:colId xmlns:a16="http://schemas.microsoft.com/office/drawing/2014/main" val="20001"/>
                    </a:ext>
                  </a:extLst>
                </a:gridCol>
                <a:gridCol w="403679">
                  <a:extLst>
                    <a:ext uri="{9D8B030D-6E8A-4147-A177-3AD203B41FA5}">
                      <a16:colId xmlns:a16="http://schemas.microsoft.com/office/drawing/2014/main" val="20002"/>
                    </a:ext>
                  </a:extLst>
                </a:gridCol>
                <a:gridCol w="403679">
                  <a:extLst>
                    <a:ext uri="{9D8B030D-6E8A-4147-A177-3AD203B41FA5}">
                      <a16:colId xmlns:a16="http://schemas.microsoft.com/office/drawing/2014/main" val="20003"/>
                    </a:ext>
                  </a:extLst>
                </a:gridCol>
              </a:tblGrid>
              <a:tr h="410788">
                <a:tc>
                  <a:txBody>
                    <a:bodyPr/>
                    <a:lstStyle/>
                    <a:p>
                      <a:pPr algn="ctr"/>
                      <a:r>
                        <a:rPr lang="en-US" dirty="0"/>
                        <a:t>1</a:t>
                      </a:r>
                    </a:p>
                  </a:txBody>
                  <a:tcPr anchor="ctr">
                    <a:solidFill>
                      <a:srgbClr val="00B0F0"/>
                    </a:solidFill>
                  </a:tcPr>
                </a:tc>
                <a:tc>
                  <a:txBody>
                    <a:bodyPr/>
                    <a:lstStyle/>
                    <a:p>
                      <a:pPr algn="ctr"/>
                      <a:r>
                        <a:rPr lang="en-US" dirty="0"/>
                        <a:t>4</a:t>
                      </a:r>
                    </a:p>
                  </a:txBody>
                  <a:tcPr anchor="ctr">
                    <a:solidFill>
                      <a:srgbClr val="00B0F0"/>
                    </a:solidFill>
                  </a:tcPr>
                </a:tc>
                <a:tc>
                  <a:txBody>
                    <a:bodyPr/>
                    <a:lstStyle/>
                    <a:p>
                      <a:pPr algn="ctr"/>
                      <a:r>
                        <a:rPr lang="en-US" dirty="0"/>
                        <a:t>2</a:t>
                      </a:r>
                    </a:p>
                  </a:txBody>
                  <a:tcPr anchor="ctr"/>
                </a:tc>
                <a:tc>
                  <a:txBody>
                    <a:bodyPr/>
                    <a:lstStyle/>
                    <a:p>
                      <a:pPr algn="ctr"/>
                      <a:r>
                        <a:rPr lang="en-US" dirty="0"/>
                        <a:t>1</a:t>
                      </a:r>
                    </a:p>
                  </a:txBody>
                  <a:tcPr anchor="ctr"/>
                </a:tc>
                <a:extLst>
                  <a:ext uri="{0D108BD9-81ED-4DB2-BD59-A6C34878D82A}">
                    <a16:rowId xmlns:a16="http://schemas.microsoft.com/office/drawing/2014/main" val="10000"/>
                  </a:ext>
                </a:extLst>
              </a:tr>
              <a:tr h="410788">
                <a:tc>
                  <a:txBody>
                    <a:bodyPr/>
                    <a:lstStyle/>
                    <a:p>
                      <a:pPr algn="ctr"/>
                      <a:r>
                        <a:rPr lang="en-US" dirty="0"/>
                        <a:t>5</a:t>
                      </a:r>
                    </a:p>
                  </a:txBody>
                  <a:tcPr anchor="ctr">
                    <a:solidFill>
                      <a:srgbClr val="00B0F0"/>
                    </a:solidFill>
                  </a:tcPr>
                </a:tc>
                <a:tc>
                  <a:txBody>
                    <a:bodyPr/>
                    <a:lstStyle/>
                    <a:p>
                      <a:pPr algn="ctr"/>
                      <a:r>
                        <a:rPr lang="en-US" dirty="0"/>
                        <a:t>8</a:t>
                      </a:r>
                    </a:p>
                  </a:txBody>
                  <a:tcPr anchor="ctr">
                    <a:solidFill>
                      <a:srgbClr val="00B0F0"/>
                    </a:solidFill>
                  </a:tcPr>
                </a:tc>
                <a:tc>
                  <a:txBody>
                    <a:bodyPr/>
                    <a:lstStyle/>
                    <a:p>
                      <a:pPr algn="ctr"/>
                      <a:r>
                        <a:rPr lang="en-US" dirty="0"/>
                        <a:t>3</a:t>
                      </a:r>
                    </a:p>
                  </a:txBody>
                  <a:tcPr anchor="ctr"/>
                </a:tc>
                <a:tc>
                  <a:txBody>
                    <a:bodyPr/>
                    <a:lstStyle/>
                    <a:p>
                      <a:pPr algn="ctr"/>
                      <a:r>
                        <a:rPr lang="en-US" dirty="0"/>
                        <a:t>4</a:t>
                      </a:r>
                    </a:p>
                  </a:txBody>
                  <a:tcPr anchor="ctr"/>
                </a:tc>
                <a:extLst>
                  <a:ext uri="{0D108BD9-81ED-4DB2-BD59-A6C34878D82A}">
                    <a16:rowId xmlns:a16="http://schemas.microsoft.com/office/drawing/2014/main" val="10001"/>
                  </a:ext>
                </a:extLst>
              </a:tr>
              <a:tr h="410788">
                <a:tc>
                  <a:txBody>
                    <a:bodyPr/>
                    <a:lstStyle/>
                    <a:p>
                      <a:pPr algn="ctr"/>
                      <a:r>
                        <a:rPr lang="en-US" dirty="0"/>
                        <a:t>7</a:t>
                      </a:r>
                    </a:p>
                  </a:txBody>
                  <a:tcPr anchor="ctr"/>
                </a:tc>
                <a:tc>
                  <a:txBody>
                    <a:bodyPr/>
                    <a:lstStyle/>
                    <a:p>
                      <a:pPr algn="ctr"/>
                      <a:r>
                        <a:rPr lang="en-US" dirty="0"/>
                        <a:t>6</a:t>
                      </a:r>
                    </a:p>
                  </a:txBody>
                  <a:tcPr anchor="ctr"/>
                </a:tc>
                <a:tc>
                  <a:txBody>
                    <a:bodyPr/>
                    <a:lstStyle/>
                    <a:p>
                      <a:pPr algn="ctr"/>
                      <a:r>
                        <a:rPr lang="en-US" dirty="0"/>
                        <a:t>4</a:t>
                      </a:r>
                    </a:p>
                  </a:txBody>
                  <a:tcPr anchor="ctr"/>
                </a:tc>
                <a:tc>
                  <a:txBody>
                    <a:bodyPr/>
                    <a:lstStyle/>
                    <a:p>
                      <a:pPr algn="ctr"/>
                      <a:r>
                        <a:rPr lang="en-US" dirty="0"/>
                        <a:t>5</a:t>
                      </a:r>
                    </a:p>
                  </a:txBody>
                  <a:tcPr anchor="ctr"/>
                </a:tc>
                <a:extLst>
                  <a:ext uri="{0D108BD9-81ED-4DB2-BD59-A6C34878D82A}">
                    <a16:rowId xmlns:a16="http://schemas.microsoft.com/office/drawing/2014/main" val="10002"/>
                  </a:ext>
                </a:extLst>
              </a:tr>
              <a:tr h="410788">
                <a:tc>
                  <a:txBody>
                    <a:bodyPr/>
                    <a:lstStyle/>
                    <a:p>
                      <a:pPr algn="ctr"/>
                      <a:r>
                        <a:rPr lang="en-US" dirty="0"/>
                        <a:t>1</a:t>
                      </a:r>
                    </a:p>
                  </a:txBody>
                  <a:tcPr anchor="ctr"/>
                </a:tc>
                <a:tc>
                  <a:txBody>
                    <a:bodyPr/>
                    <a:lstStyle/>
                    <a:p>
                      <a:pPr algn="ctr"/>
                      <a:r>
                        <a:rPr lang="en-US" dirty="0"/>
                        <a:t>3</a:t>
                      </a:r>
                    </a:p>
                  </a:txBody>
                  <a:tcPr anchor="ctr"/>
                </a:tc>
                <a:tc>
                  <a:txBody>
                    <a:bodyPr/>
                    <a:lstStyle/>
                    <a:p>
                      <a:pPr algn="ctr"/>
                      <a:r>
                        <a:rPr lang="en-US" dirty="0"/>
                        <a:t>1</a:t>
                      </a:r>
                    </a:p>
                  </a:txBody>
                  <a:tcPr anchor="ctr"/>
                </a:tc>
                <a:tc>
                  <a:txBody>
                    <a:bodyPr/>
                    <a:lstStyle/>
                    <a:p>
                      <a:pPr algn="ctr"/>
                      <a:r>
                        <a:rPr lang="en-US" dirty="0"/>
                        <a:t>2</a:t>
                      </a:r>
                    </a:p>
                  </a:txBody>
                  <a:tcPr anchor="ctr"/>
                </a:tc>
                <a:extLst>
                  <a:ext uri="{0D108BD9-81ED-4DB2-BD59-A6C34878D82A}">
                    <a16:rowId xmlns:a16="http://schemas.microsoft.com/office/drawing/2014/main" val="10003"/>
                  </a:ext>
                </a:extLst>
              </a:tr>
            </a:tbl>
          </a:graphicData>
        </a:graphic>
      </p:graphicFrame>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075" y="1648960"/>
            <a:ext cx="3409950" cy="2486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9028" y="2214563"/>
            <a:ext cx="1524000" cy="809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8" name="Content Placeholder 4"/>
          <p:cNvGraphicFramePr>
            <a:graphicFrameLocks/>
          </p:cNvGraphicFramePr>
          <p:nvPr>
            <p:extLst>
              <p:ext uri="{D42A27DB-BD31-4B8C-83A1-F6EECF244321}">
                <p14:modId xmlns:p14="http://schemas.microsoft.com/office/powerpoint/2010/main" val="3224862954"/>
              </p:ext>
            </p:extLst>
          </p:nvPr>
        </p:nvGraphicFramePr>
        <p:xfrm>
          <a:off x="8015514" y="2317139"/>
          <a:ext cx="807358" cy="821576"/>
        </p:xfrm>
        <a:graphic>
          <a:graphicData uri="http://schemas.openxmlformats.org/drawingml/2006/table">
            <a:tbl>
              <a:tblPr firstRow="1" bandRow="1">
                <a:tableStyleId>{5940675A-B579-460E-94D1-54222C63F5DA}</a:tableStyleId>
              </a:tblPr>
              <a:tblGrid>
                <a:gridCol w="403679">
                  <a:extLst>
                    <a:ext uri="{9D8B030D-6E8A-4147-A177-3AD203B41FA5}">
                      <a16:colId xmlns:a16="http://schemas.microsoft.com/office/drawing/2014/main" val="20000"/>
                    </a:ext>
                  </a:extLst>
                </a:gridCol>
                <a:gridCol w="403679">
                  <a:extLst>
                    <a:ext uri="{9D8B030D-6E8A-4147-A177-3AD203B41FA5}">
                      <a16:colId xmlns:a16="http://schemas.microsoft.com/office/drawing/2014/main" val="20001"/>
                    </a:ext>
                  </a:extLst>
                </a:gridCol>
              </a:tblGrid>
              <a:tr h="410788">
                <a:tc>
                  <a:txBody>
                    <a:bodyPr/>
                    <a:lstStyle/>
                    <a:p>
                      <a:pPr algn="ctr"/>
                      <a:r>
                        <a:rPr lang="en-US" dirty="0"/>
                        <a:t>8</a:t>
                      </a:r>
                    </a:p>
                  </a:txBody>
                  <a:tcPr anchor="ctr"/>
                </a:tc>
                <a:tc>
                  <a:txBody>
                    <a:bodyPr/>
                    <a:lstStyle/>
                    <a:p>
                      <a:pPr algn="ctr"/>
                      <a:endParaRPr lang="en-US" dirty="0"/>
                    </a:p>
                  </a:txBody>
                  <a:tcPr anchor="ctr"/>
                </a:tc>
                <a:extLst>
                  <a:ext uri="{0D108BD9-81ED-4DB2-BD59-A6C34878D82A}">
                    <a16:rowId xmlns:a16="http://schemas.microsoft.com/office/drawing/2014/main" val="10000"/>
                  </a:ext>
                </a:extLst>
              </a:tr>
              <a:tr h="410788">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34657425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28788"/>
          </a:xfrm>
        </p:spPr>
        <p:txBody>
          <a:bodyPr>
            <a:normAutofit fontScale="90000"/>
          </a:bodyPr>
          <a:lstStyle/>
          <a:p>
            <a:pPr algn="ctr"/>
            <a:r>
              <a:rPr lang="en-US" dirty="0"/>
              <a:t>Pooling layer</a:t>
            </a:r>
          </a:p>
        </p:txBody>
      </p:sp>
      <p:graphicFrame>
        <p:nvGraphicFramePr>
          <p:cNvPr id="5" name="Content Placeholder 4"/>
          <p:cNvGraphicFramePr>
            <a:graphicFrameLocks noGrp="1"/>
          </p:cNvGraphicFramePr>
          <p:nvPr>
            <p:ph sz="half" idx="1"/>
            <p:extLst>
              <p:ext uri="{D42A27DB-BD31-4B8C-83A1-F6EECF244321}">
                <p14:modId xmlns:p14="http://schemas.microsoft.com/office/powerpoint/2010/main" val="2130711593"/>
              </p:ext>
            </p:extLst>
          </p:nvPr>
        </p:nvGraphicFramePr>
        <p:xfrm>
          <a:off x="4713514" y="1941877"/>
          <a:ext cx="1614716" cy="1643152"/>
        </p:xfrm>
        <a:graphic>
          <a:graphicData uri="http://schemas.openxmlformats.org/drawingml/2006/table">
            <a:tbl>
              <a:tblPr firstRow="1" bandRow="1">
                <a:tableStyleId>{5940675A-B579-460E-94D1-54222C63F5DA}</a:tableStyleId>
              </a:tblPr>
              <a:tblGrid>
                <a:gridCol w="403679">
                  <a:extLst>
                    <a:ext uri="{9D8B030D-6E8A-4147-A177-3AD203B41FA5}">
                      <a16:colId xmlns:a16="http://schemas.microsoft.com/office/drawing/2014/main" val="20000"/>
                    </a:ext>
                  </a:extLst>
                </a:gridCol>
                <a:gridCol w="403679">
                  <a:extLst>
                    <a:ext uri="{9D8B030D-6E8A-4147-A177-3AD203B41FA5}">
                      <a16:colId xmlns:a16="http://schemas.microsoft.com/office/drawing/2014/main" val="20001"/>
                    </a:ext>
                  </a:extLst>
                </a:gridCol>
                <a:gridCol w="403679">
                  <a:extLst>
                    <a:ext uri="{9D8B030D-6E8A-4147-A177-3AD203B41FA5}">
                      <a16:colId xmlns:a16="http://schemas.microsoft.com/office/drawing/2014/main" val="20002"/>
                    </a:ext>
                  </a:extLst>
                </a:gridCol>
                <a:gridCol w="403679">
                  <a:extLst>
                    <a:ext uri="{9D8B030D-6E8A-4147-A177-3AD203B41FA5}">
                      <a16:colId xmlns:a16="http://schemas.microsoft.com/office/drawing/2014/main" val="20003"/>
                    </a:ext>
                  </a:extLst>
                </a:gridCol>
              </a:tblGrid>
              <a:tr h="410788">
                <a:tc>
                  <a:txBody>
                    <a:bodyPr/>
                    <a:lstStyle/>
                    <a:p>
                      <a:pPr algn="ctr"/>
                      <a:r>
                        <a:rPr lang="en-US" dirty="0"/>
                        <a:t>1</a:t>
                      </a:r>
                    </a:p>
                  </a:txBody>
                  <a:tcPr anchor="ctr">
                    <a:noFill/>
                  </a:tcPr>
                </a:tc>
                <a:tc>
                  <a:txBody>
                    <a:bodyPr/>
                    <a:lstStyle/>
                    <a:p>
                      <a:pPr algn="ctr"/>
                      <a:r>
                        <a:rPr lang="en-US" dirty="0"/>
                        <a:t>4</a:t>
                      </a:r>
                    </a:p>
                  </a:txBody>
                  <a:tcPr anchor="ctr">
                    <a:noFill/>
                  </a:tcPr>
                </a:tc>
                <a:tc>
                  <a:txBody>
                    <a:bodyPr/>
                    <a:lstStyle/>
                    <a:p>
                      <a:pPr algn="ctr"/>
                      <a:r>
                        <a:rPr lang="en-US" dirty="0"/>
                        <a:t>2</a:t>
                      </a:r>
                    </a:p>
                  </a:txBody>
                  <a:tcPr anchor="ctr">
                    <a:solidFill>
                      <a:srgbClr val="00B0F0"/>
                    </a:solidFill>
                  </a:tcPr>
                </a:tc>
                <a:tc>
                  <a:txBody>
                    <a:bodyPr/>
                    <a:lstStyle/>
                    <a:p>
                      <a:pPr algn="ctr"/>
                      <a:r>
                        <a:rPr lang="en-US" dirty="0"/>
                        <a:t>1</a:t>
                      </a:r>
                    </a:p>
                  </a:txBody>
                  <a:tcPr anchor="ctr">
                    <a:solidFill>
                      <a:srgbClr val="00B0F0"/>
                    </a:solidFill>
                  </a:tcPr>
                </a:tc>
                <a:extLst>
                  <a:ext uri="{0D108BD9-81ED-4DB2-BD59-A6C34878D82A}">
                    <a16:rowId xmlns:a16="http://schemas.microsoft.com/office/drawing/2014/main" val="10000"/>
                  </a:ext>
                </a:extLst>
              </a:tr>
              <a:tr h="410788">
                <a:tc>
                  <a:txBody>
                    <a:bodyPr/>
                    <a:lstStyle/>
                    <a:p>
                      <a:pPr algn="ctr"/>
                      <a:r>
                        <a:rPr lang="en-US" dirty="0"/>
                        <a:t>5</a:t>
                      </a:r>
                    </a:p>
                  </a:txBody>
                  <a:tcPr anchor="ctr">
                    <a:noFill/>
                  </a:tcPr>
                </a:tc>
                <a:tc>
                  <a:txBody>
                    <a:bodyPr/>
                    <a:lstStyle/>
                    <a:p>
                      <a:pPr algn="ctr"/>
                      <a:r>
                        <a:rPr lang="en-US" dirty="0"/>
                        <a:t>8</a:t>
                      </a:r>
                    </a:p>
                  </a:txBody>
                  <a:tcPr anchor="ctr">
                    <a:noFill/>
                  </a:tcPr>
                </a:tc>
                <a:tc>
                  <a:txBody>
                    <a:bodyPr/>
                    <a:lstStyle/>
                    <a:p>
                      <a:pPr algn="ctr"/>
                      <a:r>
                        <a:rPr lang="en-US" dirty="0"/>
                        <a:t>3</a:t>
                      </a:r>
                    </a:p>
                  </a:txBody>
                  <a:tcPr anchor="ctr">
                    <a:solidFill>
                      <a:srgbClr val="00B0F0"/>
                    </a:solidFill>
                  </a:tcPr>
                </a:tc>
                <a:tc>
                  <a:txBody>
                    <a:bodyPr/>
                    <a:lstStyle/>
                    <a:p>
                      <a:pPr algn="ctr"/>
                      <a:r>
                        <a:rPr lang="en-US" dirty="0"/>
                        <a:t>4</a:t>
                      </a:r>
                    </a:p>
                  </a:txBody>
                  <a:tcPr anchor="ctr">
                    <a:solidFill>
                      <a:srgbClr val="00B0F0"/>
                    </a:solidFill>
                  </a:tcPr>
                </a:tc>
                <a:extLst>
                  <a:ext uri="{0D108BD9-81ED-4DB2-BD59-A6C34878D82A}">
                    <a16:rowId xmlns:a16="http://schemas.microsoft.com/office/drawing/2014/main" val="10001"/>
                  </a:ext>
                </a:extLst>
              </a:tr>
              <a:tr h="410788">
                <a:tc>
                  <a:txBody>
                    <a:bodyPr/>
                    <a:lstStyle/>
                    <a:p>
                      <a:pPr algn="ctr"/>
                      <a:r>
                        <a:rPr lang="en-US" dirty="0"/>
                        <a:t>7</a:t>
                      </a:r>
                    </a:p>
                  </a:txBody>
                  <a:tcPr anchor="ctr"/>
                </a:tc>
                <a:tc>
                  <a:txBody>
                    <a:bodyPr/>
                    <a:lstStyle/>
                    <a:p>
                      <a:pPr algn="ctr"/>
                      <a:r>
                        <a:rPr lang="en-US" dirty="0"/>
                        <a:t>6</a:t>
                      </a:r>
                    </a:p>
                  </a:txBody>
                  <a:tcPr anchor="ctr"/>
                </a:tc>
                <a:tc>
                  <a:txBody>
                    <a:bodyPr/>
                    <a:lstStyle/>
                    <a:p>
                      <a:pPr algn="ctr"/>
                      <a:r>
                        <a:rPr lang="en-US" dirty="0"/>
                        <a:t>4</a:t>
                      </a:r>
                    </a:p>
                  </a:txBody>
                  <a:tcPr anchor="ctr"/>
                </a:tc>
                <a:tc>
                  <a:txBody>
                    <a:bodyPr/>
                    <a:lstStyle/>
                    <a:p>
                      <a:pPr algn="ctr"/>
                      <a:r>
                        <a:rPr lang="en-US" dirty="0"/>
                        <a:t>5</a:t>
                      </a:r>
                    </a:p>
                  </a:txBody>
                  <a:tcPr anchor="ctr"/>
                </a:tc>
                <a:extLst>
                  <a:ext uri="{0D108BD9-81ED-4DB2-BD59-A6C34878D82A}">
                    <a16:rowId xmlns:a16="http://schemas.microsoft.com/office/drawing/2014/main" val="10002"/>
                  </a:ext>
                </a:extLst>
              </a:tr>
              <a:tr h="410788">
                <a:tc>
                  <a:txBody>
                    <a:bodyPr/>
                    <a:lstStyle/>
                    <a:p>
                      <a:pPr algn="ctr"/>
                      <a:r>
                        <a:rPr lang="en-US" dirty="0"/>
                        <a:t>1</a:t>
                      </a:r>
                    </a:p>
                  </a:txBody>
                  <a:tcPr anchor="ctr"/>
                </a:tc>
                <a:tc>
                  <a:txBody>
                    <a:bodyPr/>
                    <a:lstStyle/>
                    <a:p>
                      <a:pPr algn="ctr"/>
                      <a:r>
                        <a:rPr lang="en-US" dirty="0"/>
                        <a:t>3</a:t>
                      </a:r>
                    </a:p>
                  </a:txBody>
                  <a:tcPr anchor="ctr"/>
                </a:tc>
                <a:tc>
                  <a:txBody>
                    <a:bodyPr/>
                    <a:lstStyle/>
                    <a:p>
                      <a:pPr algn="ctr"/>
                      <a:r>
                        <a:rPr lang="en-US" dirty="0"/>
                        <a:t>1</a:t>
                      </a:r>
                    </a:p>
                  </a:txBody>
                  <a:tcPr anchor="ctr"/>
                </a:tc>
                <a:tc>
                  <a:txBody>
                    <a:bodyPr/>
                    <a:lstStyle/>
                    <a:p>
                      <a:pPr algn="ctr"/>
                      <a:r>
                        <a:rPr lang="en-US" dirty="0"/>
                        <a:t>2</a:t>
                      </a:r>
                    </a:p>
                  </a:txBody>
                  <a:tcPr anchor="ctr"/>
                </a:tc>
                <a:extLst>
                  <a:ext uri="{0D108BD9-81ED-4DB2-BD59-A6C34878D82A}">
                    <a16:rowId xmlns:a16="http://schemas.microsoft.com/office/drawing/2014/main" val="10003"/>
                  </a:ext>
                </a:extLst>
              </a:tr>
            </a:tbl>
          </a:graphicData>
        </a:graphic>
      </p:graphicFrame>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075" y="1648960"/>
            <a:ext cx="3409950" cy="2486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9028" y="2214563"/>
            <a:ext cx="1524000" cy="809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8" name="Content Placeholder 4"/>
          <p:cNvGraphicFramePr>
            <a:graphicFrameLocks/>
          </p:cNvGraphicFramePr>
          <p:nvPr>
            <p:extLst>
              <p:ext uri="{D42A27DB-BD31-4B8C-83A1-F6EECF244321}">
                <p14:modId xmlns:p14="http://schemas.microsoft.com/office/powerpoint/2010/main" val="740179514"/>
              </p:ext>
            </p:extLst>
          </p:nvPr>
        </p:nvGraphicFramePr>
        <p:xfrm>
          <a:off x="8015514" y="2317139"/>
          <a:ext cx="807358" cy="821576"/>
        </p:xfrm>
        <a:graphic>
          <a:graphicData uri="http://schemas.openxmlformats.org/drawingml/2006/table">
            <a:tbl>
              <a:tblPr firstRow="1" bandRow="1">
                <a:tableStyleId>{5940675A-B579-460E-94D1-54222C63F5DA}</a:tableStyleId>
              </a:tblPr>
              <a:tblGrid>
                <a:gridCol w="403679">
                  <a:extLst>
                    <a:ext uri="{9D8B030D-6E8A-4147-A177-3AD203B41FA5}">
                      <a16:colId xmlns:a16="http://schemas.microsoft.com/office/drawing/2014/main" val="20000"/>
                    </a:ext>
                  </a:extLst>
                </a:gridCol>
                <a:gridCol w="403679">
                  <a:extLst>
                    <a:ext uri="{9D8B030D-6E8A-4147-A177-3AD203B41FA5}">
                      <a16:colId xmlns:a16="http://schemas.microsoft.com/office/drawing/2014/main" val="20001"/>
                    </a:ext>
                  </a:extLst>
                </a:gridCol>
              </a:tblGrid>
              <a:tr h="410788">
                <a:tc>
                  <a:txBody>
                    <a:bodyPr/>
                    <a:lstStyle/>
                    <a:p>
                      <a:pPr algn="ctr"/>
                      <a:r>
                        <a:rPr lang="en-US" dirty="0"/>
                        <a:t>8</a:t>
                      </a:r>
                    </a:p>
                  </a:txBody>
                  <a:tcPr anchor="ctr"/>
                </a:tc>
                <a:tc>
                  <a:txBody>
                    <a:bodyPr/>
                    <a:lstStyle/>
                    <a:p>
                      <a:pPr algn="ctr"/>
                      <a:r>
                        <a:rPr lang="en-US" dirty="0"/>
                        <a:t>4</a:t>
                      </a:r>
                    </a:p>
                  </a:txBody>
                  <a:tcPr anchor="ctr"/>
                </a:tc>
                <a:extLst>
                  <a:ext uri="{0D108BD9-81ED-4DB2-BD59-A6C34878D82A}">
                    <a16:rowId xmlns:a16="http://schemas.microsoft.com/office/drawing/2014/main" val="10000"/>
                  </a:ext>
                </a:extLst>
              </a:tr>
              <a:tr h="410788">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67393087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89032"/>
          </a:xfrm>
        </p:spPr>
        <p:txBody>
          <a:bodyPr>
            <a:normAutofit fontScale="90000"/>
          </a:bodyPr>
          <a:lstStyle/>
          <a:p>
            <a:pPr algn="ctr"/>
            <a:r>
              <a:rPr lang="en-US" dirty="0"/>
              <a:t>Pooling layer</a:t>
            </a:r>
          </a:p>
        </p:txBody>
      </p:sp>
      <p:graphicFrame>
        <p:nvGraphicFramePr>
          <p:cNvPr id="5" name="Content Placeholder 4"/>
          <p:cNvGraphicFramePr>
            <a:graphicFrameLocks noGrp="1"/>
          </p:cNvGraphicFramePr>
          <p:nvPr>
            <p:ph sz="half" idx="1"/>
            <p:extLst>
              <p:ext uri="{D42A27DB-BD31-4B8C-83A1-F6EECF244321}">
                <p14:modId xmlns:p14="http://schemas.microsoft.com/office/powerpoint/2010/main" val="2009112357"/>
              </p:ext>
            </p:extLst>
          </p:nvPr>
        </p:nvGraphicFramePr>
        <p:xfrm>
          <a:off x="4713514" y="1941877"/>
          <a:ext cx="1614716" cy="1643152"/>
        </p:xfrm>
        <a:graphic>
          <a:graphicData uri="http://schemas.openxmlformats.org/drawingml/2006/table">
            <a:tbl>
              <a:tblPr firstRow="1" bandRow="1">
                <a:tableStyleId>{5940675A-B579-460E-94D1-54222C63F5DA}</a:tableStyleId>
              </a:tblPr>
              <a:tblGrid>
                <a:gridCol w="403679">
                  <a:extLst>
                    <a:ext uri="{9D8B030D-6E8A-4147-A177-3AD203B41FA5}">
                      <a16:colId xmlns:a16="http://schemas.microsoft.com/office/drawing/2014/main" val="20000"/>
                    </a:ext>
                  </a:extLst>
                </a:gridCol>
                <a:gridCol w="403679">
                  <a:extLst>
                    <a:ext uri="{9D8B030D-6E8A-4147-A177-3AD203B41FA5}">
                      <a16:colId xmlns:a16="http://schemas.microsoft.com/office/drawing/2014/main" val="20001"/>
                    </a:ext>
                  </a:extLst>
                </a:gridCol>
                <a:gridCol w="403679">
                  <a:extLst>
                    <a:ext uri="{9D8B030D-6E8A-4147-A177-3AD203B41FA5}">
                      <a16:colId xmlns:a16="http://schemas.microsoft.com/office/drawing/2014/main" val="20002"/>
                    </a:ext>
                  </a:extLst>
                </a:gridCol>
                <a:gridCol w="403679">
                  <a:extLst>
                    <a:ext uri="{9D8B030D-6E8A-4147-A177-3AD203B41FA5}">
                      <a16:colId xmlns:a16="http://schemas.microsoft.com/office/drawing/2014/main" val="20003"/>
                    </a:ext>
                  </a:extLst>
                </a:gridCol>
              </a:tblGrid>
              <a:tr h="410788">
                <a:tc>
                  <a:txBody>
                    <a:bodyPr/>
                    <a:lstStyle/>
                    <a:p>
                      <a:pPr algn="ctr"/>
                      <a:r>
                        <a:rPr lang="en-US" dirty="0"/>
                        <a:t>1</a:t>
                      </a:r>
                    </a:p>
                  </a:txBody>
                  <a:tcPr anchor="ctr">
                    <a:noFill/>
                  </a:tcPr>
                </a:tc>
                <a:tc>
                  <a:txBody>
                    <a:bodyPr/>
                    <a:lstStyle/>
                    <a:p>
                      <a:pPr algn="ctr"/>
                      <a:r>
                        <a:rPr lang="en-US" dirty="0"/>
                        <a:t>4</a:t>
                      </a:r>
                    </a:p>
                  </a:txBody>
                  <a:tcPr anchor="ctr">
                    <a:noFill/>
                  </a:tcPr>
                </a:tc>
                <a:tc>
                  <a:txBody>
                    <a:bodyPr/>
                    <a:lstStyle/>
                    <a:p>
                      <a:pPr algn="ctr"/>
                      <a:r>
                        <a:rPr lang="en-US" dirty="0"/>
                        <a:t>2</a:t>
                      </a:r>
                    </a:p>
                  </a:txBody>
                  <a:tcPr anchor="ctr">
                    <a:noFill/>
                  </a:tcPr>
                </a:tc>
                <a:tc>
                  <a:txBody>
                    <a:bodyPr/>
                    <a:lstStyle/>
                    <a:p>
                      <a:pPr algn="ctr"/>
                      <a:r>
                        <a:rPr lang="en-US" dirty="0"/>
                        <a:t>1</a:t>
                      </a:r>
                    </a:p>
                  </a:txBody>
                  <a:tcPr anchor="ctr">
                    <a:noFill/>
                  </a:tcPr>
                </a:tc>
                <a:extLst>
                  <a:ext uri="{0D108BD9-81ED-4DB2-BD59-A6C34878D82A}">
                    <a16:rowId xmlns:a16="http://schemas.microsoft.com/office/drawing/2014/main" val="10000"/>
                  </a:ext>
                </a:extLst>
              </a:tr>
              <a:tr h="410788">
                <a:tc>
                  <a:txBody>
                    <a:bodyPr/>
                    <a:lstStyle/>
                    <a:p>
                      <a:pPr algn="ctr"/>
                      <a:r>
                        <a:rPr lang="en-US" dirty="0"/>
                        <a:t>5</a:t>
                      </a:r>
                    </a:p>
                  </a:txBody>
                  <a:tcPr anchor="ctr">
                    <a:noFill/>
                  </a:tcPr>
                </a:tc>
                <a:tc>
                  <a:txBody>
                    <a:bodyPr/>
                    <a:lstStyle/>
                    <a:p>
                      <a:pPr algn="ctr"/>
                      <a:r>
                        <a:rPr lang="en-US" dirty="0"/>
                        <a:t>8</a:t>
                      </a:r>
                    </a:p>
                  </a:txBody>
                  <a:tcPr anchor="ctr">
                    <a:noFill/>
                  </a:tcPr>
                </a:tc>
                <a:tc>
                  <a:txBody>
                    <a:bodyPr/>
                    <a:lstStyle/>
                    <a:p>
                      <a:pPr algn="ctr"/>
                      <a:r>
                        <a:rPr lang="en-US" dirty="0"/>
                        <a:t>3</a:t>
                      </a:r>
                    </a:p>
                  </a:txBody>
                  <a:tcPr anchor="ctr">
                    <a:noFill/>
                  </a:tcPr>
                </a:tc>
                <a:tc>
                  <a:txBody>
                    <a:bodyPr/>
                    <a:lstStyle/>
                    <a:p>
                      <a:pPr algn="ctr"/>
                      <a:r>
                        <a:rPr lang="en-US" dirty="0"/>
                        <a:t>4</a:t>
                      </a:r>
                    </a:p>
                  </a:txBody>
                  <a:tcPr anchor="ctr">
                    <a:noFill/>
                  </a:tcPr>
                </a:tc>
                <a:extLst>
                  <a:ext uri="{0D108BD9-81ED-4DB2-BD59-A6C34878D82A}">
                    <a16:rowId xmlns:a16="http://schemas.microsoft.com/office/drawing/2014/main" val="10001"/>
                  </a:ext>
                </a:extLst>
              </a:tr>
              <a:tr h="410788">
                <a:tc>
                  <a:txBody>
                    <a:bodyPr/>
                    <a:lstStyle/>
                    <a:p>
                      <a:pPr algn="ctr"/>
                      <a:r>
                        <a:rPr lang="en-US" dirty="0"/>
                        <a:t>7</a:t>
                      </a:r>
                    </a:p>
                  </a:txBody>
                  <a:tcPr anchor="ctr">
                    <a:solidFill>
                      <a:srgbClr val="00B0F0"/>
                    </a:solidFill>
                  </a:tcPr>
                </a:tc>
                <a:tc>
                  <a:txBody>
                    <a:bodyPr/>
                    <a:lstStyle/>
                    <a:p>
                      <a:pPr algn="ctr"/>
                      <a:r>
                        <a:rPr lang="en-US" dirty="0"/>
                        <a:t>6</a:t>
                      </a:r>
                    </a:p>
                  </a:txBody>
                  <a:tcPr anchor="ctr">
                    <a:solidFill>
                      <a:srgbClr val="00B0F0"/>
                    </a:solidFill>
                  </a:tcPr>
                </a:tc>
                <a:tc>
                  <a:txBody>
                    <a:bodyPr/>
                    <a:lstStyle/>
                    <a:p>
                      <a:pPr algn="ctr"/>
                      <a:r>
                        <a:rPr lang="en-US" dirty="0"/>
                        <a:t>4</a:t>
                      </a:r>
                    </a:p>
                  </a:txBody>
                  <a:tcPr anchor="ctr"/>
                </a:tc>
                <a:tc>
                  <a:txBody>
                    <a:bodyPr/>
                    <a:lstStyle/>
                    <a:p>
                      <a:pPr algn="ctr"/>
                      <a:r>
                        <a:rPr lang="en-US" dirty="0"/>
                        <a:t>5</a:t>
                      </a:r>
                    </a:p>
                  </a:txBody>
                  <a:tcPr anchor="ctr"/>
                </a:tc>
                <a:extLst>
                  <a:ext uri="{0D108BD9-81ED-4DB2-BD59-A6C34878D82A}">
                    <a16:rowId xmlns:a16="http://schemas.microsoft.com/office/drawing/2014/main" val="10002"/>
                  </a:ext>
                </a:extLst>
              </a:tr>
              <a:tr h="410788">
                <a:tc>
                  <a:txBody>
                    <a:bodyPr/>
                    <a:lstStyle/>
                    <a:p>
                      <a:pPr algn="ctr"/>
                      <a:r>
                        <a:rPr lang="en-US" dirty="0"/>
                        <a:t>1</a:t>
                      </a:r>
                    </a:p>
                  </a:txBody>
                  <a:tcPr anchor="ctr">
                    <a:solidFill>
                      <a:srgbClr val="00B0F0"/>
                    </a:solidFill>
                  </a:tcPr>
                </a:tc>
                <a:tc>
                  <a:txBody>
                    <a:bodyPr/>
                    <a:lstStyle/>
                    <a:p>
                      <a:pPr algn="ctr"/>
                      <a:r>
                        <a:rPr lang="en-US" dirty="0"/>
                        <a:t>3</a:t>
                      </a:r>
                    </a:p>
                  </a:txBody>
                  <a:tcPr anchor="ctr">
                    <a:solidFill>
                      <a:srgbClr val="00B0F0"/>
                    </a:solidFill>
                  </a:tcPr>
                </a:tc>
                <a:tc>
                  <a:txBody>
                    <a:bodyPr/>
                    <a:lstStyle/>
                    <a:p>
                      <a:pPr algn="ctr"/>
                      <a:r>
                        <a:rPr lang="en-US" dirty="0"/>
                        <a:t>1</a:t>
                      </a:r>
                    </a:p>
                  </a:txBody>
                  <a:tcPr anchor="ctr"/>
                </a:tc>
                <a:tc>
                  <a:txBody>
                    <a:bodyPr/>
                    <a:lstStyle/>
                    <a:p>
                      <a:pPr algn="ctr"/>
                      <a:r>
                        <a:rPr lang="en-US" dirty="0"/>
                        <a:t>2</a:t>
                      </a:r>
                    </a:p>
                  </a:txBody>
                  <a:tcPr anchor="ctr"/>
                </a:tc>
                <a:extLst>
                  <a:ext uri="{0D108BD9-81ED-4DB2-BD59-A6C34878D82A}">
                    <a16:rowId xmlns:a16="http://schemas.microsoft.com/office/drawing/2014/main" val="10003"/>
                  </a:ext>
                </a:extLst>
              </a:tr>
            </a:tbl>
          </a:graphicData>
        </a:graphic>
      </p:graphicFrame>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075" y="1648960"/>
            <a:ext cx="3409950" cy="2486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9028" y="2214563"/>
            <a:ext cx="1524000" cy="809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8" name="Content Placeholder 4"/>
          <p:cNvGraphicFramePr>
            <a:graphicFrameLocks/>
          </p:cNvGraphicFramePr>
          <p:nvPr>
            <p:extLst>
              <p:ext uri="{D42A27DB-BD31-4B8C-83A1-F6EECF244321}">
                <p14:modId xmlns:p14="http://schemas.microsoft.com/office/powerpoint/2010/main" val="951238969"/>
              </p:ext>
            </p:extLst>
          </p:nvPr>
        </p:nvGraphicFramePr>
        <p:xfrm>
          <a:off x="8015514" y="2317139"/>
          <a:ext cx="807358" cy="821576"/>
        </p:xfrm>
        <a:graphic>
          <a:graphicData uri="http://schemas.openxmlformats.org/drawingml/2006/table">
            <a:tbl>
              <a:tblPr firstRow="1" bandRow="1">
                <a:tableStyleId>{5940675A-B579-460E-94D1-54222C63F5DA}</a:tableStyleId>
              </a:tblPr>
              <a:tblGrid>
                <a:gridCol w="403679">
                  <a:extLst>
                    <a:ext uri="{9D8B030D-6E8A-4147-A177-3AD203B41FA5}">
                      <a16:colId xmlns:a16="http://schemas.microsoft.com/office/drawing/2014/main" val="20000"/>
                    </a:ext>
                  </a:extLst>
                </a:gridCol>
                <a:gridCol w="403679">
                  <a:extLst>
                    <a:ext uri="{9D8B030D-6E8A-4147-A177-3AD203B41FA5}">
                      <a16:colId xmlns:a16="http://schemas.microsoft.com/office/drawing/2014/main" val="20001"/>
                    </a:ext>
                  </a:extLst>
                </a:gridCol>
              </a:tblGrid>
              <a:tr h="410788">
                <a:tc>
                  <a:txBody>
                    <a:bodyPr/>
                    <a:lstStyle/>
                    <a:p>
                      <a:pPr algn="ctr"/>
                      <a:r>
                        <a:rPr lang="en-US" dirty="0"/>
                        <a:t>8</a:t>
                      </a:r>
                    </a:p>
                  </a:txBody>
                  <a:tcPr anchor="ctr"/>
                </a:tc>
                <a:tc>
                  <a:txBody>
                    <a:bodyPr/>
                    <a:lstStyle/>
                    <a:p>
                      <a:pPr algn="ctr"/>
                      <a:r>
                        <a:rPr lang="en-US" dirty="0"/>
                        <a:t>4</a:t>
                      </a:r>
                    </a:p>
                  </a:txBody>
                  <a:tcPr anchor="ctr"/>
                </a:tc>
                <a:extLst>
                  <a:ext uri="{0D108BD9-81ED-4DB2-BD59-A6C34878D82A}">
                    <a16:rowId xmlns:a16="http://schemas.microsoft.com/office/drawing/2014/main" val="10000"/>
                  </a:ext>
                </a:extLst>
              </a:tr>
              <a:tr h="410788">
                <a:tc>
                  <a:txBody>
                    <a:bodyPr/>
                    <a:lstStyle/>
                    <a:p>
                      <a:pPr algn="ctr"/>
                      <a:r>
                        <a:rPr lang="en-US" dirty="0"/>
                        <a:t>7</a:t>
                      </a:r>
                    </a:p>
                  </a:txBody>
                  <a:tcPr anchor="ctr"/>
                </a:tc>
                <a:tc>
                  <a:txBody>
                    <a:bodyPr/>
                    <a:lstStyle/>
                    <a:p>
                      <a:pPr algn="ctr"/>
                      <a:endParaRPr lang="en-US" dirty="0"/>
                    </a:p>
                  </a:txBody>
                  <a:tcPr anchor="ct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20746226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69153"/>
          </a:xfrm>
        </p:spPr>
        <p:txBody>
          <a:bodyPr>
            <a:normAutofit fontScale="90000"/>
          </a:bodyPr>
          <a:lstStyle/>
          <a:p>
            <a:pPr algn="ctr"/>
            <a:r>
              <a:rPr lang="en-US" dirty="0"/>
              <a:t>Pooling layer</a:t>
            </a:r>
          </a:p>
        </p:txBody>
      </p:sp>
      <p:graphicFrame>
        <p:nvGraphicFramePr>
          <p:cNvPr id="5" name="Content Placeholder 4"/>
          <p:cNvGraphicFramePr>
            <a:graphicFrameLocks noGrp="1"/>
          </p:cNvGraphicFramePr>
          <p:nvPr>
            <p:ph sz="half" idx="1"/>
            <p:extLst>
              <p:ext uri="{D42A27DB-BD31-4B8C-83A1-F6EECF244321}">
                <p14:modId xmlns:p14="http://schemas.microsoft.com/office/powerpoint/2010/main" val="1947020996"/>
              </p:ext>
            </p:extLst>
          </p:nvPr>
        </p:nvGraphicFramePr>
        <p:xfrm>
          <a:off x="4713514" y="1941877"/>
          <a:ext cx="1614716" cy="1643152"/>
        </p:xfrm>
        <a:graphic>
          <a:graphicData uri="http://schemas.openxmlformats.org/drawingml/2006/table">
            <a:tbl>
              <a:tblPr firstRow="1" bandRow="1">
                <a:tableStyleId>{5940675A-B579-460E-94D1-54222C63F5DA}</a:tableStyleId>
              </a:tblPr>
              <a:tblGrid>
                <a:gridCol w="403679">
                  <a:extLst>
                    <a:ext uri="{9D8B030D-6E8A-4147-A177-3AD203B41FA5}">
                      <a16:colId xmlns:a16="http://schemas.microsoft.com/office/drawing/2014/main" val="20000"/>
                    </a:ext>
                  </a:extLst>
                </a:gridCol>
                <a:gridCol w="403679">
                  <a:extLst>
                    <a:ext uri="{9D8B030D-6E8A-4147-A177-3AD203B41FA5}">
                      <a16:colId xmlns:a16="http://schemas.microsoft.com/office/drawing/2014/main" val="20001"/>
                    </a:ext>
                  </a:extLst>
                </a:gridCol>
                <a:gridCol w="403679">
                  <a:extLst>
                    <a:ext uri="{9D8B030D-6E8A-4147-A177-3AD203B41FA5}">
                      <a16:colId xmlns:a16="http://schemas.microsoft.com/office/drawing/2014/main" val="20002"/>
                    </a:ext>
                  </a:extLst>
                </a:gridCol>
                <a:gridCol w="403679">
                  <a:extLst>
                    <a:ext uri="{9D8B030D-6E8A-4147-A177-3AD203B41FA5}">
                      <a16:colId xmlns:a16="http://schemas.microsoft.com/office/drawing/2014/main" val="20003"/>
                    </a:ext>
                  </a:extLst>
                </a:gridCol>
              </a:tblGrid>
              <a:tr h="410788">
                <a:tc>
                  <a:txBody>
                    <a:bodyPr/>
                    <a:lstStyle/>
                    <a:p>
                      <a:pPr algn="ctr"/>
                      <a:r>
                        <a:rPr lang="en-US" dirty="0"/>
                        <a:t>1</a:t>
                      </a:r>
                    </a:p>
                  </a:txBody>
                  <a:tcPr anchor="ctr">
                    <a:noFill/>
                  </a:tcPr>
                </a:tc>
                <a:tc>
                  <a:txBody>
                    <a:bodyPr/>
                    <a:lstStyle/>
                    <a:p>
                      <a:pPr algn="ctr"/>
                      <a:r>
                        <a:rPr lang="en-US" dirty="0"/>
                        <a:t>4</a:t>
                      </a:r>
                    </a:p>
                  </a:txBody>
                  <a:tcPr anchor="ctr">
                    <a:noFill/>
                  </a:tcPr>
                </a:tc>
                <a:tc>
                  <a:txBody>
                    <a:bodyPr/>
                    <a:lstStyle/>
                    <a:p>
                      <a:pPr algn="ctr"/>
                      <a:r>
                        <a:rPr lang="en-US" dirty="0"/>
                        <a:t>2</a:t>
                      </a:r>
                    </a:p>
                  </a:txBody>
                  <a:tcPr anchor="ctr">
                    <a:noFill/>
                  </a:tcPr>
                </a:tc>
                <a:tc>
                  <a:txBody>
                    <a:bodyPr/>
                    <a:lstStyle/>
                    <a:p>
                      <a:pPr algn="ctr"/>
                      <a:r>
                        <a:rPr lang="en-US" dirty="0"/>
                        <a:t>1</a:t>
                      </a:r>
                    </a:p>
                  </a:txBody>
                  <a:tcPr anchor="ctr">
                    <a:noFill/>
                  </a:tcPr>
                </a:tc>
                <a:extLst>
                  <a:ext uri="{0D108BD9-81ED-4DB2-BD59-A6C34878D82A}">
                    <a16:rowId xmlns:a16="http://schemas.microsoft.com/office/drawing/2014/main" val="10000"/>
                  </a:ext>
                </a:extLst>
              </a:tr>
              <a:tr h="410788">
                <a:tc>
                  <a:txBody>
                    <a:bodyPr/>
                    <a:lstStyle/>
                    <a:p>
                      <a:pPr algn="ctr"/>
                      <a:r>
                        <a:rPr lang="en-US" dirty="0"/>
                        <a:t>5</a:t>
                      </a:r>
                    </a:p>
                  </a:txBody>
                  <a:tcPr anchor="ctr">
                    <a:noFill/>
                  </a:tcPr>
                </a:tc>
                <a:tc>
                  <a:txBody>
                    <a:bodyPr/>
                    <a:lstStyle/>
                    <a:p>
                      <a:pPr algn="ctr"/>
                      <a:r>
                        <a:rPr lang="en-US" dirty="0"/>
                        <a:t>8</a:t>
                      </a:r>
                    </a:p>
                  </a:txBody>
                  <a:tcPr anchor="ctr">
                    <a:noFill/>
                  </a:tcPr>
                </a:tc>
                <a:tc>
                  <a:txBody>
                    <a:bodyPr/>
                    <a:lstStyle/>
                    <a:p>
                      <a:pPr algn="ctr"/>
                      <a:r>
                        <a:rPr lang="en-US" dirty="0"/>
                        <a:t>3</a:t>
                      </a:r>
                    </a:p>
                  </a:txBody>
                  <a:tcPr anchor="ctr">
                    <a:noFill/>
                  </a:tcPr>
                </a:tc>
                <a:tc>
                  <a:txBody>
                    <a:bodyPr/>
                    <a:lstStyle/>
                    <a:p>
                      <a:pPr algn="ctr"/>
                      <a:r>
                        <a:rPr lang="en-US" dirty="0"/>
                        <a:t>4</a:t>
                      </a:r>
                    </a:p>
                  </a:txBody>
                  <a:tcPr anchor="ctr">
                    <a:noFill/>
                  </a:tcPr>
                </a:tc>
                <a:extLst>
                  <a:ext uri="{0D108BD9-81ED-4DB2-BD59-A6C34878D82A}">
                    <a16:rowId xmlns:a16="http://schemas.microsoft.com/office/drawing/2014/main" val="10001"/>
                  </a:ext>
                </a:extLst>
              </a:tr>
              <a:tr h="410788">
                <a:tc>
                  <a:txBody>
                    <a:bodyPr/>
                    <a:lstStyle/>
                    <a:p>
                      <a:pPr algn="ctr"/>
                      <a:r>
                        <a:rPr lang="en-US" dirty="0"/>
                        <a:t>7</a:t>
                      </a:r>
                    </a:p>
                  </a:txBody>
                  <a:tcPr anchor="ctr">
                    <a:noFill/>
                  </a:tcPr>
                </a:tc>
                <a:tc>
                  <a:txBody>
                    <a:bodyPr/>
                    <a:lstStyle/>
                    <a:p>
                      <a:pPr algn="ctr"/>
                      <a:r>
                        <a:rPr lang="en-US" dirty="0"/>
                        <a:t>6</a:t>
                      </a:r>
                    </a:p>
                  </a:txBody>
                  <a:tcPr anchor="ctr">
                    <a:noFill/>
                  </a:tcPr>
                </a:tc>
                <a:tc>
                  <a:txBody>
                    <a:bodyPr/>
                    <a:lstStyle/>
                    <a:p>
                      <a:pPr algn="ctr"/>
                      <a:r>
                        <a:rPr lang="en-US" dirty="0"/>
                        <a:t>4</a:t>
                      </a:r>
                    </a:p>
                  </a:txBody>
                  <a:tcPr anchor="ctr">
                    <a:solidFill>
                      <a:srgbClr val="00B0F0"/>
                    </a:solidFill>
                  </a:tcPr>
                </a:tc>
                <a:tc>
                  <a:txBody>
                    <a:bodyPr/>
                    <a:lstStyle/>
                    <a:p>
                      <a:pPr algn="ctr"/>
                      <a:r>
                        <a:rPr lang="en-US" dirty="0"/>
                        <a:t>5</a:t>
                      </a:r>
                    </a:p>
                  </a:txBody>
                  <a:tcPr anchor="ctr">
                    <a:solidFill>
                      <a:srgbClr val="00B0F0"/>
                    </a:solidFill>
                  </a:tcPr>
                </a:tc>
                <a:extLst>
                  <a:ext uri="{0D108BD9-81ED-4DB2-BD59-A6C34878D82A}">
                    <a16:rowId xmlns:a16="http://schemas.microsoft.com/office/drawing/2014/main" val="10002"/>
                  </a:ext>
                </a:extLst>
              </a:tr>
              <a:tr h="410788">
                <a:tc>
                  <a:txBody>
                    <a:bodyPr/>
                    <a:lstStyle/>
                    <a:p>
                      <a:pPr algn="ctr"/>
                      <a:r>
                        <a:rPr lang="en-US" dirty="0"/>
                        <a:t>1</a:t>
                      </a:r>
                    </a:p>
                  </a:txBody>
                  <a:tcPr anchor="ctr">
                    <a:noFill/>
                  </a:tcPr>
                </a:tc>
                <a:tc>
                  <a:txBody>
                    <a:bodyPr/>
                    <a:lstStyle/>
                    <a:p>
                      <a:pPr algn="ctr"/>
                      <a:r>
                        <a:rPr lang="en-US" dirty="0"/>
                        <a:t>3</a:t>
                      </a:r>
                    </a:p>
                  </a:txBody>
                  <a:tcPr anchor="ctr">
                    <a:noFill/>
                  </a:tcPr>
                </a:tc>
                <a:tc>
                  <a:txBody>
                    <a:bodyPr/>
                    <a:lstStyle/>
                    <a:p>
                      <a:pPr algn="ctr"/>
                      <a:r>
                        <a:rPr lang="en-US" dirty="0"/>
                        <a:t>1</a:t>
                      </a:r>
                    </a:p>
                  </a:txBody>
                  <a:tcPr anchor="ctr">
                    <a:solidFill>
                      <a:srgbClr val="00B0F0"/>
                    </a:solidFill>
                  </a:tcPr>
                </a:tc>
                <a:tc>
                  <a:txBody>
                    <a:bodyPr/>
                    <a:lstStyle/>
                    <a:p>
                      <a:pPr algn="ctr"/>
                      <a:r>
                        <a:rPr lang="en-US" dirty="0"/>
                        <a:t>2</a:t>
                      </a:r>
                    </a:p>
                  </a:txBody>
                  <a:tcPr anchor="ctr">
                    <a:solidFill>
                      <a:srgbClr val="00B0F0"/>
                    </a:solidFill>
                  </a:tcPr>
                </a:tc>
                <a:extLst>
                  <a:ext uri="{0D108BD9-81ED-4DB2-BD59-A6C34878D82A}">
                    <a16:rowId xmlns:a16="http://schemas.microsoft.com/office/drawing/2014/main" val="10003"/>
                  </a:ext>
                </a:extLst>
              </a:tr>
            </a:tbl>
          </a:graphicData>
        </a:graphic>
      </p:graphicFrame>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075" y="1648960"/>
            <a:ext cx="3409950" cy="2486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9028" y="2214563"/>
            <a:ext cx="1524000" cy="809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8" name="Content Placeholder 4"/>
          <p:cNvGraphicFramePr>
            <a:graphicFrameLocks/>
          </p:cNvGraphicFramePr>
          <p:nvPr>
            <p:extLst>
              <p:ext uri="{D42A27DB-BD31-4B8C-83A1-F6EECF244321}">
                <p14:modId xmlns:p14="http://schemas.microsoft.com/office/powerpoint/2010/main" val="1152534644"/>
              </p:ext>
            </p:extLst>
          </p:nvPr>
        </p:nvGraphicFramePr>
        <p:xfrm>
          <a:off x="8015514" y="2317139"/>
          <a:ext cx="807358" cy="821576"/>
        </p:xfrm>
        <a:graphic>
          <a:graphicData uri="http://schemas.openxmlformats.org/drawingml/2006/table">
            <a:tbl>
              <a:tblPr firstRow="1" bandRow="1">
                <a:tableStyleId>{5940675A-B579-460E-94D1-54222C63F5DA}</a:tableStyleId>
              </a:tblPr>
              <a:tblGrid>
                <a:gridCol w="403679">
                  <a:extLst>
                    <a:ext uri="{9D8B030D-6E8A-4147-A177-3AD203B41FA5}">
                      <a16:colId xmlns:a16="http://schemas.microsoft.com/office/drawing/2014/main" val="20000"/>
                    </a:ext>
                  </a:extLst>
                </a:gridCol>
                <a:gridCol w="403679">
                  <a:extLst>
                    <a:ext uri="{9D8B030D-6E8A-4147-A177-3AD203B41FA5}">
                      <a16:colId xmlns:a16="http://schemas.microsoft.com/office/drawing/2014/main" val="20001"/>
                    </a:ext>
                  </a:extLst>
                </a:gridCol>
              </a:tblGrid>
              <a:tr h="410788">
                <a:tc>
                  <a:txBody>
                    <a:bodyPr/>
                    <a:lstStyle/>
                    <a:p>
                      <a:pPr algn="ctr"/>
                      <a:r>
                        <a:rPr lang="en-US" dirty="0"/>
                        <a:t>8</a:t>
                      </a:r>
                    </a:p>
                  </a:txBody>
                  <a:tcPr anchor="ctr"/>
                </a:tc>
                <a:tc>
                  <a:txBody>
                    <a:bodyPr/>
                    <a:lstStyle/>
                    <a:p>
                      <a:pPr algn="ctr"/>
                      <a:r>
                        <a:rPr lang="en-US" dirty="0"/>
                        <a:t>4</a:t>
                      </a:r>
                    </a:p>
                  </a:txBody>
                  <a:tcPr anchor="ctr"/>
                </a:tc>
                <a:extLst>
                  <a:ext uri="{0D108BD9-81ED-4DB2-BD59-A6C34878D82A}">
                    <a16:rowId xmlns:a16="http://schemas.microsoft.com/office/drawing/2014/main" val="10000"/>
                  </a:ext>
                </a:extLst>
              </a:tr>
              <a:tr h="410788">
                <a:tc>
                  <a:txBody>
                    <a:bodyPr/>
                    <a:lstStyle/>
                    <a:p>
                      <a:pPr algn="ctr"/>
                      <a:r>
                        <a:rPr lang="en-US" dirty="0"/>
                        <a:t>7</a:t>
                      </a:r>
                    </a:p>
                  </a:txBody>
                  <a:tcPr anchor="ctr"/>
                </a:tc>
                <a:tc>
                  <a:txBody>
                    <a:bodyPr/>
                    <a:lstStyle/>
                    <a:p>
                      <a:pPr algn="ctr"/>
                      <a:r>
                        <a:rPr lang="en-US" dirty="0"/>
                        <a:t>5</a:t>
                      </a:r>
                    </a:p>
                  </a:txBody>
                  <a:tcPr anchor="ct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84466636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18849"/>
          </a:xfrm>
        </p:spPr>
        <p:txBody>
          <a:bodyPr>
            <a:normAutofit fontScale="90000"/>
          </a:bodyPr>
          <a:lstStyle/>
          <a:p>
            <a:pPr algn="ctr"/>
            <a:r>
              <a:rPr lang="en-US" dirty="0"/>
              <a:t>Pooling layer</a:t>
            </a:r>
          </a:p>
        </p:txBody>
      </p:sp>
      <p:graphicFrame>
        <p:nvGraphicFramePr>
          <p:cNvPr id="5" name="Content Placeholder 4"/>
          <p:cNvGraphicFramePr>
            <a:graphicFrameLocks noGrp="1"/>
          </p:cNvGraphicFramePr>
          <p:nvPr>
            <p:ph sz="half" idx="1"/>
            <p:extLst>
              <p:ext uri="{D42A27DB-BD31-4B8C-83A1-F6EECF244321}">
                <p14:modId xmlns:p14="http://schemas.microsoft.com/office/powerpoint/2010/main" val="3772307720"/>
              </p:ext>
            </p:extLst>
          </p:nvPr>
        </p:nvGraphicFramePr>
        <p:xfrm>
          <a:off x="4713514" y="1941877"/>
          <a:ext cx="1614716" cy="1643152"/>
        </p:xfrm>
        <a:graphic>
          <a:graphicData uri="http://schemas.openxmlformats.org/drawingml/2006/table">
            <a:tbl>
              <a:tblPr firstRow="1" bandRow="1">
                <a:tableStyleId>{5940675A-B579-460E-94D1-54222C63F5DA}</a:tableStyleId>
              </a:tblPr>
              <a:tblGrid>
                <a:gridCol w="403679">
                  <a:extLst>
                    <a:ext uri="{9D8B030D-6E8A-4147-A177-3AD203B41FA5}">
                      <a16:colId xmlns:a16="http://schemas.microsoft.com/office/drawing/2014/main" val="20000"/>
                    </a:ext>
                  </a:extLst>
                </a:gridCol>
                <a:gridCol w="403679">
                  <a:extLst>
                    <a:ext uri="{9D8B030D-6E8A-4147-A177-3AD203B41FA5}">
                      <a16:colId xmlns:a16="http://schemas.microsoft.com/office/drawing/2014/main" val="20001"/>
                    </a:ext>
                  </a:extLst>
                </a:gridCol>
                <a:gridCol w="403679">
                  <a:extLst>
                    <a:ext uri="{9D8B030D-6E8A-4147-A177-3AD203B41FA5}">
                      <a16:colId xmlns:a16="http://schemas.microsoft.com/office/drawing/2014/main" val="20002"/>
                    </a:ext>
                  </a:extLst>
                </a:gridCol>
                <a:gridCol w="403679">
                  <a:extLst>
                    <a:ext uri="{9D8B030D-6E8A-4147-A177-3AD203B41FA5}">
                      <a16:colId xmlns:a16="http://schemas.microsoft.com/office/drawing/2014/main" val="20003"/>
                    </a:ext>
                  </a:extLst>
                </a:gridCol>
              </a:tblGrid>
              <a:tr h="410788">
                <a:tc>
                  <a:txBody>
                    <a:bodyPr/>
                    <a:lstStyle/>
                    <a:p>
                      <a:pPr algn="ctr"/>
                      <a:r>
                        <a:rPr lang="en-US" dirty="0"/>
                        <a:t>1</a:t>
                      </a:r>
                    </a:p>
                  </a:txBody>
                  <a:tcPr anchor="ctr">
                    <a:solidFill>
                      <a:srgbClr val="00B0F0"/>
                    </a:solidFill>
                  </a:tcPr>
                </a:tc>
                <a:tc>
                  <a:txBody>
                    <a:bodyPr/>
                    <a:lstStyle/>
                    <a:p>
                      <a:pPr algn="ctr"/>
                      <a:r>
                        <a:rPr lang="en-US" dirty="0"/>
                        <a:t>4</a:t>
                      </a:r>
                    </a:p>
                  </a:txBody>
                  <a:tcPr anchor="ctr">
                    <a:solidFill>
                      <a:srgbClr val="00B0F0"/>
                    </a:solidFill>
                  </a:tcPr>
                </a:tc>
                <a:tc>
                  <a:txBody>
                    <a:bodyPr/>
                    <a:lstStyle/>
                    <a:p>
                      <a:pPr algn="ctr"/>
                      <a:r>
                        <a:rPr lang="en-US" dirty="0"/>
                        <a:t>2</a:t>
                      </a:r>
                    </a:p>
                  </a:txBody>
                  <a:tcPr anchor="ctr">
                    <a:noFill/>
                  </a:tcPr>
                </a:tc>
                <a:tc>
                  <a:txBody>
                    <a:bodyPr/>
                    <a:lstStyle/>
                    <a:p>
                      <a:pPr algn="ctr"/>
                      <a:r>
                        <a:rPr lang="en-US" dirty="0"/>
                        <a:t>1</a:t>
                      </a:r>
                    </a:p>
                  </a:txBody>
                  <a:tcPr anchor="ctr">
                    <a:noFill/>
                  </a:tcPr>
                </a:tc>
                <a:extLst>
                  <a:ext uri="{0D108BD9-81ED-4DB2-BD59-A6C34878D82A}">
                    <a16:rowId xmlns:a16="http://schemas.microsoft.com/office/drawing/2014/main" val="10000"/>
                  </a:ext>
                </a:extLst>
              </a:tr>
              <a:tr h="410788">
                <a:tc>
                  <a:txBody>
                    <a:bodyPr/>
                    <a:lstStyle/>
                    <a:p>
                      <a:pPr algn="ctr"/>
                      <a:r>
                        <a:rPr lang="en-US" dirty="0"/>
                        <a:t>5</a:t>
                      </a:r>
                    </a:p>
                  </a:txBody>
                  <a:tcPr anchor="ctr">
                    <a:solidFill>
                      <a:srgbClr val="00B0F0"/>
                    </a:solidFill>
                  </a:tcPr>
                </a:tc>
                <a:tc>
                  <a:txBody>
                    <a:bodyPr/>
                    <a:lstStyle/>
                    <a:p>
                      <a:pPr algn="ctr"/>
                      <a:r>
                        <a:rPr lang="en-US" dirty="0"/>
                        <a:t>8</a:t>
                      </a:r>
                    </a:p>
                  </a:txBody>
                  <a:tcPr anchor="ctr">
                    <a:solidFill>
                      <a:srgbClr val="00B0F0"/>
                    </a:solidFill>
                  </a:tcPr>
                </a:tc>
                <a:tc>
                  <a:txBody>
                    <a:bodyPr/>
                    <a:lstStyle/>
                    <a:p>
                      <a:pPr algn="ctr"/>
                      <a:r>
                        <a:rPr lang="en-US" dirty="0"/>
                        <a:t>3</a:t>
                      </a:r>
                    </a:p>
                  </a:txBody>
                  <a:tcPr anchor="ctr">
                    <a:noFill/>
                  </a:tcPr>
                </a:tc>
                <a:tc>
                  <a:txBody>
                    <a:bodyPr/>
                    <a:lstStyle/>
                    <a:p>
                      <a:pPr algn="ctr"/>
                      <a:r>
                        <a:rPr lang="en-US" dirty="0"/>
                        <a:t>4</a:t>
                      </a:r>
                    </a:p>
                  </a:txBody>
                  <a:tcPr anchor="ctr">
                    <a:noFill/>
                  </a:tcPr>
                </a:tc>
                <a:extLst>
                  <a:ext uri="{0D108BD9-81ED-4DB2-BD59-A6C34878D82A}">
                    <a16:rowId xmlns:a16="http://schemas.microsoft.com/office/drawing/2014/main" val="10001"/>
                  </a:ext>
                </a:extLst>
              </a:tr>
              <a:tr h="410788">
                <a:tc>
                  <a:txBody>
                    <a:bodyPr/>
                    <a:lstStyle/>
                    <a:p>
                      <a:pPr algn="ctr"/>
                      <a:r>
                        <a:rPr lang="en-US" dirty="0"/>
                        <a:t>7</a:t>
                      </a:r>
                    </a:p>
                  </a:txBody>
                  <a:tcPr anchor="ctr">
                    <a:noFill/>
                  </a:tcPr>
                </a:tc>
                <a:tc>
                  <a:txBody>
                    <a:bodyPr/>
                    <a:lstStyle/>
                    <a:p>
                      <a:pPr algn="ctr"/>
                      <a:r>
                        <a:rPr lang="en-US" dirty="0"/>
                        <a:t>6</a:t>
                      </a:r>
                    </a:p>
                  </a:txBody>
                  <a:tcPr anchor="ctr">
                    <a:noFill/>
                  </a:tcPr>
                </a:tc>
                <a:tc>
                  <a:txBody>
                    <a:bodyPr/>
                    <a:lstStyle/>
                    <a:p>
                      <a:pPr algn="ctr"/>
                      <a:r>
                        <a:rPr lang="en-US" dirty="0"/>
                        <a:t>4</a:t>
                      </a:r>
                    </a:p>
                  </a:txBody>
                  <a:tcPr anchor="ctr">
                    <a:noFill/>
                  </a:tcPr>
                </a:tc>
                <a:tc>
                  <a:txBody>
                    <a:bodyPr/>
                    <a:lstStyle/>
                    <a:p>
                      <a:pPr algn="ctr"/>
                      <a:r>
                        <a:rPr lang="en-US" dirty="0"/>
                        <a:t>5</a:t>
                      </a:r>
                    </a:p>
                  </a:txBody>
                  <a:tcPr anchor="ctr">
                    <a:noFill/>
                  </a:tcPr>
                </a:tc>
                <a:extLst>
                  <a:ext uri="{0D108BD9-81ED-4DB2-BD59-A6C34878D82A}">
                    <a16:rowId xmlns:a16="http://schemas.microsoft.com/office/drawing/2014/main" val="10002"/>
                  </a:ext>
                </a:extLst>
              </a:tr>
              <a:tr h="410788">
                <a:tc>
                  <a:txBody>
                    <a:bodyPr/>
                    <a:lstStyle/>
                    <a:p>
                      <a:pPr algn="ctr"/>
                      <a:r>
                        <a:rPr lang="en-US" dirty="0"/>
                        <a:t>1</a:t>
                      </a:r>
                    </a:p>
                  </a:txBody>
                  <a:tcPr anchor="ctr">
                    <a:noFill/>
                  </a:tcPr>
                </a:tc>
                <a:tc>
                  <a:txBody>
                    <a:bodyPr/>
                    <a:lstStyle/>
                    <a:p>
                      <a:pPr algn="ctr"/>
                      <a:r>
                        <a:rPr lang="en-US" dirty="0"/>
                        <a:t>3</a:t>
                      </a:r>
                    </a:p>
                  </a:txBody>
                  <a:tcPr anchor="ctr">
                    <a:noFill/>
                  </a:tcPr>
                </a:tc>
                <a:tc>
                  <a:txBody>
                    <a:bodyPr/>
                    <a:lstStyle/>
                    <a:p>
                      <a:pPr algn="ctr"/>
                      <a:r>
                        <a:rPr lang="en-US" dirty="0"/>
                        <a:t>1</a:t>
                      </a:r>
                    </a:p>
                  </a:txBody>
                  <a:tcPr anchor="ctr">
                    <a:noFill/>
                  </a:tcPr>
                </a:tc>
                <a:tc>
                  <a:txBody>
                    <a:bodyPr/>
                    <a:lstStyle/>
                    <a:p>
                      <a:pPr algn="ctr"/>
                      <a:r>
                        <a:rPr lang="en-US" dirty="0"/>
                        <a:t>2</a:t>
                      </a:r>
                    </a:p>
                  </a:txBody>
                  <a:tcPr anchor="ctr">
                    <a:noFill/>
                  </a:tcPr>
                </a:tc>
                <a:extLst>
                  <a:ext uri="{0D108BD9-81ED-4DB2-BD59-A6C34878D82A}">
                    <a16:rowId xmlns:a16="http://schemas.microsoft.com/office/drawing/2014/main" val="10003"/>
                  </a:ext>
                </a:extLst>
              </a:tr>
            </a:tbl>
          </a:graphicData>
        </a:graphic>
      </p:graphicFrame>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075" y="1648960"/>
            <a:ext cx="3409950" cy="2486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8" name="Content Placeholder 4"/>
          <p:cNvGraphicFramePr>
            <a:graphicFrameLocks/>
          </p:cNvGraphicFramePr>
          <p:nvPr>
            <p:extLst>
              <p:ext uri="{D42A27DB-BD31-4B8C-83A1-F6EECF244321}">
                <p14:modId xmlns:p14="http://schemas.microsoft.com/office/powerpoint/2010/main" val="1695983878"/>
              </p:ext>
            </p:extLst>
          </p:nvPr>
        </p:nvGraphicFramePr>
        <p:xfrm>
          <a:off x="8015514" y="2317139"/>
          <a:ext cx="1201056" cy="1232364"/>
        </p:xfrm>
        <a:graphic>
          <a:graphicData uri="http://schemas.openxmlformats.org/drawingml/2006/table">
            <a:tbl>
              <a:tblPr firstRow="1" bandRow="1">
                <a:tableStyleId>{5940675A-B579-460E-94D1-54222C63F5DA}</a:tableStyleId>
              </a:tblPr>
              <a:tblGrid>
                <a:gridCol w="400352">
                  <a:extLst>
                    <a:ext uri="{9D8B030D-6E8A-4147-A177-3AD203B41FA5}">
                      <a16:colId xmlns:a16="http://schemas.microsoft.com/office/drawing/2014/main" val="20000"/>
                    </a:ext>
                  </a:extLst>
                </a:gridCol>
                <a:gridCol w="400352">
                  <a:extLst>
                    <a:ext uri="{9D8B030D-6E8A-4147-A177-3AD203B41FA5}">
                      <a16:colId xmlns:a16="http://schemas.microsoft.com/office/drawing/2014/main" val="20001"/>
                    </a:ext>
                  </a:extLst>
                </a:gridCol>
                <a:gridCol w="400352">
                  <a:extLst>
                    <a:ext uri="{9D8B030D-6E8A-4147-A177-3AD203B41FA5}">
                      <a16:colId xmlns:a16="http://schemas.microsoft.com/office/drawing/2014/main" val="20002"/>
                    </a:ext>
                  </a:extLst>
                </a:gridCol>
              </a:tblGrid>
              <a:tr h="410788">
                <a:tc>
                  <a:txBody>
                    <a:bodyPr/>
                    <a:lstStyle/>
                    <a:p>
                      <a:pPr algn="ctr"/>
                      <a:r>
                        <a:rPr lang="en-US" dirty="0"/>
                        <a:t>8</a:t>
                      </a:r>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000"/>
                  </a:ext>
                </a:extLst>
              </a:tr>
              <a:tr h="410788">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001"/>
                  </a:ext>
                </a:extLst>
              </a:tr>
              <a:tr h="410788">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002"/>
                  </a:ext>
                </a:extLst>
              </a:tr>
            </a:tbl>
          </a:graphicData>
        </a:graphic>
      </p:graphicFrame>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4763" y="2428875"/>
            <a:ext cx="1514475" cy="666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1009353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48666"/>
          </a:xfrm>
        </p:spPr>
        <p:txBody>
          <a:bodyPr>
            <a:normAutofit fontScale="90000"/>
          </a:bodyPr>
          <a:lstStyle/>
          <a:p>
            <a:pPr algn="ctr"/>
            <a:r>
              <a:rPr lang="en-US" dirty="0"/>
              <a:t>Pooling layer</a:t>
            </a:r>
          </a:p>
        </p:txBody>
      </p:sp>
      <p:graphicFrame>
        <p:nvGraphicFramePr>
          <p:cNvPr id="5" name="Content Placeholder 4"/>
          <p:cNvGraphicFramePr>
            <a:graphicFrameLocks noGrp="1"/>
          </p:cNvGraphicFramePr>
          <p:nvPr>
            <p:ph sz="half" idx="1"/>
            <p:extLst>
              <p:ext uri="{D42A27DB-BD31-4B8C-83A1-F6EECF244321}">
                <p14:modId xmlns:p14="http://schemas.microsoft.com/office/powerpoint/2010/main" val="1161133591"/>
              </p:ext>
            </p:extLst>
          </p:nvPr>
        </p:nvGraphicFramePr>
        <p:xfrm>
          <a:off x="4713514" y="1941877"/>
          <a:ext cx="1614716" cy="1643152"/>
        </p:xfrm>
        <a:graphic>
          <a:graphicData uri="http://schemas.openxmlformats.org/drawingml/2006/table">
            <a:tbl>
              <a:tblPr firstRow="1" bandRow="1">
                <a:tableStyleId>{5940675A-B579-460E-94D1-54222C63F5DA}</a:tableStyleId>
              </a:tblPr>
              <a:tblGrid>
                <a:gridCol w="403679">
                  <a:extLst>
                    <a:ext uri="{9D8B030D-6E8A-4147-A177-3AD203B41FA5}">
                      <a16:colId xmlns:a16="http://schemas.microsoft.com/office/drawing/2014/main" val="20000"/>
                    </a:ext>
                  </a:extLst>
                </a:gridCol>
                <a:gridCol w="403679">
                  <a:extLst>
                    <a:ext uri="{9D8B030D-6E8A-4147-A177-3AD203B41FA5}">
                      <a16:colId xmlns:a16="http://schemas.microsoft.com/office/drawing/2014/main" val="20001"/>
                    </a:ext>
                  </a:extLst>
                </a:gridCol>
                <a:gridCol w="403679">
                  <a:extLst>
                    <a:ext uri="{9D8B030D-6E8A-4147-A177-3AD203B41FA5}">
                      <a16:colId xmlns:a16="http://schemas.microsoft.com/office/drawing/2014/main" val="20002"/>
                    </a:ext>
                  </a:extLst>
                </a:gridCol>
                <a:gridCol w="403679">
                  <a:extLst>
                    <a:ext uri="{9D8B030D-6E8A-4147-A177-3AD203B41FA5}">
                      <a16:colId xmlns:a16="http://schemas.microsoft.com/office/drawing/2014/main" val="20003"/>
                    </a:ext>
                  </a:extLst>
                </a:gridCol>
              </a:tblGrid>
              <a:tr h="410788">
                <a:tc>
                  <a:txBody>
                    <a:bodyPr/>
                    <a:lstStyle/>
                    <a:p>
                      <a:pPr algn="ctr"/>
                      <a:r>
                        <a:rPr lang="en-US" dirty="0"/>
                        <a:t>1</a:t>
                      </a:r>
                    </a:p>
                  </a:txBody>
                  <a:tcPr anchor="ctr">
                    <a:noFill/>
                  </a:tcPr>
                </a:tc>
                <a:tc>
                  <a:txBody>
                    <a:bodyPr/>
                    <a:lstStyle/>
                    <a:p>
                      <a:pPr algn="ctr"/>
                      <a:r>
                        <a:rPr lang="en-US" dirty="0"/>
                        <a:t>4</a:t>
                      </a:r>
                    </a:p>
                  </a:txBody>
                  <a:tcPr anchor="ctr">
                    <a:solidFill>
                      <a:srgbClr val="00B0F0"/>
                    </a:solidFill>
                  </a:tcPr>
                </a:tc>
                <a:tc>
                  <a:txBody>
                    <a:bodyPr/>
                    <a:lstStyle/>
                    <a:p>
                      <a:pPr algn="ctr"/>
                      <a:r>
                        <a:rPr lang="en-US" dirty="0"/>
                        <a:t>2</a:t>
                      </a:r>
                    </a:p>
                  </a:txBody>
                  <a:tcPr anchor="ctr">
                    <a:solidFill>
                      <a:srgbClr val="00B0F0"/>
                    </a:solidFill>
                  </a:tcPr>
                </a:tc>
                <a:tc>
                  <a:txBody>
                    <a:bodyPr/>
                    <a:lstStyle/>
                    <a:p>
                      <a:pPr algn="ctr"/>
                      <a:r>
                        <a:rPr lang="en-US" dirty="0"/>
                        <a:t>1</a:t>
                      </a:r>
                    </a:p>
                  </a:txBody>
                  <a:tcPr anchor="ctr">
                    <a:noFill/>
                  </a:tcPr>
                </a:tc>
                <a:extLst>
                  <a:ext uri="{0D108BD9-81ED-4DB2-BD59-A6C34878D82A}">
                    <a16:rowId xmlns:a16="http://schemas.microsoft.com/office/drawing/2014/main" val="10000"/>
                  </a:ext>
                </a:extLst>
              </a:tr>
              <a:tr h="410788">
                <a:tc>
                  <a:txBody>
                    <a:bodyPr/>
                    <a:lstStyle/>
                    <a:p>
                      <a:pPr algn="ctr"/>
                      <a:r>
                        <a:rPr lang="en-US" dirty="0"/>
                        <a:t>5</a:t>
                      </a:r>
                    </a:p>
                  </a:txBody>
                  <a:tcPr anchor="ctr">
                    <a:noFill/>
                  </a:tcPr>
                </a:tc>
                <a:tc>
                  <a:txBody>
                    <a:bodyPr/>
                    <a:lstStyle/>
                    <a:p>
                      <a:pPr algn="ctr"/>
                      <a:r>
                        <a:rPr lang="en-US" dirty="0"/>
                        <a:t>8</a:t>
                      </a:r>
                    </a:p>
                  </a:txBody>
                  <a:tcPr anchor="ctr">
                    <a:solidFill>
                      <a:srgbClr val="00B0F0"/>
                    </a:solidFill>
                  </a:tcPr>
                </a:tc>
                <a:tc>
                  <a:txBody>
                    <a:bodyPr/>
                    <a:lstStyle/>
                    <a:p>
                      <a:pPr algn="ctr"/>
                      <a:r>
                        <a:rPr lang="en-US" dirty="0"/>
                        <a:t>3</a:t>
                      </a:r>
                    </a:p>
                  </a:txBody>
                  <a:tcPr anchor="ctr">
                    <a:solidFill>
                      <a:srgbClr val="00B0F0"/>
                    </a:solidFill>
                  </a:tcPr>
                </a:tc>
                <a:tc>
                  <a:txBody>
                    <a:bodyPr/>
                    <a:lstStyle/>
                    <a:p>
                      <a:pPr algn="ctr"/>
                      <a:r>
                        <a:rPr lang="en-US" dirty="0"/>
                        <a:t>4</a:t>
                      </a:r>
                    </a:p>
                  </a:txBody>
                  <a:tcPr anchor="ctr">
                    <a:noFill/>
                  </a:tcPr>
                </a:tc>
                <a:extLst>
                  <a:ext uri="{0D108BD9-81ED-4DB2-BD59-A6C34878D82A}">
                    <a16:rowId xmlns:a16="http://schemas.microsoft.com/office/drawing/2014/main" val="10001"/>
                  </a:ext>
                </a:extLst>
              </a:tr>
              <a:tr h="410788">
                <a:tc>
                  <a:txBody>
                    <a:bodyPr/>
                    <a:lstStyle/>
                    <a:p>
                      <a:pPr algn="ctr"/>
                      <a:r>
                        <a:rPr lang="en-US" dirty="0"/>
                        <a:t>7</a:t>
                      </a:r>
                    </a:p>
                  </a:txBody>
                  <a:tcPr anchor="ctr">
                    <a:noFill/>
                  </a:tcPr>
                </a:tc>
                <a:tc>
                  <a:txBody>
                    <a:bodyPr/>
                    <a:lstStyle/>
                    <a:p>
                      <a:pPr algn="ctr"/>
                      <a:r>
                        <a:rPr lang="en-US" dirty="0"/>
                        <a:t>6</a:t>
                      </a:r>
                    </a:p>
                  </a:txBody>
                  <a:tcPr anchor="ctr">
                    <a:noFill/>
                  </a:tcPr>
                </a:tc>
                <a:tc>
                  <a:txBody>
                    <a:bodyPr/>
                    <a:lstStyle/>
                    <a:p>
                      <a:pPr algn="ctr"/>
                      <a:r>
                        <a:rPr lang="en-US" dirty="0"/>
                        <a:t>4</a:t>
                      </a:r>
                    </a:p>
                  </a:txBody>
                  <a:tcPr anchor="ctr">
                    <a:noFill/>
                  </a:tcPr>
                </a:tc>
                <a:tc>
                  <a:txBody>
                    <a:bodyPr/>
                    <a:lstStyle/>
                    <a:p>
                      <a:pPr algn="ctr"/>
                      <a:r>
                        <a:rPr lang="en-US" dirty="0"/>
                        <a:t>5</a:t>
                      </a:r>
                    </a:p>
                  </a:txBody>
                  <a:tcPr anchor="ctr">
                    <a:noFill/>
                  </a:tcPr>
                </a:tc>
                <a:extLst>
                  <a:ext uri="{0D108BD9-81ED-4DB2-BD59-A6C34878D82A}">
                    <a16:rowId xmlns:a16="http://schemas.microsoft.com/office/drawing/2014/main" val="10002"/>
                  </a:ext>
                </a:extLst>
              </a:tr>
              <a:tr h="410788">
                <a:tc>
                  <a:txBody>
                    <a:bodyPr/>
                    <a:lstStyle/>
                    <a:p>
                      <a:pPr algn="ctr"/>
                      <a:r>
                        <a:rPr lang="en-US" dirty="0"/>
                        <a:t>1</a:t>
                      </a:r>
                    </a:p>
                  </a:txBody>
                  <a:tcPr anchor="ctr">
                    <a:noFill/>
                  </a:tcPr>
                </a:tc>
                <a:tc>
                  <a:txBody>
                    <a:bodyPr/>
                    <a:lstStyle/>
                    <a:p>
                      <a:pPr algn="ctr"/>
                      <a:r>
                        <a:rPr lang="en-US" dirty="0"/>
                        <a:t>3</a:t>
                      </a:r>
                    </a:p>
                  </a:txBody>
                  <a:tcPr anchor="ctr">
                    <a:noFill/>
                  </a:tcPr>
                </a:tc>
                <a:tc>
                  <a:txBody>
                    <a:bodyPr/>
                    <a:lstStyle/>
                    <a:p>
                      <a:pPr algn="ctr"/>
                      <a:r>
                        <a:rPr lang="en-US" dirty="0"/>
                        <a:t>1</a:t>
                      </a:r>
                    </a:p>
                  </a:txBody>
                  <a:tcPr anchor="ctr">
                    <a:noFill/>
                  </a:tcPr>
                </a:tc>
                <a:tc>
                  <a:txBody>
                    <a:bodyPr/>
                    <a:lstStyle/>
                    <a:p>
                      <a:pPr algn="ctr"/>
                      <a:r>
                        <a:rPr lang="en-US" dirty="0"/>
                        <a:t>2</a:t>
                      </a:r>
                    </a:p>
                  </a:txBody>
                  <a:tcPr anchor="ctr">
                    <a:noFill/>
                  </a:tcPr>
                </a:tc>
                <a:extLst>
                  <a:ext uri="{0D108BD9-81ED-4DB2-BD59-A6C34878D82A}">
                    <a16:rowId xmlns:a16="http://schemas.microsoft.com/office/drawing/2014/main" val="10003"/>
                  </a:ext>
                </a:extLst>
              </a:tr>
            </a:tbl>
          </a:graphicData>
        </a:graphic>
      </p:graphicFrame>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075" y="1648960"/>
            <a:ext cx="3409950" cy="2486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8" name="Content Placeholder 4"/>
          <p:cNvGraphicFramePr>
            <a:graphicFrameLocks/>
          </p:cNvGraphicFramePr>
          <p:nvPr>
            <p:extLst>
              <p:ext uri="{D42A27DB-BD31-4B8C-83A1-F6EECF244321}">
                <p14:modId xmlns:p14="http://schemas.microsoft.com/office/powerpoint/2010/main" val="1782648906"/>
              </p:ext>
            </p:extLst>
          </p:nvPr>
        </p:nvGraphicFramePr>
        <p:xfrm>
          <a:off x="8015514" y="2317139"/>
          <a:ext cx="1201056" cy="1232364"/>
        </p:xfrm>
        <a:graphic>
          <a:graphicData uri="http://schemas.openxmlformats.org/drawingml/2006/table">
            <a:tbl>
              <a:tblPr firstRow="1" bandRow="1">
                <a:tableStyleId>{5940675A-B579-460E-94D1-54222C63F5DA}</a:tableStyleId>
              </a:tblPr>
              <a:tblGrid>
                <a:gridCol w="400352">
                  <a:extLst>
                    <a:ext uri="{9D8B030D-6E8A-4147-A177-3AD203B41FA5}">
                      <a16:colId xmlns:a16="http://schemas.microsoft.com/office/drawing/2014/main" val="20000"/>
                    </a:ext>
                  </a:extLst>
                </a:gridCol>
                <a:gridCol w="400352">
                  <a:extLst>
                    <a:ext uri="{9D8B030D-6E8A-4147-A177-3AD203B41FA5}">
                      <a16:colId xmlns:a16="http://schemas.microsoft.com/office/drawing/2014/main" val="20001"/>
                    </a:ext>
                  </a:extLst>
                </a:gridCol>
                <a:gridCol w="400352">
                  <a:extLst>
                    <a:ext uri="{9D8B030D-6E8A-4147-A177-3AD203B41FA5}">
                      <a16:colId xmlns:a16="http://schemas.microsoft.com/office/drawing/2014/main" val="20002"/>
                    </a:ext>
                  </a:extLst>
                </a:gridCol>
              </a:tblGrid>
              <a:tr h="410788">
                <a:tc>
                  <a:txBody>
                    <a:bodyPr/>
                    <a:lstStyle/>
                    <a:p>
                      <a:pPr algn="ctr"/>
                      <a:r>
                        <a:rPr lang="en-US" dirty="0"/>
                        <a:t>8</a:t>
                      </a:r>
                    </a:p>
                  </a:txBody>
                  <a:tcPr anchor="ctr"/>
                </a:tc>
                <a:tc>
                  <a:txBody>
                    <a:bodyPr/>
                    <a:lstStyle/>
                    <a:p>
                      <a:pPr algn="ctr"/>
                      <a:r>
                        <a:rPr lang="en-US" dirty="0"/>
                        <a:t>8</a:t>
                      </a:r>
                    </a:p>
                  </a:txBody>
                  <a:tcPr anchor="ctr"/>
                </a:tc>
                <a:tc>
                  <a:txBody>
                    <a:bodyPr/>
                    <a:lstStyle/>
                    <a:p>
                      <a:pPr algn="ctr"/>
                      <a:endParaRPr lang="en-US" dirty="0"/>
                    </a:p>
                  </a:txBody>
                  <a:tcPr anchor="ctr"/>
                </a:tc>
                <a:extLst>
                  <a:ext uri="{0D108BD9-81ED-4DB2-BD59-A6C34878D82A}">
                    <a16:rowId xmlns:a16="http://schemas.microsoft.com/office/drawing/2014/main" val="10000"/>
                  </a:ext>
                </a:extLst>
              </a:tr>
              <a:tr h="410788">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001"/>
                  </a:ext>
                </a:extLst>
              </a:tr>
              <a:tr h="410788">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002"/>
                  </a:ext>
                </a:extLst>
              </a:tr>
            </a:tbl>
          </a:graphicData>
        </a:graphic>
      </p:graphicFrame>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4763" y="2428875"/>
            <a:ext cx="1514475" cy="666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6511070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8910"/>
          </a:xfrm>
        </p:spPr>
        <p:txBody>
          <a:bodyPr>
            <a:normAutofit fontScale="90000"/>
          </a:bodyPr>
          <a:lstStyle/>
          <a:p>
            <a:pPr algn="ctr"/>
            <a:r>
              <a:rPr lang="en-US" dirty="0"/>
              <a:t>Pooling layer</a:t>
            </a:r>
          </a:p>
        </p:txBody>
      </p:sp>
      <p:graphicFrame>
        <p:nvGraphicFramePr>
          <p:cNvPr id="5" name="Content Placeholder 4"/>
          <p:cNvGraphicFramePr>
            <a:graphicFrameLocks noGrp="1"/>
          </p:cNvGraphicFramePr>
          <p:nvPr>
            <p:ph sz="half" idx="1"/>
            <p:extLst>
              <p:ext uri="{D42A27DB-BD31-4B8C-83A1-F6EECF244321}">
                <p14:modId xmlns:p14="http://schemas.microsoft.com/office/powerpoint/2010/main" val="587194165"/>
              </p:ext>
            </p:extLst>
          </p:nvPr>
        </p:nvGraphicFramePr>
        <p:xfrm>
          <a:off x="4713514" y="1941877"/>
          <a:ext cx="1614716" cy="1643152"/>
        </p:xfrm>
        <a:graphic>
          <a:graphicData uri="http://schemas.openxmlformats.org/drawingml/2006/table">
            <a:tbl>
              <a:tblPr firstRow="1" bandRow="1">
                <a:tableStyleId>{5940675A-B579-460E-94D1-54222C63F5DA}</a:tableStyleId>
              </a:tblPr>
              <a:tblGrid>
                <a:gridCol w="403679">
                  <a:extLst>
                    <a:ext uri="{9D8B030D-6E8A-4147-A177-3AD203B41FA5}">
                      <a16:colId xmlns:a16="http://schemas.microsoft.com/office/drawing/2014/main" val="20000"/>
                    </a:ext>
                  </a:extLst>
                </a:gridCol>
                <a:gridCol w="403679">
                  <a:extLst>
                    <a:ext uri="{9D8B030D-6E8A-4147-A177-3AD203B41FA5}">
                      <a16:colId xmlns:a16="http://schemas.microsoft.com/office/drawing/2014/main" val="20001"/>
                    </a:ext>
                  </a:extLst>
                </a:gridCol>
                <a:gridCol w="403679">
                  <a:extLst>
                    <a:ext uri="{9D8B030D-6E8A-4147-A177-3AD203B41FA5}">
                      <a16:colId xmlns:a16="http://schemas.microsoft.com/office/drawing/2014/main" val="20002"/>
                    </a:ext>
                  </a:extLst>
                </a:gridCol>
                <a:gridCol w="403679">
                  <a:extLst>
                    <a:ext uri="{9D8B030D-6E8A-4147-A177-3AD203B41FA5}">
                      <a16:colId xmlns:a16="http://schemas.microsoft.com/office/drawing/2014/main" val="20003"/>
                    </a:ext>
                  </a:extLst>
                </a:gridCol>
              </a:tblGrid>
              <a:tr h="410788">
                <a:tc>
                  <a:txBody>
                    <a:bodyPr/>
                    <a:lstStyle/>
                    <a:p>
                      <a:pPr algn="ctr"/>
                      <a:r>
                        <a:rPr lang="en-US" dirty="0"/>
                        <a:t>1</a:t>
                      </a:r>
                    </a:p>
                  </a:txBody>
                  <a:tcPr anchor="ctr">
                    <a:noFill/>
                  </a:tcPr>
                </a:tc>
                <a:tc>
                  <a:txBody>
                    <a:bodyPr/>
                    <a:lstStyle/>
                    <a:p>
                      <a:pPr algn="ctr"/>
                      <a:r>
                        <a:rPr lang="en-US" dirty="0"/>
                        <a:t>4</a:t>
                      </a:r>
                    </a:p>
                  </a:txBody>
                  <a:tcPr anchor="ctr">
                    <a:noFill/>
                  </a:tcPr>
                </a:tc>
                <a:tc>
                  <a:txBody>
                    <a:bodyPr/>
                    <a:lstStyle/>
                    <a:p>
                      <a:pPr algn="ctr"/>
                      <a:r>
                        <a:rPr lang="en-US" dirty="0"/>
                        <a:t>2</a:t>
                      </a:r>
                    </a:p>
                  </a:txBody>
                  <a:tcPr anchor="ctr">
                    <a:solidFill>
                      <a:srgbClr val="00B0F0"/>
                    </a:solidFill>
                  </a:tcPr>
                </a:tc>
                <a:tc>
                  <a:txBody>
                    <a:bodyPr/>
                    <a:lstStyle/>
                    <a:p>
                      <a:pPr algn="ctr"/>
                      <a:r>
                        <a:rPr lang="en-US" dirty="0"/>
                        <a:t>1</a:t>
                      </a:r>
                    </a:p>
                  </a:txBody>
                  <a:tcPr anchor="ctr">
                    <a:solidFill>
                      <a:srgbClr val="00B0F0"/>
                    </a:solidFill>
                  </a:tcPr>
                </a:tc>
                <a:extLst>
                  <a:ext uri="{0D108BD9-81ED-4DB2-BD59-A6C34878D82A}">
                    <a16:rowId xmlns:a16="http://schemas.microsoft.com/office/drawing/2014/main" val="10000"/>
                  </a:ext>
                </a:extLst>
              </a:tr>
              <a:tr h="410788">
                <a:tc>
                  <a:txBody>
                    <a:bodyPr/>
                    <a:lstStyle/>
                    <a:p>
                      <a:pPr algn="ctr"/>
                      <a:r>
                        <a:rPr lang="en-US" dirty="0"/>
                        <a:t>5</a:t>
                      </a:r>
                    </a:p>
                  </a:txBody>
                  <a:tcPr anchor="ctr">
                    <a:noFill/>
                  </a:tcPr>
                </a:tc>
                <a:tc>
                  <a:txBody>
                    <a:bodyPr/>
                    <a:lstStyle/>
                    <a:p>
                      <a:pPr algn="ctr"/>
                      <a:r>
                        <a:rPr lang="en-US" dirty="0"/>
                        <a:t>8</a:t>
                      </a:r>
                    </a:p>
                  </a:txBody>
                  <a:tcPr anchor="ctr">
                    <a:noFill/>
                  </a:tcPr>
                </a:tc>
                <a:tc>
                  <a:txBody>
                    <a:bodyPr/>
                    <a:lstStyle/>
                    <a:p>
                      <a:pPr algn="ctr"/>
                      <a:r>
                        <a:rPr lang="en-US" dirty="0"/>
                        <a:t>3</a:t>
                      </a:r>
                    </a:p>
                  </a:txBody>
                  <a:tcPr anchor="ctr">
                    <a:solidFill>
                      <a:srgbClr val="00B0F0"/>
                    </a:solidFill>
                  </a:tcPr>
                </a:tc>
                <a:tc>
                  <a:txBody>
                    <a:bodyPr/>
                    <a:lstStyle/>
                    <a:p>
                      <a:pPr algn="ctr"/>
                      <a:r>
                        <a:rPr lang="en-US" dirty="0"/>
                        <a:t>4</a:t>
                      </a:r>
                    </a:p>
                  </a:txBody>
                  <a:tcPr anchor="ctr">
                    <a:solidFill>
                      <a:srgbClr val="00B0F0"/>
                    </a:solidFill>
                  </a:tcPr>
                </a:tc>
                <a:extLst>
                  <a:ext uri="{0D108BD9-81ED-4DB2-BD59-A6C34878D82A}">
                    <a16:rowId xmlns:a16="http://schemas.microsoft.com/office/drawing/2014/main" val="10001"/>
                  </a:ext>
                </a:extLst>
              </a:tr>
              <a:tr h="410788">
                <a:tc>
                  <a:txBody>
                    <a:bodyPr/>
                    <a:lstStyle/>
                    <a:p>
                      <a:pPr algn="ctr"/>
                      <a:r>
                        <a:rPr lang="en-US" dirty="0"/>
                        <a:t>7</a:t>
                      </a:r>
                    </a:p>
                  </a:txBody>
                  <a:tcPr anchor="ctr">
                    <a:noFill/>
                  </a:tcPr>
                </a:tc>
                <a:tc>
                  <a:txBody>
                    <a:bodyPr/>
                    <a:lstStyle/>
                    <a:p>
                      <a:pPr algn="ctr"/>
                      <a:r>
                        <a:rPr lang="en-US" dirty="0"/>
                        <a:t>6</a:t>
                      </a:r>
                    </a:p>
                  </a:txBody>
                  <a:tcPr anchor="ctr">
                    <a:noFill/>
                  </a:tcPr>
                </a:tc>
                <a:tc>
                  <a:txBody>
                    <a:bodyPr/>
                    <a:lstStyle/>
                    <a:p>
                      <a:pPr algn="ctr"/>
                      <a:r>
                        <a:rPr lang="en-US" dirty="0"/>
                        <a:t>4</a:t>
                      </a:r>
                    </a:p>
                  </a:txBody>
                  <a:tcPr anchor="ctr">
                    <a:noFill/>
                  </a:tcPr>
                </a:tc>
                <a:tc>
                  <a:txBody>
                    <a:bodyPr/>
                    <a:lstStyle/>
                    <a:p>
                      <a:pPr algn="ctr"/>
                      <a:r>
                        <a:rPr lang="en-US" dirty="0"/>
                        <a:t>5</a:t>
                      </a:r>
                    </a:p>
                  </a:txBody>
                  <a:tcPr anchor="ctr">
                    <a:noFill/>
                  </a:tcPr>
                </a:tc>
                <a:extLst>
                  <a:ext uri="{0D108BD9-81ED-4DB2-BD59-A6C34878D82A}">
                    <a16:rowId xmlns:a16="http://schemas.microsoft.com/office/drawing/2014/main" val="10002"/>
                  </a:ext>
                </a:extLst>
              </a:tr>
              <a:tr h="410788">
                <a:tc>
                  <a:txBody>
                    <a:bodyPr/>
                    <a:lstStyle/>
                    <a:p>
                      <a:pPr algn="ctr"/>
                      <a:r>
                        <a:rPr lang="en-US" dirty="0"/>
                        <a:t>1</a:t>
                      </a:r>
                    </a:p>
                  </a:txBody>
                  <a:tcPr anchor="ctr">
                    <a:noFill/>
                  </a:tcPr>
                </a:tc>
                <a:tc>
                  <a:txBody>
                    <a:bodyPr/>
                    <a:lstStyle/>
                    <a:p>
                      <a:pPr algn="ctr"/>
                      <a:r>
                        <a:rPr lang="en-US" dirty="0"/>
                        <a:t>3</a:t>
                      </a:r>
                    </a:p>
                  </a:txBody>
                  <a:tcPr anchor="ctr">
                    <a:noFill/>
                  </a:tcPr>
                </a:tc>
                <a:tc>
                  <a:txBody>
                    <a:bodyPr/>
                    <a:lstStyle/>
                    <a:p>
                      <a:pPr algn="ctr"/>
                      <a:r>
                        <a:rPr lang="en-US" dirty="0"/>
                        <a:t>1</a:t>
                      </a:r>
                    </a:p>
                  </a:txBody>
                  <a:tcPr anchor="ctr">
                    <a:noFill/>
                  </a:tcPr>
                </a:tc>
                <a:tc>
                  <a:txBody>
                    <a:bodyPr/>
                    <a:lstStyle/>
                    <a:p>
                      <a:pPr algn="ctr"/>
                      <a:r>
                        <a:rPr lang="en-US" dirty="0"/>
                        <a:t>2</a:t>
                      </a:r>
                    </a:p>
                  </a:txBody>
                  <a:tcPr anchor="ctr">
                    <a:noFill/>
                  </a:tcPr>
                </a:tc>
                <a:extLst>
                  <a:ext uri="{0D108BD9-81ED-4DB2-BD59-A6C34878D82A}">
                    <a16:rowId xmlns:a16="http://schemas.microsoft.com/office/drawing/2014/main" val="10003"/>
                  </a:ext>
                </a:extLst>
              </a:tr>
            </a:tbl>
          </a:graphicData>
        </a:graphic>
      </p:graphicFrame>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075" y="1648960"/>
            <a:ext cx="3409950" cy="2486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8" name="Content Placeholder 4"/>
          <p:cNvGraphicFramePr>
            <a:graphicFrameLocks/>
          </p:cNvGraphicFramePr>
          <p:nvPr>
            <p:extLst>
              <p:ext uri="{D42A27DB-BD31-4B8C-83A1-F6EECF244321}">
                <p14:modId xmlns:p14="http://schemas.microsoft.com/office/powerpoint/2010/main" val="3496618636"/>
              </p:ext>
            </p:extLst>
          </p:nvPr>
        </p:nvGraphicFramePr>
        <p:xfrm>
          <a:off x="8015514" y="2317139"/>
          <a:ext cx="1201056" cy="1232364"/>
        </p:xfrm>
        <a:graphic>
          <a:graphicData uri="http://schemas.openxmlformats.org/drawingml/2006/table">
            <a:tbl>
              <a:tblPr firstRow="1" bandRow="1">
                <a:tableStyleId>{5940675A-B579-460E-94D1-54222C63F5DA}</a:tableStyleId>
              </a:tblPr>
              <a:tblGrid>
                <a:gridCol w="400352">
                  <a:extLst>
                    <a:ext uri="{9D8B030D-6E8A-4147-A177-3AD203B41FA5}">
                      <a16:colId xmlns:a16="http://schemas.microsoft.com/office/drawing/2014/main" val="20000"/>
                    </a:ext>
                  </a:extLst>
                </a:gridCol>
                <a:gridCol w="400352">
                  <a:extLst>
                    <a:ext uri="{9D8B030D-6E8A-4147-A177-3AD203B41FA5}">
                      <a16:colId xmlns:a16="http://schemas.microsoft.com/office/drawing/2014/main" val="20001"/>
                    </a:ext>
                  </a:extLst>
                </a:gridCol>
                <a:gridCol w="400352">
                  <a:extLst>
                    <a:ext uri="{9D8B030D-6E8A-4147-A177-3AD203B41FA5}">
                      <a16:colId xmlns:a16="http://schemas.microsoft.com/office/drawing/2014/main" val="20002"/>
                    </a:ext>
                  </a:extLst>
                </a:gridCol>
              </a:tblGrid>
              <a:tr h="410788">
                <a:tc>
                  <a:txBody>
                    <a:bodyPr/>
                    <a:lstStyle/>
                    <a:p>
                      <a:pPr algn="ctr"/>
                      <a:r>
                        <a:rPr lang="en-US" dirty="0"/>
                        <a:t>8</a:t>
                      </a:r>
                    </a:p>
                  </a:txBody>
                  <a:tcPr anchor="ctr"/>
                </a:tc>
                <a:tc>
                  <a:txBody>
                    <a:bodyPr/>
                    <a:lstStyle/>
                    <a:p>
                      <a:pPr algn="ctr"/>
                      <a:r>
                        <a:rPr lang="en-US" dirty="0"/>
                        <a:t>8</a:t>
                      </a:r>
                    </a:p>
                  </a:txBody>
                  <a:tcPr anchor="ctr"/>
                </a:tc>
                <a:tc>
                  <a:txBody>
                    <a:bodyPr/>
                    <a:lstStyle/>
                    <a:p>
                      <a:pPr algn="ctr"/>
                      <a:r>
                        <a:rPr lang="en-US" dirty="0"/>
                        <a:t>4</a:t>
                      </a:r>
                    </a:p>
                  </a:txBody>
                  <a:tcPr anchor="ctr"/>
                </a:tc>
                <a:extLst>
                  <a:ext uri="{0D108BD9-81ED-4DB2-BD59-A6C34878D82A}">
                    <a16:rowId xmlns:a16="http://schemas.microsoft.com/office/drawing/2014/main" val="10000"/>
                  </a:ext>
                </a:extLst>
              </a:tr>
              <a:tr h="410788">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001"/>
                  </a:ext>
                </a:extLst>
              </a:tr>
              <a:tr h="410788">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002"/>
                  </a:ext>
                </a:extLst>
              </a:tr>
            </a:tbl>
          </a:graphicData>
        </a:graphic>
      </p:graphicFrame>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4763" y="2428875"/>
            <a:ext cx="1514475" cy="666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375376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28179"/>
          </a:xfrm>
        </p:spPr>
        <p:txBody>
          <a:bodyPr/>
          <a:lstStyle/>
          <a:p>
            <a:pPr algn="ctr"/>
            <a:r>
              <a:rPr lang="en-US" dirty="0"/>
              <a:t>Pooling layer</a:t>
            </a:r>
          </a:p>
        </p:txBody>
      </p:sp>
      <p:graphicFrame>
        <p:nvGraphicFramePr>
          <p:cNvPr id="5" name="Content Placeholder 4"/>
          <p:cNvGraphicFramePr>
            <a:graphicFrameLocks noGrp="1"/>
          </p:cNvGraphicFramePr>
          <p:nvPr>
            <p:ph sz="half" idx="1"/>
            <p:extLst>
              <p:ext uri="{D42A27DB-BD31-4B8C-83A1-F6EECF244321}">
                <p14:modId xmlns:p14="http://schemas.microsoft.com/office/powerpoint/2010/main" val="2575748184"/>
              </p:ext>
            </p:extLst>
          </p:nvPr>
        </p:nvGraphicFramePr>
        <p:xfrm>
          <a:off x="4713514" y="1941877"/>
          <a:ext cx="1614716" cy="1643152"/>
        </p:xfrm>
        <a:graphic>
          <a:graphicData uri="http://schemas.openxmlformats.org/drawingml/2006/table">
            <a:tbl>
              <a:tblPr firstRow="1" bandRow="1">
                <a:tableStyleId>{5940675A-B579-460E-94D1-54222C63F5DA}</a:tableStyleId>
              </a:tblPr>
              <a:tblGrid>
                <a:gridCol w="403679">
                  <a:extLst>
                    <a:ext uri="{9D8B030D-6E8A-4147-A177-3AD203B41FA5}">
                      <a16:colId xmlns:a16="http://schemas.microsoft.com/office/drawing/2014/main" val="20000"/>
                    </a:ext>
                  </a:extLst>
                </a:gridCol>
                <a:gridCol w="403679">
                  <a:extLst>
                    <a:ext uri="{9D8B030D-6E8A-4147-A177-3AD203B41FA5}">
                      <a16:colId xmlns:a16="http://schemas.microsoft.com/office/drawing/2014/main" val="20001"/>
                    </a:ext>
                  </a:extLst>
                </a:gridCol>
                <a:gridCol w="403679">
                  <a:extLst>
                    <a:ext uri="{9D8B030D-6E8A-4147-A177-3AD203B41FA5}">
                      <a16:colId xmlns:a16="http://schemas.microsoft.com/office/drawing/2014/main" val="20002"/>
                    </a:ext>
                  </a:extLst>
                </a:gridCol>
                <a:gridCol w="403679">
                  <a:extLst>
                    <a:ext uri="{9D8B030D-6E8A-4147-A177-3AD203B41FA5}">
                      <a16:colId xmlns:a16="http://schemas.microsoft.com/office/drawing/2014/main" val="20003"/>
                    </a:ext>
                  </a:extLst>
                </a:gridCol>
              </a:tblGrid>
              <a:tr h="410788">
                <a:tc>
                  <a:txBody>
                    <a:bodyPr/>
                    <a:lstStyle/>
                    <a:p>
                      <a:pPr algn="ctr"/>
                      <a:r>
                        <a:rPr lang="en-US" dirty="0"/>
                        <a:t>1</a:t>
                      </a:r>
                    </a:p>
                  </a:txBody>
                  <a:tcPr anchor="ctr">
                    <a:noFill/>
                  </a:tcPr>
                </a:tc>
                <a:tc>
                  <a:txBody>
                    <a:bodyPr/>
                    <a:lstStyle/>
                    <a:p>
                      <a:pPr algn="ctr"/>
                      <a:r>
                        <a:rPr lang="en-US" dirty="0"/>
                        <a:t>4</a:t>
                      </a:r>
                    </a:p>
                  </a:txBody>
                  <a:tcPr anchor="ctr">
                    <a:noFill/>
                  </a:tcPr>
                </a:tc>
                <a:tc>
                  <a:txBody>
                    <a:bodyPr/>
                    <a:lstStyle/>
                    <a:p>
                      <a:pPr algn="ctr"/>
                      <a:r>
                        <a:rPr lang="en-US" dirty="0"/>
                        <a:t>2</a:t>
                      </a:r>
                    </a:p>
                  </a:txBody>
                  <a:tcPr anchor="ctr">
                    <a:noFill/>
                  </a:tcPr>
                </a:tc>
                <a:tc>
                  <a:txBody>
                    <a:bodyPr/>
                    <a:lstStyle/>
                    <a:p>
                      <a:pPr algn="ctr"/>
                      <a:r>
                        <a:rPr lang="en-US" dirty="0"/>
                        <a:t>1</a:t>
                      </a:r>
                    </a:p>
                  </a:txBody>
                  <a:tcPr anchor="ctr">
                    <a:noFill/>
                  </a:tcPr>
                </a:tc>
                <a:extLst>
                  <a:ext uri="{0D108BD9-81ED-4DB2-BD59-A6C34878D82A}">
                    <a16:rowId xmlns:a16="http://schemas.microsoft.com/office/drawing/2014/main" val="10000"/>
                  </a:ext>
                </a:extLst>
              </a:tr>
              <a:tr h="410788">
                <a:tc>
                  <a:txBody>
                    <a:bodyPr/>
                    <a:lstStyle/>
                    <a:p>
                      <a:pPr algn="ctr"/>
                      <a:r>
                        <a:rPr lang="en-US" dirty="0"/>
                        <a:t>5</a:t>
                      </a:r>
                    </a:p>
                  </a:txBody>
                  <a:tcPr anchor="ctr">
                    <a:noFill/>
                  </a:tcPr>
                </a:tc>
                <a:tc>
                  <a:txBody>
                    <a:bodyPr/>
                    <a:lstStyle/>
                    <a:p>
                      <a:pPr algn="ctr"/>
                      <a:r>
                        <a:rPr lang="en-US" dirty="0"/>
                        <a:t>8</a:t>
                      </a:r>
                    </a:p>
                  </a:txBody>
                  <a:tcPr anchor="ctr">
                    <a:noFill/>
                  </a:tcPr>
                </a:tc>
                <a:tc>
                  <a:txBody>
                    <a:bodyPr/>
                    <a:lstStyle/>
                    <a:p>
                      <a:pPr algn="ctr"/>
                      <a:r>
                        <a:rPr lang="en-US" dirty="0"/>
                        <a:t>3</a:t>
                      </a:r>
                    </a:p>
                  </a:txBody>
                  <a:tcPr anchor="ctr">
                    <a:noFill/>
                  </a:tcPr>
                </a:tc>
                <a:tc>
                  <a:txBody>
                    <a:bodyPr/>
                    <a:lstStyle/>
                    <a:p>
                      <a:pPr algn="ctr"/>
                      <a:r>
                        <a:rPr lang="en-US" dirty="0"/>
                        <a:t>4</a:t>
                      </a:r>
                    </a:p>
                  </a:txBody>
                  <a:tcPr anchor="ctr">
                    <a:noFill/>
                  </a:tcPr>
                </a:tc>
                <a:extLst>
                  <a:ext uri="{0D108BD9-81ED-4DB2-BD59-A6C34878D82A}">
                    <a16:rowId xmlns:a16="http://schemas.microsoft.com/office/drawing/2014/main" val="10001"/>
                  </a:ext>
                </a:extLst>
              </a:tr>
              <a:tr h="410788">
                <a:tc>
                  <a:txBody>
                    <a:bodyPr/>
                    <a:lstStyle/>
                    <a:p>
                      <a:pPr algn="ctr"/>
                      <a:r>
                        <a:rPr lang="en-US" dirty="0"/>
                        <a:t>7</a:t>
                      </a:r>
                    </a:p>
                  </a:txBody>
                  <a:tcPr anchor="ctr">
                    <a:noFill/>
                  </a:tcPr>
                </a:tc>
                <a:tc>
                  <a:txBody>
                    <a:bodyPr/>
                    <a:lstStyle/>
                    <a:p>
                      <a:pPr algn="ctr"/>
                      <a:r>
                        <a:rPr lang="en-US" dirty="0"/>
                        <a:t>6</a:t>
                      </a:r>
                    </a:p>
                  </a:txBody>
                  <a:tcPr anchor="ctr">
                    <a:noFill/>
                  </a:tcPr>
                </a:tc>
                <a:tc>
                  <a:txBody>
                    <a:bodyPr/>
                    <a:lstStyle/>
                    <a:p>
                      <a:pPr algn="ctr"/>
                      <a:r>
                        <a:rPr lang="en-US" dirty="0"/>
                        <a:t>4</a:t>
                      </a:r>
                    </a:p>
                  </a:txBody>
                  <a:tcPr anchor="ctr">
                    <a:solidFill>
                      <a:srgbClr val="00B0F0"/>
                    </a:solidFill>
                  </a:tcPr>
                </a:tc>
                <a:tc>
                  <a:txBody>
                    <a:bodyPr/>
                    <a:lstStyle/>
                    <a:p>
                      <a:pPr algn="ctr"/>
                      <a:r>
                        <a:rPr lang="en-US" dirty="0"/>
                        <a:t>5</a:t>
                      </a:r>
                    </a:p>
                  </a:txBody>
                  <a:tcPr anchor="ctr">
                    <a:solidFill>
                      <a:srgbClr val="00B0F0"/>
                    </a:solidFill>
                  </a:tcPr>
                </a:tc>
                <a:extLst>
                  <a:ext uri="{0D108BD9-81ED-4DB2-BD59-A6C34878D82A}">
                    <a16:rowId xmlns:a16="http://schemas.microsoft.com/office/drawing/2014/main" val="10002"/>
                  </a:ext>
                </a:extLst>
              </a:tr>
              <a:tr h="410788">
                <a:tc>
                  <a:txBody>
                    <a:bodyPr/>
                    <a:lstStyle/>
                    <a:p>
                      <a:pPr algn="ctr"/>
                      <a:r>
                        <a:rPr lang="en-US" dirty="0"/>
                        <a:t>1</a:t>
                      </a:r>
                    </a:p>
                  </a:txBody>
                  <a:tcPr anchor="ctr">
                    <a:noFill/>
                  </a:tcPr>
                </a:tc>
                <a:tc>
                  <a:txBody>
                    <a:bodyPr/>
                    <a:lstStyle/>
                    <a:p>
                      <a:pPr algn="ctr"/>
                      <a:r>
                        <a:rPr lang="en-US" dirty="0"/>
                        <a:t>3</a:t>
                      </a:r>
                    </a:p>
                  </a:txBody>
                  <a:tcPr anchor="ctr">
                    <a:noFill/>
                  </a:tcPr>
                </a:tc>
                <a:tc>
                  <a:txBody>
                    <a:bodyPr/>
                    <a:lstStyle/>
                    <a:p>
                      <a:pPr algn="ctr"/>
                      <a:r>
                        <a:rPr lang="en-US" dirty="0"/>
                        <a:t>1</a:t>
                      </a:r>
                    </a:p>
                  </a:txBody>
                  <a:tcPr anchor="ctr">
                    <a:solidFill>
                      <a:srgbClr val="00B0F0"/>
                    </a:solidFill>
                  </a:tcPr>
                </a:tc>
                <a:tc>
                  <a:txBody>
                    <a:bodyPr/>
                    <a:lstStyle/>
                    <a:p>
                      <a:pPr algn="ctr"/>
                      <a:r>
                        <a:rPr lang="en-US" dirty="0"/>
                        <a:t>2</a:t>
                      </a:r>
                    </a:p>
                  </a:txBody>
                  <a:tcPr anchor="ctr">
                    <a:solidFill>
                      <a:srgbClr val="00B0F0"/>
                    </a:solidFill>
                  </a:tcPr>
                </a:tc>
                <a:extLst>
                  <a:ext uri="{0D108BD9-81ED-4DB2-BD59-A6C34878D82A}">
                    <a16:rowId xmlns:a16="http://schemas.microsoft.com/office/drawing/2014/main" val="10003"/>
                  </a:ext>
                </a:extLst>
              </a:tr>
            </a:tbl>
          </a:graphicData>
        </a:graphic>
      </p:graphicFrame>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075" y="1648960"/>
            <a:ext cx="3409950" cy="2486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8" name="Content Placeholder 4"/>
          <p:cNvGraphicFramePr>
            <a:graphicFrameLocks/>
          </p:cNvGraphicFramePr>
          <p:nvPr>
            <p:extLst>
              <p:ext uri="{D42A27DB-BD31-4B8C-83A1-F6EECF244321}">
                <p14:modId xmlns:p14="http://schemas.microsoft.com/office/powerpoint/2010/main" val="30440284"/>
              </p:ext>
            </p:extLst>
          </p:nvPr>
        </p:nvGraphicFramePr>
        <p:xfrm>
          <a:off x="8015514" y="2317139"/>
          <a:ext cx="1201056" cy="1232364"/>
        </p:xfrm>
        <a:graphic>
          <a:graphicData uri="http://schemas.openxmlformats.org/drawingml/2006/table">
            <a:tbl>
              <a:tblPr firstRow="1" bandRow="1">
                <a:tableStyleId>{5940675A-B579-460E-94D1-54222C63F5DA}</a:tableStyleId>
              </a:tblPr>
              <a:tblGrid>
                <a:gridCol w="400352">
                  <a:extLst>
                    <a:ext uri="{9D8B030D-6E8A-4147-A177-3AD203B41FA5}">
                      <a16:colId xmlns:a16="http://schemas.microsoft.com/office/drawing/2014/main" val="20000"/>
                    </a:ext>
                  </a:extLst>
                </a:gridCol>
                <a:gridCol w="400352">
                  <a:extLst>
                    <a:ext uri="{9D8B030D-6E8A-4147-A177-3AD203B41FA5}">
                      <a16:colId xmlns:a16="http://schemas.microsoft.com/office/drawing/2014/main" val="20001"/>
                    </a:ext>
                  </a:extLst>
                </a:gridCol>
                <a:gridCol w="400352">
                  <a:extLst>
                    <a:ext uri="{9D8B030D-6E8A-4147-A177-3AD203B41FA5}">
                      <a16:colId xmlns:a16="http://schemas.microsoft.com/office/drawing/2014/main" val="20002"/>
                    </a:ext>
                  </a:extLst>
                </a:gridCol>
              </a:tblGrid>
              <a:tr h="410788">
                <a:tc>
                  <a:txBody>
                    <a:bodyPr/>
                    <a:lstStyle/>
                    <a:p>
                      <a:pPr algn="ctr"/>
                      <a:r>
                        <a:rPr lang="en-US" dirty="0"/>
                        <a:t>8</a:t>
                      </a:r>
                    </a:p>
                  </a:txBody>
                  <a:tcPr anchor="ctr"/>
                </a:tc>
                <a:tc>
                  <a:txBody>
                    <a:bodyPr/>
                    <a:lstStyle/>
                    <a:p>
                      <a:pPr algn="ctr"/>
                      <a:r>
                        <a:rPr lang="en-US" dirty="0"/>
                        <a:t>8</a:t>
                      </a:r>
                    </a:p>
                  </a:txBody>
                  <a:tcPr anchor="ctr"/>
                </a:tc>
                <a:tc>
                  <a:txBody>
                    <a:bodyPr/>
                    <a:lstStyle/>
                    <a:p>
                      <a:pPr algn="ctr"/>
                      <a:r>
                        <a:rPr lang="en-US" dirty="0"/>
                        <a:t>4</a:t>
                      </a:r>
                    </a:p>
                  </a:txBody>
                  <a:tcPr anchor="ctr"/>
                </a:tc>
                <a:extLst>
                  <a:ext uri="{0D108BD9-81ED-4DB2-BD59-A6C34878D82A}">
                    <a16:rowId xmlns:a16="http://schemas.microsoft.com/office/drawing/2014/main" val="10000"/>
                  </a:ext>
                </a:extLst>
              </a:tr>
              <a:tr h="410788">
                <a:tc>
                  <a:txBody>
                    <a:bodyPr/>
                    <a:lstStyle/>
                    <a:p>
                      <a:pPr algn="ctr"/>
                      <a:r>
                        <a:rPr lang="en-US" dirty="0"/>
                        <a:t>8</a:t>
                      </a:r>
                    </a:p>
                  </a:txBody>
                  <a:tcPr anchor="ctr"/>
                </a:tc>
                <a:tc>
                  <a:txBody>
                    <a:bodyPr/>
                    <a:lstStyle/>
                    <a:p>
                      <a:pPr algn="ctr"/>
                      <a:r>
                        <a:rPr lang="en-US" dirty="0"/>
                        <a:t>8</a:t>
                      </a:r>
                    </a:p>
                  </a:txBody>
                  <a:tcPr anchor="ctr"/>
                </a:tc>
                <a:tc>
                  <a:txBody>
                    <a:bodyPr/>
                    <a:lstStyle/>
                    <a:p>
                      <a:pPr algn="ctr"/>
                      <a:r>
                        <a:rPr lang="en-US" dirty="0"/>
                        <a:t>5</a:t>
                      </a:r>
                    </a:p>
                  </a:txBody>
                  <a:tcPr anchor="ctr"/>
                </a:tc>
                <a:extLst>
                  <a:ext uri="{0D108BD9-81ED-4DB2-BD59-A6C34878D82A}">
                    <a16:rowId xmlns:a16="http://schemas.microsoft.com/office/drawing/2014/main" val="10001"/>
                  </a:ext>
                </a:extLst>
              </a:tr>
              <a:tr h="410788">
                <a:tc>
                  <a:txBody>
                    <a:bodyPr/>
                    <a:lstStyle/>
                    <a:p>
                      <a:pPr algn="ctr"/>
                      <a:r>
                        <a:rPr lang="en-US" dirty="0"/>
                        <a:t>7</a:t>
                      </a:r>
                    </a:p>
                  </a:txBody>
                  <a:tcPr anchor="ctr"/>
                </a:tc>
                <a:tc>
                  <a:txBody>
                    <a:bodyPr/>
                    <a:lstStyle/>
                    <a:p>
                      <a:pPr algn="ctr"/>
                      <a:r>
                        <a:rPr lang="en-US" dirty="0"/>
                        <a:t>6</a:t>
                      </a:r>
                    </a:p>
                  </a:txBody>
                  <a:tcPr anchor="ctr"/>
                </a:tc>
                <a:tc>
                  <a:txBody>
                    <a:bodyPr/>
                    <a:lstStyle/>
                    <a:p>
                      <a:pPr algn="ctr"/>
                      <a:r>
                        <a:rPr lang="en-US" dirty="0"/>
                        <a:t>5</a:t>
                      </a:r>
                    </a:p>
                  </a:txBody>
                  <a:tcPr anchor="ctr"/>
                </a:tc>
                <a:extLst>
                  <a:ext uri="{0D108BD9-81ED-4DB2-BD59-A6C34878D82A}">
                    <a16:rowId xmlns:a16="http://schemas.microsoft.com/office/drawing/2014/main" val="10002"/>
                  </a:ext>
                </a:extLst>
              </a:tr>
            </a:tbl>
          </a:graphicData>
        </a:graphic>
      </p:graphicFrame>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4763" y="2428875"/>
            <a:ext cx="1514475" cy="666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2911792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88423"/>
          </a:xfrm>
        </p:spPr>
        <p:txBody>
          <a:bodyPr>
            <a:normAutofit fontScale="90000"/>
          </a:bodyPr>
          <a:lstStyle/>
          <a:p>
            <a:pPr algn="ctr"/>
            <a:r>
              <a:rPr lang="en-IN" dirty="0"/>
              <a:t>Flatten</a:t>
            </a:r>
            <a:endParaRPr lang="en-US" dirty="0"/>
          </a:p>
        </p:txBody>
      </p:sp>
      <p:sp>
        <p:nvSpPr>
          <p:cNvPr id="3" name="Content Placeholder 2"/>
          <p:cNvSpPr>
            <a:spLocks noGrp="1"/>
          </p:cNvSpPr>
          <p:nvPr>
            <p:ph sz="half" idx="1"/>
          </p:nvPr>
        </p:nvSpPr>
        <p:spPr>
          <a:xfrm>
            <a:off x="868018" y="1600200"/>
            <a:ext cx="5181600" cy="3578087"/>
          </a:xfrm>
        </p:spPr>
        <p:txBody>
          <a:bodyPr/>
          <a:lstStyle/>
          <a:p>
            <a:r>
              <a:rPr lang="en-US" dirty="0"/>
              <a:t>Flattening is used to convert all the resultant 2-Dimensional arrays from pooled feature maps into a single long continuous linear vector. </a:t>
            </a:r>
          </a:p>
          <a:p>
            <a:r>
              <a:rPr lang="en-US" dirty="0"/>
              <a:t>The flattened matrix is fed as input to the fully connected layer to classify the image.</a:t>
            </a:r>
          </a:p>
        </p:txBody>
      </p:sp>
      <p:pic>
        <p:nvPicPr>
          <p:cNvPr id="1026" name="Picture 2"/>
          <p:cNvPicPr>
            <a:picLocks noChangeAspect="1" noChangeArrowheads="1"/>
          </p:cNvPicPr>
          <p:nvPr/>
        </p:nvPicPr>
        <p:blipFill>
          <a:blip r:embed="rId2"/>
          <a:srcRect/>
          <a:stretch>
            <a:fillRect/>
          </a:stretch>
        </p:blipFill>
        <p:spPr bwMode="auto">
          <a:xfrm>
            <a:off x="6336334" y="2003977"/>
            <a:ext cx="5267325" cy="3028950"/>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10043</TotalTime>
  <Words>5191</Words>
  <Application>Microsoft Office PowerPoint</Application>
  <PresentationFormat>Widescreen</PresentationFormat>
  <Paragraphs>783</Paragraphs>
  <Slides>107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107</vt:i4>
      </vt:variant>
    </vt:vector>
  </HeadingPairs>
  <TitlesOfParts>
    <vt:vector size="112" baseType="lpstr">
      <vt:lpstr>Arial</vt:lpstr>
      <vt:lpstr>Calibri</vt:lpstr>
      <vt:lpstr>Calibri Light</vt:lpstr>
      <vt:lpstr>Cambria Math</vt:lpstr>
      <vt:lpstr>Office Theme</vt:lpstr>
      <vt:lpstr>Convolution</vt:lpstr>
      <vt:lpstr>Convolution</vt:lpstr>
      <vt:lpstr>Key Aspects of Convolution</vt:lpstr>
      <vt:lpstr>Convolution</vt:lpstr>
      <vt:lpstr>Convolution</vt:lpstr>
      <vt:lpstr>Convolution</vt:lpstr>
      <vt:lpstr>Convolution</vt:lpstr>
      <vt:lpstr>Convolution</vt:lpstr>
      <vt:lpstr>Convolution</vt:lpstr>
      <vt:lpstr>Padding</vt:lpstr>
      <vt:lpstr>Padding</vt:lpstr>
      <vt:lpstr>When is Padding Required?</vt:lpstr>
      <vt:lpstr>Kernel / Filter</vt:lpstr>
      <vt:lpstr>Kernel / Filter</vt:lpstr>
      <vt:lpstr>Edge Detection Kernel </vt:lpstr>
      <vt:lpstr>Canny Edge Detector</vt:lpstr>
      <vt:lpstr>Canny Edge Detector</vt:lpstr>
      <vt:lpstr>Blurring Kernels</vt:lpstr>
      <vt:lpstr>Blurring Kernels: Gaussian Kernel</vt:lpstr>
      <vt:lpstr>Blurring Kernels: Average Kernel</vt:lpstr>
      <vt:lpstr>Blurring Kernels: Average Kernel</vt:lpstr>
      <vt:lpstr>Sharpening Kernel</vt:lpstr>
      <vt:lpstr>Sharpening Kernel</vt:lpstr>
      <vt:lpstr>Laplacian Kernel: </vt:lpstr>
      <vt:lpstr>Unsharp Mask Kernel</vt:lpstr>
      <vt:lpstr>Sharpening Kernels</vt:lpstr>
      <vt:lpstr>Type of Kernel</vt:lpstr>
      <vt:lpstr>Type of Kernel</vt:lpstr>
      <vt:lpstr>Convolution</vt:lpstr>
      <vt:lpstr>Convolution</vt:lpstr>
      <vt:lpstr>Convolution</vt:lpstr>
      <vt:lpstr>Convolution</vt:lpstr>
      <vt:lpstr>Convolution</vt:lpstr>
      <vt:lpstr>Convolution</vt:lpstr>
      <vt:lpstr>Convolution</vt:lpstr>
      <vt:lpstr>Convolution</vt:lpstr>
      <vt:lpstr>Convolution</vt:lpstr>
      <vt:lpstr>Convolution in 1-D</vt:lpstr>
      <vt:lpstr>Convolution</vt:lpstr>
      <vt:lpstr>Convolution</vt:lpstr>
      <vt:lpstr>Convolution</vt:lpstr>
      <vt:lpstr>Convolution</vt:lpstr>
      <vt:lpstr>Convolution on 3-D</vt:lpstr>
      <vt:lpstr>Convolution on 3-D</vt:lpstr>
      <vt:lpstr>Convolution on 3-D</vt:lpstr>
      <vt:lpstr>Convolution on 3-D</vt:lpstr>
      <vt:lpstr>Convolution on 3-D</vt:lpstr>
      <vt:lpstr>Convolution on 3-D</vt:lpstr>
      <vt:lpstr>Convolution on 3-D</vt:lpstr>
      <vt:lpstr>Convolution on 3-D</vt:lpstr>
      <vt:lpstr>Convolution on 3-D</vt:lpstr>
      <vt:lpstr>Convolution on 3-D</vt:lpstr>
      <vt:lpstr>Calculation of Output Dimension</vt:lpstr>
      <vt:lpstr>Calculation of Output Dimension</vt:lpstr>
      <vt:lpstr>Calculation of Output Dimension</vt:lpstr>
      <vt:lpstr>Calculation of Output Dimension</vt:lpstr>
      <vt:lpstr>Calculation of Output Dimension</vt:lpstr>
      <vt:lpstr>Calculation of Output Dimension</vt:lpstr>
      <vt:lpstr>Calculation of Output Dimension</vt:lpstr>
      <vt:lpstr>Calculation of Output Dimension</vt:lpstr>
      <vt:lpstr>Calculation of Output Dimension</vt:lpstr>
      <vt:lpstr>Calculation of Output Dimension</vt:lpstr>
      <vt:lpstr>Calculation of Output Dimension</vt:lpstr>
      <vt:lpstr>Calculation of Output Dimension</vt:lpstr>
      <vt:lpstr>Calculation of Output Dimension</vt:lpstr>
      <vt:lpstr>Calculation of Output Dimension</vt:lpstr>
      <vt:lpstr>Calculation of Output Dimension</vt:lpstr>
      <vt:lpstr>Calculation of Output Dimension</vt:lpstr>
      <vt:lpstr>Calculation of Output Dimension</vt:lpstr>
      <vt:lpstr>Padding</vt:lpstr>
      <vt:lpstr>Padding</vt:lpstr>
      <vt:lpstr>Padding</vt:lpstr>
      <vt:lpstr>Padding</vt:lpstr>
      <vt:lpstr>Padding</vt:lpstr>
      <vt:lpstr>Stride</vt:lpstr>
      <vt:lpstr>Stride</vt:lpstr>
      <vt:lpstr>Stride</vt:lpstr>
      <vt:lpstr>Stride</vt:lpstr>
      <vt:lpstr>Numerical Example</vt:lpstr>
      <vt:lpstr>Numerical Example</vt:lpstr>
      <vt:lpstr>Numerical Example</vt:lpstr>
      <vt:lpstr>Numerical Example</vt:lpstr>
      <vt:lpstr>Convolutional Neural Networks</vt:lpstr>
      <vt:lpstr>Convolutional Neural Networks</vt:lpstr>
      <vt:lpstr>Convolutional Neural Networks</vt:lpstr>
      <vt:lpstr>Convolutional Neural Networks</vt:lpstr>
      <vt:lpstr> Image classification                     </vt:lpstr>
      <vt:lpstr>Sparsity of connections</vt:lpstr>
      <vt:lpstr>Sparsity of connections</vt:lpstr>
      <vt:lpstr>Weight sharing</vt:lpstr>
      <vt:lpstr>Advantages of sparsity of connection and weight sharing in CNN</vt:lpstr>
      <vt:lpstr>Advantages Contd..</vt:lpstr>
      <vt:lpstr>   Pooling Layer</vt:lpstr>
      <vt:lpstr>Pooling</vt:lpstr>
      <vt:lpstr>Pooling</vt:lpstr>
      <vt:lpstr>Pooling</vt:lpstr>
      <vt:lpstr>Pooling</vt:lpstr>
      <vt:lpstr>Pooling layer</vt:lpstr>
      <vt:lpstr>Pooling layer</vt:lpstr>
      <vt:lpstr>Pooling layer</vt:lpstr>
      <vt:lpstr>Pooling layer</vt:lpstr>
      <vt:lpstr>Pooling layer</vt:lpstr>
      <vt:lpstr>Pooling layer</vt:lpstr>
      <vt:lpstr>Pooling layer</vt:lpstr>
      <vt:lpstr>Pooling layer</vt:lpstr>
      <vt:lpstr>Pooling layer</vt:lpstr>
      <vt:lpstr>Flatten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Science &amp; Data Analytics</dc:title>
  <dc:creator>Sankhadeep Chatterjee</dc:creator>
  <cp:lastModifiedBy>Joyabrata Acharyya</cp:lastModifiedBy>
  <cp:revision>161</cp:revision>
  <dcterms:created xsi:type="dcterms:W3CDTF">2021-03-24T08:54:22Z</dcterms:created>
  <dcterms:modified xsi:type="dcterms:W3CDTF">2024-11-15T06:29:43Z</dcterms:modified>
</cp:coreProperties>
</file>